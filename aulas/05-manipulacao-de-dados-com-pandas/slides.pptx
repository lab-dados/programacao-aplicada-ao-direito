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83" r:id="rId3"/>
    <p:sldId id="284" r:id="rId4"/>
    <p:sldId id="257" r:id="rId5"/>
    <p:sldId id="285" r:id="rId6"/>
    <p:sldId id="258" r:id="rId7"/>
    <p:sldId id="286" r:id="rId8"/>
    <p:sldId id="287" r:id="rId9"/>
    <p:sldId id="289" r:id="rId10"/>
    <p:sldId id="290" r:id="rId11"/>
    <p:sldId id="288" r:id="rId12"/>
    <p:sldId id="291" r:id="rId13"/>
    <p:sldId id="259" r:id="rId14"/>
    <p:sldId id="276" r:id="rId15"/>
    <p:sldId id="277" r:id="rId16"/>
    <p:sldId id="275" r:id="rId17"/>
    <p:sldId id="272" r:id="rId18"/>
    <p:sldId id="273" r:id="rId19"/>
    <p:sldId id="261" r:id="rId20"/>
    <p:sldId id="262" r:id="rId21"/>
    <p:sldId id="263" r:id="rId22"/>
    <p:sldId id="264" r:id="rId23"/>
    <p:sldId id="265" r:id="rId24"/>
    <p:sldId id="292" r:id="rId25"/>
    <p:sldId id="266" r:id="rId26"/>
    <p:sldId id="268" r:id="rId27"/>
    <p:sldId id="271" r:id="rId28"/>
    <p:sldId id="297" r:id="rId29"/>
    <p:sldId id="296" r:id="rId30"/>
    <p:sldId id="301" r:id="rId31"/>
    <p:sldId id="274" r:id="rId32"/>
    <p:sldId id="300" r:id="rId33"/>
    <p:sldId id="295" r:id="rId34"/>
    <p:sldId id="302" r:id="rId35"/>
    <p:sldId id="299" r:id="rId36"/>
    <p:sldId id="294" r:id="rId37"/>
    <p:sldId id="298" r:id="rId38"/>
    <p:sldId id="293" r:id="rId39"/>
    <p:sldId id="305" r:id="rId40"/>
    <p:sldId id="303" r:id="rId41"/>
    <p:sldId id="304" r:id="rId42"/>
    <p:sldId id="278" r:id="rId43"/>
    <p:sldId id="279" r:id="rId44"/>
    <p:sldId id="280" r:id="rId45"/>
    <p:sldId id="281" r:id="rId46"/>
    <p:sldId id="282"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9DB6F7-7EC0-463B-A4D5-0A5D3870044A}" v="8" dt="2026-09-25T20:08:31.582"/>
    <p1510:client id="{9D19F90C-0A73-4D8A-A9AB-78C5D4D37A8D}" v="1" dt="2026-09-25T13:04:03.6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a Funari" userId="94c63ad1c13f10fd" providerId="LiveId" clId="{DDB47F4A-1AB5-4019-A8A9-BD031B5CEC25}"/>
    <pc:docChg chg="undo custSel addSld delSld modSld">
      <pc:chgData name="Helena Funari" userId="94c63ad1c13f10fd" providerId="LiveId" clId="{DDB47F4A-1AB5-4019-A8A9-BD031B5CEC25}" dt="2026-09-25T22:20:57.609" v="680" actId="47"/>
      <pc:docMkLst>
        <pc:docMk/>
      </pc:docMkLst>
      <pc:sldChg chg="modSp mod">
        <pc:chgData name="Helena Funari" userId="94c63ad1c13f10fd" providerId="LiveId" clId="{DDB47F4A-1AB5-4019-A8A9-BD031B5CEC25}" dt="2026-09-25T19:18:20.790" v="327" actId="113"/>
        <pc:sldMkLst>
          <pc:docMk/>
          <pc:sldMk cId="0" sldId="256"/>
        </pc:sldMkLst>
        <pc:spChg chg="mod">
          <ac:chgData name="Helena Funari" userId="94c63ad1c13f10fd" providerId="LiveId" clId="{DDB47F4A-1AB5-4019-A8A9-BD031B5CEC25}" dt="2026-09-25T19:18:20.790" v="327" actId="113"/>
          <ac:spMkLst>
            <pc:docMk/>
            <pc:sldMk cId="0" sldId="256"/>
            <ac:spMk id="2" creationId="{00000000-0000-0000-0000-000000000000}"/>
          </ac:spMkLst>
        </pc:spChg>
      </pc:sldChg>
      <pc:sldChg chg="del">
        <pc:chgData name="Helena Funari" userId="94c63ad1c13f10fd" providerId="LiveId" clId="{DDB47F4A-1AB5-4019-A8A9-BD031B5CEC25}" dt="2026-09-25T16:01:00.655" v="178" actId="47"/>
        <pc:sldMkLst>
          <pc:docMk/>
          <pc:sldMk cId="0" sldId="260"/>
        </pc:sldMkLst>
      </pc:sldChg>
      <pc:sldChg chg="modSp mod">
        <pc:chgData name="Helena Funari" userId="94c63ad1c13f10fd" providerId="LiveId" clId="{DDB47F4A-1AB5-4019-A8A9-BD031B5CEC25}" dt="2026-09-25T19:20:21.032" v="328" actId="20577"/>
        <pc:sldMkLst>
          <pc:docMk/>
          <pc:sldMk cId="0" sldId="265"/>
        </pc:sldMkLst>
        <pc:spChg chg="mod">
          <ac:chgData name="Helena Funari" userId="94c63ad1c13f10fd" providerId="LiveId" clId="{DDB47F4A-1AB5-4019-A8A9-BD031B5CEC25}" dt="2026-09-25T19:20:21.032" v="328" actId="20577"/>
          <ac:spMkLst>
            <pc:docMk/>
            <pc:sldMk cId="0" sldId="265"/>
            <ac:spMk id="7" creationId="{00000000-0000-0000-0000-000000000000}"/>
          </ac:spMkLst>
        </pc:spChg>
      </pc:sldChg>
      <pc:sldChg chg="del">
        <pc:chgData name="Helena Funari" userId="94c63ad1c13f10fd" providerId="LiveId" clId="{DDB47F4A-1AB5-4019-A8A9-BD031B5CEC25}" dt="2026-09-25T22:14:49.743" v="678" actId="47"/>
        <pc:sldMkLst>
          <pc:docMk/>
          <pc:sldMk cId="0" sldId="267"/>
        </pc:sldMkLst>
      </pc:sldChg>
      <pc:sldChg chg="modSp mod">
        <pc:chgData name="Helena Funari" userId="94c63ad1c13f10fd" providerId="LiveId" clId="{DDB47F4A-1AB5-4019-A8A9-BD031B5CEC25}" dt="2026-09-25T20:06:54.722" v="640" actId="113"/>
        <pc:sldMkLst>
          <pc:docMk/>
          <pc:sldMk cId="0" sldId="268"/>
        </pc:sldMkLst>
        <pc:spChg chg="mod">
          <ac:chgData name="Helena Funari" userId="94c63ad1c13f10fd" providerId="LiveId" clId="{DDB47F4A-1AB5-4019-A8A9-BD031B5CEC25}" dt="2026-09-25T20:06:49.775" v="638" actId="207"/>
          <ac:spMkLst>
            <pc:docMk/>
            <pc:sldMk cId="0" sldId="268"/>
            <ac:spMk id="9" creationId="{00000000-0000-0000-0000-000000000000}"/>
          </ac:spMkLst>
        </pc:spChg>
        <pc:spChg chg="mod">
          <ac:chgData name="Helena Funari" userId="94c63ad1c13f10fd" providerId="LiveId" clId="{DDB47F4A-1AB5-4019-A8A9-BD031B5CEC25}" dt="2026-09-25T20:06:54.722" v="640" actId="113"/>
          <ac:spMkLst>
            <pc:docMk/>
            <pc:sldMk cId="0" sldId="268"/>
            <ac:spMk id="14" creationId="{00000000-0000-0000-0000-000000000000}"/>
          </ac:spMkLst>
        </pc:spChg>
      </pc:sldChg>
      <pc:sldChg chg="del">
        <pc:chgData name="Helena Funari" userId="94c63ad1c13f10fd" providerId="LiveId" clId="{DDB47F4A-1AB5-4019-A8A9-BD031B5CEC25}" dt="2026-09-25T22:20:57.609" v="680" actId="47"/>
        <pc:sldMkLst>
          <pc:docMk/>
          <pc:sldMk cId="0" sldId="269"/>
        </pc:sldMkLst>
      </pc:sldChg>
      <pc:sldChg chg="del">
        <pc:chgData name="Helena Funari" userId="94c63ad1c13f10fd" providerId="LiveId" clId="{DDB47F4A-1AB5-4019-A8A9-BD031B5CEC25}" dt="2026-09-25T22:20:50.046" v="679" actId="47"/>
        <pc:sldMkLst>
          <pc:docMk/>
          <pc:sldMk cId="0" sldId="270"/>
        </pc:sldMkLst>
      </pc:sldChg>
      <pc:sldChg chg="modSp mod">
        <pc:chgData name="Helena Funari" userId="94c63ad1c13f10fd" providerId="LiveId" clId="{DDB47F4A-1AB5-4019-A8A9-BD031B5CEC25}" dt="2026-09-25T20:07:49.272" v="641" actId="1076"/>
        <pc:sldMkLst>
          <pc:docMk/>
          <pc:sldMk cId="0" sldId="271"/>
        </pc:sldMkLst>
        <pc:spChg chg="mod">
          <ac:chgData name="Helena Funari" userId="94c63ad1c13f10fd" providerId="LiveId" clId="{DDB47F4A-1AB5-4019-A8A9-BD031B5CEC25}" dt="2026-09-25T20:07:49.272" v="641" actId="1076"/>
          <ac:spMkLst>
            <pc:docMk/>
            <pc:sldMk cId="0" sldId="271"/>
            <ac:spMk id="7" creationId="{00000000-0000-0000-0000-000000000000}"/>
          </ac:spMkLst>
        </pc:spChg>
      </pc:sldChg>
      <pc:sldChg chg="addSp delSp modSp mod">
        <pc:chgData name="Helena Funari" userId="94c63ad1c13f10fd" providerId="LiveId" clId="{DDB47F4A-1AB5-4019-A8A9-BD031B5CEC25}" dt="2026-09-25T20:20:21.282" v="667" actId="478"/>
        <pc:sldMkLst>
          <pc:docMk/>
          <pc:sldMk cId="0" sldId="275"/>
        </pc:sldMkLst>
        <pc:graphicFrameChg chg="add del">
          <ac:chgData name="Helena Funari" userId="94c63ad1c13f10fd" providerId="LiveId" clId="{DDB47F4A-1AB5-4019-A8A9-BD031B5CEC25}" dt="2026-09-25T20:20:17.297" v="666" actId="478"/>
          <ac:graphicFrameMkLst>
            <pc:docMk/>
            <pc:sldMk cId="0" sldId="275"/>
            <ac:graphicFrameMk id="21" creationId="{00000000-0000-0000-0000-000000000000}"/>
          </ac:graphicFrameMkLst>
        </pc:graphicFrameChg>
        <pc:picChg chg="add del mod">
          <ac:chgData name="Helena Funari" userId="94c63ad1c13f10fd" providerId="LiveId" clId="{DDB47F4A-1AB5-4019-A8A9-BD031B5CEC25}" dt="2026-09-25T20:20:21.282" v="667" actId="478"/>
          <ac:picMkLst>
            <pc:docMk/>
            <pc:sldMk cId="0" sldId="275"/>
            <ac:picMk id="6" creationId="{F6BCEBAF-62F2-1E43-A11B-E68234FECD70}"/>
          </ac:picMkLst>
        </pc:picChg>
      </pc:sldChg>
      <pc:sldChg chg="delSp mod">
        <pc:chgData name="Helena Funari" userId="94c63ad1c13f10fd" providerId="LiveId" clId="{DDB47F4A-1AB5-4019-A8A9-BD031B5CEC25}" dt="2026-09-25T21:47:29.308" v="677" actId="478"/>
        <pc:sldMkLst>
          <pc:docMk/>
          <pc:sldMk cId="0" sldId="281"/>
        </pc:sldMkLst>
        <pc:spChg chg="del">
          <ac:chgData name="Helena Funari" userId="94c63ad1c13f10fd" providerId="LiveId" clId="{DDB47F4A-1AB5-4019-A8A9-BD031B5CEC25}" dt="2026-09-25T21:47:29.308" v="677" actId="478"/>
          <ac:spMkLst>
            <pc:docMk/>
            <pc:sldMk cId="0" sldId="281"/>
            <ac:spMk id="12" creationId="{00000000-0000-0000-0000-000000000000}"/>
          </ac:spMkLst>
        </pc:spChg>
        <pc:spChg chg="del">
          <ac:chgData name="Helena Funari" userId="94c63ad1c13f10fd" providerId="LiveId" clId="{DDB47F4A-1AB5-4019-A8A9-BD031B5CEC25}" dt="2026-09-25T21:47:26.114" v="675" actId="478"/>
          <ac:spMkLst>
            <pc:docMk/>
            <pc:sldMk cId="0" sldId="281"/>
            <ac:spMk id="13" creationId="{00000000-0000-0000-0000-000000000000}"/>
          </ac:spMkLst>
        </pc:spChg>
        <pc:spChg chg="del">
          <ac:chgData name="Helena Funari" userId="94c63ad1c13f10fd" providerId="LiveId" clId="{DDB47F4A-1AB5-4019-A8A9-BD031B5CEC25}" dt="2026-09-25T21:47:24.102" v="674" actId="478"/>
          <ac:spMkLst>
            <pc:docMk/>
            <pc:sldMk cId="0" sldId="281"/>
            <ac:spMk id="14" creationId="{00000000-0000-0000-0000-000000000000}"/>
          </ac:spMkLst>
        </pc:spChg>
        <pc:spChg chg="del">
          <ac:chgData name="Helena Funari" userId="94c63ad1c13f10fd" providerId="LiveId" clId="{DDB47F4A-1AB5-4019-A8A9-BD031B5CEC25}" dt="2026-09-25T21:47:20.954" v="672" actId="478"/>
          <ac:spMkLst>
            <pc:docMk/>
            <pc:sldMk cId="0" sldId="281"/>
            <ac:spMk id="15" creationId="{00000000-0000-0000-0000-000000000000}"/>
          </ac:spMkLst>
        </pc:spChg>
        <pc:spChg chg="del">
          <ac:chgData name="Helena Funari" userId="94c63ad1c13f10fd" providerId="LiveId" clId="{DDB47F4A-1AB5-4019-A8A9-BD031B5CEC25}" dt="2026-09-25T21:47:27.700" v="676" actId="478"/>
          <ac:spMkLst>
            <pc:docMk/>
            <pc:sldMk cId="0" sldId="281"/>
            <ac:spMk id="16" creationId="{00000000-0000-0000-0000-000000000000}"/>
          </ac:spMkLst>
        </pc:spChg>
        <pc:spChg chg="del">
          <ac:chgData name="Helena Funari" userId="94c63ad1c13f10fd" providerId="LiveId" clId="{DDB47F4A-1AB5-4019-A8A9-BD031B5CEC25}" dt="2026-09-25T21:47:22.500" v="673" actId="478"/>
          <ac:spMkLst>
            <pc:docMk/>
            <pc:sldMk cId="0" sldId="281"/>
            <ac:spMk id="17" creationId="{00000000-0000-0000-0000-000000000000}"/>
          </ac:spMkLst>
        </pc:spChg>
      </pc:sldChg>
      <pc:sldChg chg="addSp modSp new mod">
        <pc:chgData name="Helena Funari" userId="94c63ad1c13f10fd" providerId="LiveId" clId="{DDB47F4A-1AB5-4019-A8A9-BD031B5CEC25}" dt="2026-09-25T13:04:49.183" v="129" actId="20577"/>
        <pc:sldMkLst>
          <pc:docMk/>
          <pc:sldMk cId="1304294414" sldId="283"/>
        </pc:sldMkLst>
        <pc:spChg chg="add mod">
          <ac:chgData name="Helena Funari" userId="94c63ad1c13f10fd" providerId="LiveId" clId="{DDB47F4A-1AB5-4019-A8A9-BD031B5CEC25}" dt="2026-09-25T13:04:49.183" v="129" actId="20577"/>
          <ac:spMkLst>
            <pc:docMk/>
            <pc:sldMk cId="1304294414" sldId="283"/>
            <ac:spMk id="2" creationId="{1AE3A57B-11D8-6BC0-B96C-C2019B14452D}"/>
          </ac:spMkLst>
        </pc:spChg>
      </pc:sldChg>
      <pc:sldChg chg="modSp mod">
        <pc:chgData name="Helena Funari" userId="94c63ad1c13f10fd" providerId="LiveId" clId="{DDB47F4A-1AB5-4019-A8A9-BD031B5CEC25}" dt="2026-09-25T14:55:14.259" v="177" actId="20577"/>
        <pc:sldMkLst>
          <pc:docMk/>
          <pc:sldMk cId="0" sldId="287"/>
        </pc:sldMkLst>
        <pc:spChg chg="mod">
          <ac:chgData name="Helena Funari" userId="94c63ad1c13f10fd" providerId="LiveId" clId="{DDB47F4A-1AB5-4019-A8A9-BD031B5CEC25}" dt="2026-09-25T14:55:14.259" v="177" actId="20577"/>
          <ac:spMkLst>
            <pc:docMk/>
            <pc:sldMk cId="0" sldId="287"/>
            <ac:spMk id="6" creationId="{00000000-0000-0000-0000-000000000000}"/>
          </ac:spMkLst>
        </pc:spChg>
      </pc:sldChg>
      <pc:sldChg chg="addSp delSp modSp new mod">
        <pc:chgData name="Helena Funari" userId="94c63ad1c13f10fd" providerId="LiveId" clId="{DDB47F4A-1AB5-4019-A8A9-BD031B5CEC25}" dt="2026-09-25T16:25:37.556" v="292" actId="790"/>
        <pc:sldMkLst>
          <pc:docMk/>
          <pc:sldMk cId="145057080" sldId="288"/>
        </pc:sldMkLst>
        <pc:spChg chg="add del mod">
          <ac:chgData name="Helena Funari" userId="94c63ad1c13f10fd" providerId="LiveId" clId="{DDB47F4A-1AB5-4019-A8A9-BD031B5CEC25}" dt="2026-09-25T16:24:34.397" v="210" actId="478"/>
          <ac:spMkLst>
            <pc:docMk/>
            <pc:sldMk cId="145057080" sldId="288"/>
            <ac:spMk id="2" creationId="{8DBCCA49-6746-0448-66D8-CB16F74368D0}"/>
          </ac:spMkLst>
        </pc:spChg>
        <pc:spChg chg="add mod">
          <ac:chgData name="Helena Funari" userId="94c63ad1c13f10fd" providerId="LiveId" clId="{DDB47F4A-1AB5-4019-A8A9-BD031B5CEC25}" dt="2026-09-25T16:25:37.556" v="292" actId="790"/>
          <ac:spMkLst>
            <pc:docMk/>
            <pc:sldMk cId="145057080" sldId="288"/>
            <ac:spMk id="3" creationId="{FB81C0B4-A6C6-EFE5-A6BB-44B7B89EE488}"/>
          </ac:spMkLst>
        </pc:spChg>
        <pc:picChg chg="add del mod">
          <ac:chgData name="Helena Funari" userId="94c63ad1c13f10fd" providerId="LiveId" clId="{DDB47F4A-1AB5-4019-A8A9-BD031B5CEC25}" dt="2026-09-25T16:03:10.260" v="185" actId="478"/>
          <ac:picMkLst>
            <pc:docMk/>
            <pc:sldMk cId="145057080" sldId="288"/>
            <ac:picMk id="3" creationId="{4F24EED4-CDBA-EFB8-6945-58D84231EDFB}"/>
          </ac:picMkLst>
        </pc:picChg>
        <pc:picChg chg="add del mod">
          <ac:chgData name="Helena Funari" userId="94c63ad1c13f10fd" providerId="LiveId" clId="{DDB47F4A-1AB5-4019-A8A9-BD031B5CEC25}" dt="2026-09-25T16:03:36.703" v="189" actId="478"/>
          <ac:picMkLst>
            <pc:docMk/>
            <pc:sldMk cId="145057080" sldId="288"/>
            <ac:picMk id="5" creationId="{50D62297-F5C7-1C59-E4C0-D02207A09E00}"/>
          </ac:picMkLst>
        </pc:picChg>
        <pc:picChg chg="add mod">
          <ac:chgData name="Helena Funari" userId="94c63ad1c13f10fd" providerId="LiveId" clId="{DDB47F4A-1AB5-4019-A8A9-BD031B5CEC25}" dt="2026-09-25T16:25:24.577" v="289" actId="1076"/>
          <ac:picMkLst>
            <pc:docMk/>
            <pc:sldMk cId="145057080" sldId="288"/>
            <ac:picMk id="5" creationId="{D5E84B82-9170-6205-FECC-607BFA9C83BC}"/>
          </ac:picMkLst>
        </pc:picChg>
        <pc:picChg chg="add del mod">
          <ac:chgData name="Helena Funari" userId="94c63ad1c13f10fd" providerId="LiveId" clId="{DDB47F4A-1AB5-4019-A8A9-BD031B5CEC25}" dt="2026-09-25T16:24:32.169" v="209" actId="478"/>
          <ac:picMkLst>
            <pc:docMk/>
            <pc:sldMk cId="145057080" sldId="288"/>
            <ac:picMk id="7" creationId="{473F7665-5100-DF6E-0BFB-C04B147D0431}"/>
          </ac:picMkLst>
        </pc:picChg>
      </pc:sldChg>
      <pc:sldChg chg="addSp modSp new mod">
        <pc:chgData name="Helena Funari" userId="94c63ad1c13f10fd" providerId="LiveId" clId="{DDB47F4A-1AB5-4019-A8A9-BD031B5CEC25}" dt="2026-09-25T16:05:39.804" v="205" actId="1076"/>
        <pc:sldMkLst>
          <pc:docMk/>
          <pc:sldMk cId="305555773" sldId="289"/>
        </pc:sldMkLst>
        <pc:spChg chg="add mod">
          <ac:chgData name="Helena Funari" userId="94c63ad1c13f10fd" providerId="LiveId" clId="{DDB47F4A-1AB5-4019-A8A9-BD031B5CEC25}" dt="2026-09-25T16:05:39.804" v="205" actId="1076"/>
          <ac:spMkLst>
            <pc:docMk/>
            <pc:sldMk cId="305555773" sldId="289"/>
            <ac:spMk id="4" creationId="{F128FDDC-3618-B5D1-2A9A-8385C8D93140}"/>
          </ac:spMkLst>
        </pc:spChg>
        <pc:picChg chg="add mod">
          <ac:chgData name="Helena Funari" userId="94c63ad1c13f10fd" providerId="LiveId" clId="{DDB47F4A-1AB5-4019-A8A9-BD031B5CEC25}" dt="2026-09-25T16:05:37.361" v="204" actId="1076"/>
          <ac:picMkLst>
            <pc:docMk/>
            <pc:sldMk cId="305555773" sldId="289"/>
            <ac:picMk id="3" creationId="{5C612A69-AA01-EFA2-CF0D-0B388FB83037}"/>
          </ac:picMkLst>
        </pc:picChg>
      </pc:sldChg>
      <pc:sldChg chg="addSp modSp new mod">
        <pc:chgData name="Helena Funari" userId="94c63ad1c13f10fd" providerId="LiveId" clId="{DDB47F4A-1AB5-4019-A8A9-BD031B5CEC25}" dt="2026-09-25T19:21:03.032" v="427" actId="20577"/>
        <pc:sldMkLst>
          <pc:docMk/>
          <pc:sldMk cId="3833877361" sldId="291"/>
        </pc:sldMkLst>
        <pc:spChg chg="add mod">
          <ac:chgData name="Helena Funari" userId="94c63ad1c13f10fd" providerId="LiveId" clId="{DDB47F4A-1AB5-4019-A8A9-BD031B5CEC25}" dt="2026-09-25T19:21:03.032" v="427" actId="20577"/>
          <ac:spMkLst>
            <pc:docMk/>
            <pc:sldMk cId="3833877361" sldId="291"/>
            <ac:spMk id="2" creationId="{D82694D5-46D0-A2FB-7E99-3E35045F7484}"/>
          </ac:spMkLst>
        </pc:spChg>
        <pc:spChg chg="add mod">
          <ac:chgData name="Helena Funari" userId="94c63ad1c13f10fd" providerId="LiveId" clId="{DDB47F4A-1AB5-4019-A8A9-BD031B5CEC25}" dt="2026-09-25T16:26:43.237" v="322" actId="207"/>
          <ac:spMkLst>
            <pc:docMk/>
            <pc:sldMk cId="3833877361" sldId="291"/>
            <ac:spMk id="3" creationId="{962B6057-6A2C-EB20-F896-95A8D3317EE8}"/>
          </ac:spMkLst>
        </pc:spChg>
      </pc:sldChg>
      <pc:sldChg chg="modSp add mod">
        <pc:chgData name="Helena Funari" userId="94c63ad1c13f10fd" providerId="LiveId" clId="{DDB47F4A-1AB5-4019-A8A9-BD031B5CEC25}" dt="2026-09-25T19:22:58.404" v="615" actId="5793"/>
        <pc:sldMkLst>
          <pc:docMk/>
          <pc:sldMk cId="2376073253" sldId="292"/>
        </pc:sldMkLst>
        <pc:spChg chg="mod">
          <ac:chgData name="Helena Funari" userId="94c63ad1c13f10fd" providerId="LiveId" clId="{DDB47F4A-1AB5-4019-A8A9-BD031B5CEC25}" dt="2026-09-25T19:22:58.404" v="615" actId="5793"/>
          <ac:spMkLst>
            <pc:docMk/>
            <pc:sldMk cId="2376073253" sldId="292"/>
            <ac:spMk id="2" creationId="{5C864796-AA53-C2A5-5D70-76ABD84CBE98}"/>
          </ac:spMkLst>
        </pc:spChg>
      </pc:sldChg>
      <pc:sldChg chg="addSp delSp modSp add mod setBg">
        <pc:chgData name="Helena Funari" userId="94c63ad1c13f10fd" providerId="LiveId" clId="{DDB47F4A-1AB5-4019-A8A9-BD031B5CEC25}" dt="2026-09-25T20:08:58.817" v="664" actId="20577"/>
        <pc:sldMkLst>
          <pc:docMk/>
          <pc:sldMk cId="2143428843" sldId="297"/>
        </pc:sldMkLst>
        <pc:spChg chg="mod">
          <ac:chgData name="Helena Funari" userId="94c63ad1c13f10fd" providerId="LiveId" clId="{DDB47F4A-1AB5-4019-A8A9-BD031B5CEC25}" dt="2026-09-25T20:08:58.817" v="664" actId="20577"/>
          <ac:spMkLst>
            <pc:docMk/>
            <pc:sldMk cId="2143428843" sldId="297"/>
            <ac:spMk id="2" creationId="{D6613F69-2B5E-4C04-CE40-FAE448BF2FA1}"/>
          </ac:spMkLst>
        </pc:spChg>
        <pc:spChg chg="del">
          <ac:chgData name="Helena Funari" userId="94c63ad1c13f10fd" providerId="LiveId" clId="{DDB47F4A-1AB5-4019-A8A9-BD031B5CEC25}" dt="2026-09-25T20:08:43.340" v="649" actId="478"/>
          <ac:spMkLst>
            <pc:docMk/>
            <pc:sldMk cId="2143428843" sldId="297"/>
            <ac:spMk id="3" creationId="{B549C0A5-DF4D-D9A4-0C62-DC9F22DE8383}"/>
          </ac:spMkLst>
        </pc:spChg>
        <pc:spChg chg="add mod">
          <ac:chgData name="Helena Funari" userId="94c63ad1c13f10fd" providerId="LiveId" clId="{DDB47F4A-1AB5-4019-A8A9-BD031B5CEC25}" dt="2026-09-25T20:08:46.259" v="650" actId="1076"/>
          <ac:spMkLst>
            <pc:docMk/>
            <pc:sldMk cId="2143428843" sldId="297"/>
            <ac:spMk id="5" creationId="{737BA95A-A10C-21AA-C0E5-9E1B16F67689}"/>
          </ac:spMkLst>
        </pc:spChg>
      </pc:sldChg>
      <pc:sldChg chg="add del setBg">
        <pc:chgData name="Helena Funari" userId="94c63ad1c13f10fd" providerId="LiveId" clId="{DDB47F4A-1AB5-4019-A8A9-BD031B5CEC25}" dt="2026-09-25T20:08:33.045" v="646" actId="47"/>
        <pc:sldMkLst>
          <pc:docMk/>
          <pc:sldMk cId="2813264722" sldId="298"/>
        </pc:sldMkLst>
      </pc:sldChg>
      <pc:sldChg chg="add del setBg">
        <pc:chgData name="Helena Funari" userId="94c63ad1c13f10fd" providerId="LiveId" clId="{DDB47F4A-1AB5-4019-A8A9-BD031B5CEC25}" dt="2026-09-25T20:08:25.550" v="644" actId="47"/>
        <pc:sldMkLst>
          <pc:docMk/>
          <pc:sldMk cId="4218635479" sldId="298"/>
        </pc:sldMkLst>
      </pc:sldChg>
      <pc:sldChg chg="addSp modSp new mod">
        <pc:chgData name="Helena Funari" userId="94c63ad1c13f10fd" providerId="LiveId" clId="{DDB47F4A-1AB5-4019-A8A9-BD031B5CEC25}" dt="2026-09-25T21:03:42.124" v="671" actId="1076"/>
        <pc:sldMkLst>
          <pc:docMk/>
          <pc:sldMk cId="2843951009" sldId="302"/>
        </pc:sldMkLst>
        <pc:picChg chg="add mod">
          <ac:chgData name="Helena Funari" userId="94c63ad1c13f10fd" providerId="LiveId" clId="{DDB47F4A-1AB5-4019-A8A9-BD031B5CEC25}" dt="2026-09-25T21:03:42.124" v="671" actId="1076"/>
          <ac:picMkLst>
            <pc:docMk/>
            <pc:sldMk cId="2843951009" sldId="302"/>
            <ac:picMk id="3" creationId="{5D026FD5-EE0F-F385-82BE-6A2084BFF8B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172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Antes de olhar a classe do Encontro 4, um passo atrás de trinta segundos.
Na tela estão as três estruturas do Encontro 3. A primeira é uma lista: três tribunais em fila, e eu pego o primeiro pela posição, com o colchete zero. A lista guarda valores de uma coisa só.
A segunda é um dicionário. Aqui não tem fila, tem nome: cada valor está preso a uma chave. Eu não peço a posição um, eu peço a chave "ano". E repare que este dicionário é um processo inteiro — tribunal, ano, quem ganhou. É um registro.
A terceira é a que interessa: uma lista de dicionários. Vários registros, todos com as mesmas chaves. Leiam em voz alta o que está ali: dois processos, cada um com tribunal, ano e resultado. Isso já é uma tabela, e apareceu na aula passada sem ninguém chamar de tabela.
Guardem a última linha do slide, porque ela é a aula inteira: cada dicionário vira uma linha, cada chave vira uma coluna. Quando a gente montar a tabela daqui a pouco, é exatamente esta estrutura que vai estar lá dentro — só que com sete mil dicionários em vez de dois.
(Se a turma estiver sólida, vale perguntar: e se um dos dicionários não tivesse a chave "ano"? A resposta é o dado faltante, que volta no bloco de conceitos.)</a:t>
            </a:r>
          </a:p>
        </p:txBody>
      </p:sp>
      <p:sp>
        <p:nvSpPr>
          <p:cNvPr id="4" name="Slide Number Placeholder 3"/>
          <p:cNvSpPr>
            <a:spLocks noGrp="1"/>
          </p:cNvSpPr>
          <p:nvPr>
            <p:ph type="sldNum" sz="quarter" idx="10"/>
          </p:nvPr>
        </p:nvSpPr>
        <p:spPr/>
        <p:txBody>
          <a:bodyPr/>
          <a:lstStyle/>
          <a:p>
            <a:fld id="{F7021451-1387-4CA6-816F-3879F97B5CBC}" type="slidenum">
              <a:rPr lang="pt-BR"/>
              <a:t>2</a:t>
            </a:fld>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slide é o pulo. À esquerda está exatamente a lista de dicionários do slide anterior. À direita está a tabela montada a partir dela — a mesma coisa, com outra cara.
Sigam as cores comigo. O dicionário azul, de cima, é a primeira linha da tabela, também azul. O dicionário laranja é a segunda linha. Nada foi reescrito, nada foi calculado: é a mesma informação com outra aparência.
Agora olhem o cabeçalho da tabela: tribunal, ano, ganhou_autor. De onde vieram esses três nomes? Das chaves dos dicionários. E é por isso que os dois dicionários precisam ter as mesmas chaves — se um deles não tivesse "ano", aquela célula ficaria vazia, e a gente volta nisso quando falar de dado faltante.
Tem um detalhe que eu quero que vocês reparem, do lado esquerdo da tabela: a coluna sem nome, com 0 e 1. Ninguém escreveu esses números. Eles aparecem junto com a tabela, e isso tem nome: é o índice. É por ele que a gente vai pedir uma linha específica. Volta no bloco de conceitos.
A frase do rodapé é a que importa: nada se perde na passagem. A informação é a mesma. O que muda é que, virando tabela, eu consigo filtrar, agrupar, ordenar e juntar com outra tabela — e é isso que a lista de dicionários não deixava fazer sem um for enorme.</a:t>
            </a:r>
          </a:p>
        </p:txBody>
      </p:sp>
      <p:sp>
        <p:nvSpPr>
          <p:cNvPr id="4" name="Slide Number Placeholder 3"/>
          <p:cNvSpPr>
            <a:spLocks noGrp="1"/>
          </p:cNvSpPr>
          <p:nvPr>
            <p:ph type="sldNum" sz="quarter" idx="10"/>
          </p:nvPr>
        </p:nvSpPr>
        <p:spPr/>
        <p:txBody>
          <a:bodyPr/>
          <a:lstStyle/>
          <a:p>
            <a:fld id="{F7021451-1387-4CA6-816F-3879F97B5CBC}" type="slidenum">
              <a:rPr lang="pt-BR"/>
              <a:t>3</a:t>
            </a:fld>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Bom dia. A aula de hoje começa exatamente onde a última terminou, então vamos voltar à classe Tabela, do Encontro 4.
Está na tela. A `Tabela` guarda uma lista de dicionários no atributo `linhas`, calcula o tamanho no atributo `shape`, mostra as primeiras linhas com o método `head` e conta quantas vezes cada valor aparece com o método `contar`.
Eu quero que vocês reparem numa coisa antes de qualquer outra: isso não foi um exercício de brincadeira. Quarenta linhas de código, e o que saiu dali tem a mesma estrutura de uma tabela. Os atributos são os mesmos, os métodos têm os mesmos nomes, e a ideia é idêntica.
A aula de hoje não é a apresentação de uma ferramenta estranha e nova. É a continuação direta dessa classe. O que muda é que hoje vocês vão usar a versão que já vem pronta, e ela sabe fazer muito mais do que essa.
Então vamos começar recolocando as quatro palavras que descrevem essa classe, e depois percorrer elemento por elemento da tabela.
Antes de sair deste slide, duas palavras e uma pergunta.
A primeira palavra é classe. A classe é o molde. Ela não é a tabela: é a receita que diz o que toda tabela vai guardar e o que toda tabela vai saber fazer. Escrever Tabela, abre parênteses, a lista, usa o molde uma vez e devolve uma tabela pronta. A classe é a forma de bolo; o objeto é o bolo. Dá para assar quantos bolos quiser com a mesma forma.
A pergunta é a que sempre aparece: posso criar funções dentro do objeto? Pode, e vocês já fizeram isso. Olhem as setas: head e contar são funções escritas dentro da classe. Quando uma função mora dentro de uma classe, ela muda de nome e passa a se chamar método.
O que muda de verdade é o self. Repare que todo def aí dentro começa com self entre parênteses. O self é o próprio objeto, entregue para a função: é por ele que head consegue ler self.linhas. Uma função escrita fora da classe não recebe self e não tem dono — ela só sabe o que a gente entrega dentro dos parênteses, como o len.
Se alguém perguntar por que vale a pena escrever dentro da classe: porque aí a função anda junto com os dados. Quem receber a tabela recebe também tudo o que ela sabe fazer.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Este slide é de memória, não de matéria nova. São as quatro palavras do Encontro 4, e eu quero que elas fiquem penduradas na parede pelas próximas duas horas.
As definições estão nas caixas de cima, mas o que interessa é a parte de baixo: as mesmas quatro palavras marcadas no código do Encontro 4. Vamos linha por linha.
Primeira linha. Eu chamo a classe Tabela e guardo o resultado no nome tabela. O que está circulado é o objeto: é a coisa que passou a existir depois dessa linha.
Segunda linha, tabela.shape. O circulado é o atributo. Não tem parênteses porque não tem nada para fazer: a informação já estava guardada lá dentro desde que o objeto foi criado. Devolve sete mil e dezesseis.
Terceira, tabela.head(3). O circulado é o método. Tem parênteses, e os parênteses são o sinal de que alguém está fazendo alguma coisa agora: ele vai lá e monta as três primeiras linhas.
Quarta, len(linhas). O circulado é a função. Repare na diferença de desenho, que é o que eu quero que vocês guardem: no método o objeto vem antes do ponto; na função o objeto vai dentro dos parênteses. len não pertence a ninguém, serve para qualquer lista.
Se hoje alguém travar num erro, oitenta por cento das vezes vai ser isto: parênteses a mais num atributo, ou parênteses de menos num método. Quando acontecer, voltem nesta regra de bolso do rodapé.</a:t>
            </a:r>
          </a:p>
        </p:txBody>
      </p:sp>
      <p:sp>
        <p:nvSpPr>
          <p:cNvPr id="4" name="Slide Number Placeholder 3"/>
          <p:cNvSpPr>
            <a:spLocks noGrp="1"/>
          </p:cNvSpPr>
          <p:nvPr>
            <p:ph type="sldNum" sz="quarter" idx="10"/>
          </p:nvPr>
        </p:nvSpPr>
        <p:spPr/>
        <p:txBody>
          <a:bodyPr/>
          <a:lstStyle/>
          <a:p>
            <a:fld id="{F7021451-1387-4CA6-816F-3879F97B5CBC}" type="slidenum">
              <a:rPr lang="pt-BR"/>
              <a:t>5</a:t>
            </a:fld>
            <a:endParaRPr 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está o mapa da aula, elemento por elemento.
Primeira linha: criar a base. Vocês faziam `Tabela`, abre parênteses, a lista de dicionários. No pandas é `pd.DataFrame`, abre parênteses, a mesma lista. É a mesma operação: chamar a classe para criar um objeto.
Segunda: uma linha. Na classe Tabela era `tabela.linhas`, colchete, zero, porque `linhas` era uma lista comum. No pandas é `processos.loc`, colchete, zero. Guardem o `loc`, que a gente volta nele quando falar de índice.
Terceira linha, e essa é importante: **uma coluna**. A `Tabela` não tinha isso. Ali os dados eram uma lista de dicionários, e para pegar todos os réus seria preciso percorrer a lista inteira com um `for`. No pandas, a coluna é uma coisa que existe por si só: `processos`, colchete, aspas, `reu`. Essa é a maior diferença estrutural entre as duas, e é ela que faz tudo o que vem hoje ser possível.
Quarta: o tamanho. `shape` nos dois, com o mesmo significado, linhas e colunas nessa ordem. Vocês calcularam esse atributo à mão no `__init__`, com dois `len`.
Quinta: espiar. `head` nos dois, com o mesmo valor padrão de cinco.
Sexta: contar. A `contar` foi escrita com um `for`, um `if` e um dicionário que crescia. No pandas ela se chama `value_counts`, e repare **onde** ela mora: depois da coluna, não depois da tabela. Isso não é detalhe de digitação, é o próximo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Essa pergunta aparece toda vez, e é a pergunta certa: se eu já escrevi uma Tabela, o DataFrame é outra coisa? Não é. É a mesma ideia.
Linha de cima: os dois são objetos, criados por uma classe. A diferença é o tamanho da classe. A classe Tabela tem quarenta linhas e foi escrita numa tarde. A do pandas é enorme, foi escrita por muita gente e vem sendo corrigida e testada há mais de quinze anos. Quando vocês usam o DataFrame, estão usando o trabalho dessas pessoas todas.
Segunda linha: de onde vem. A classe Tabela existe só no notebook em que foi escrita; se vocês abrirem outro notebook, ela não está lá. O pandas é um pacote: instala uma vez, importa, e está disponível em qualquer lugar. Foi isso que vocês viram no Encontro 4 com o juscraper.
Terceira: o que cada uma sabe fazer. Três métodos contra dezenas. E as operações de hoje — filtrar, agrupar, ordenar, juntar — estão todas do lado direito.
Quarta linha, e é a mais importante: a coluna. Na classe Tabela a coluna não existia como coisa; era uma chave que se repetia dentro de cada dicionário, e para olhar uma coluna inteira era preciso um for. No DataFrame a coluna é um objeto com nome e com tipo. É isso que permite pedir a média de uma coluna sem escrever nenhum for — e é isso que a gente vai fazer a tarde inteira.
Fecho pela frase do rodapé: nada do que vocês aprenderam vira lixo. A gramática é idêntica. Vocês vão só trocar uma classe pequena, que vocês conhecem por dentro, por uma classe grande, que vocês vão conhecer por fora.</a:t>
            </a:r>
          </a:p>
        </p:txBody>
      </p:sp>
      <p:sp>
        <p:nvSpPr>
          <p:cNvPr id="4" name="Slide Number Placeholder 3"/>
          <p:cNvSpPr>
            <a:spLocks noGrp="1"/>
          </p:cNvSpPr>
          <p:nvPr>
            <p:ph type="sldNum" sz="quarter" idx="10"/>
          </p:nvPr>
        </p:nvSpPr>
        <p:spPr/>
        <p:txBody>
          <a:bodyPr/>
          <a:lstStyle/>
          <a:p>
            <a:fld id="{F7021451-1387-4CA6-816F-3879F97B5CBC}" type="slidenum">
              <a:rPr lang="pt-BR"/>
              <a:t>7</a:t>
            </a:fld>
            <a:endParaRPr 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Esse slide existe para desfazer uma confusão que atrapalha muito no começo: pandas, DataFrame e método não são a mesma coisa.
Comecem pela caixa grande. O pandas é uma biblioteca — em inglês, library; vocês também vão ouvir chamarem de pacote. É um monte de código que outras pessoas escreveram, organizaram e deixaram disponível: uma estante de ferramentas prontas, e a gente pega da estante a que precisa. Vocês já fizeram isso no Encontro 4 com o juscraper: instala uma vez, importa, e as ferramentas aparecem. O apelido pd é só para escrever menos.
Dentro da biblioteca tem duas coisas diferentes, e é aqui que mora a confusão.
A primeira caixa branca: funções da biblioteca. Elas são elementos da própria biblioteca: a gente chama pelo apelido pd, sem precisar de nenhum objeto. pd.read_csv é a mais importante de hoje: é ela que vai buscar o arquivo e devolver a tabela. Repare que o que ela usa — o nome do arquivo — vai dentro dos parênteses, que é o desenho da função.
A segunda caixa branca: DataFrame. Isso não é uma função, é uma classe — o molde da tabela, exatamente como a Tabela do Encontro 4 era um molde. Quando eu escrevo pd.DataFrame de alguma coisa, eu recebo um objeto. E aí, dentro desse objeto, estão os atributos e os métodos: atributos sem parênteses, métodos com parênteses.
A coluna da direita responde a pergunta que costuma vir junto. Método não é novidade: a classe Tabela já tinha dois, head e contar. Atributo também não: tinha linhas e shape. O que não existia era função de biblioteca — ali só havia as funções que já vêm com o Python, como o len. Então a diferença não é de ideia; é de quantidade e de acabamento.
A frase do rodapé é a régua para a aula inteira. Se está escrito pd ponto alguma coisa, é função da biblioteca. Se está escrito o nome da tabela ponto alguma coisa, é método do objeto. Quando der erro hoje, leiam a linha e perguntem: isso é pd ponto, ou é processos ponto?</a:t>
            </a:r>
          </a:p>
        </p:txBody>
      </p:sp>
      <p:sp>
        <p:nvSpPr>
          <p:cNvPr id="4" name="Slide Number Placeholder 3"/>
          <p:cNvSpPr>
            <a:spLocks noGrp="1"/>
          </p:cNvSpPr>
          <p:nvPr>
            <p:ph type="sldNum" sz="quarter" idx="10"/>
          </p:nvPr>
        </p:nvSpPr>
        <p:spPr/>
        <p:txBody>
          <a:bodyPr/>
          <a:lstStyle/>
          <a:p>
            <a:fld id="{F7021451-1387-4CA6-816F-3879F97B5CBC}" type="slidenum">
              <a:rPr lang="pt-BR"/>
              <a:t>8</a:t>
            </a:fld>
            <a:endParaRPr lang="pt-B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Aqui é só para vocês verem o tamanho da caixa. Eu vou passar rápido e ninguém precisa anotar.
A caixinha circulada em vermelho é a única que a gente abre hoje: o DataFrame, a tabela. Todo o resto desta página existe no pandas e não entra nesta aula.
A tabela cruzada é a que mais aparece em pesquisa empírica: resultado por tribunal, em dupla entrada, do jeito que vai para o artigo.
Gráfico: a tabela vira barra ou linha numa linha de código.
Outras fontes: read_html lê tabela direto de uma página da internet; read_sql lê de um banco de dados.
Amostra e repetidos: sample sorteia, por exemplo, vinte sentenças para alguém ler à mão — é assim que se valida uma classificação. E drop_duplicates acha o processo que entrou duas vezes.
Faixas: transforma número em categoria, que é o que permite falar de pequenas condenações sem inventar o corte na mão.
Reformatar: muda o desenho da tabela sem mudar a informação — de larga para longa e de volta.
E a última, para quem escreve artigo: a tabela sai formatada, pronta para colar no texto.
O recado do slide é um só: ninguém sabe a biblioteca inteira. O que se aprende é procurar dentro dela.</a:t>
            </a:r>
          </a:p>
        </p:txBody>
      </p:sp>
      <p:sp>
        <p:nvSpPr>
          <p:cNvPr id="4" name="Slide Number Placeholder 3"/>
          <p:cNvSpPr>
            <a:spLocks noGrp="1"/>
          </p:cNvSpPr>
          <p:nvPr>
            <p:ph type="sldNum" sz="quarter" idx="10"/>
          </p:nvPr>
        </p:nvSpPr>
        <p:spPr/>
        <p:txBody>
          <a:bodyPr/>
          <a:lstStyle/>
          <a:p>
            <a:fld id="{F7021451-1387-4CA6-816F-3879F97B5CBC}" type="slidenum">
              <a:rPr lang="pt-BR"/>
              <a:t>10</a:t>
            </a:fld>
            <a:endParaRPr 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base de hoje não é fictícia. São sete mil sentenças de primeiro grau, de vinte e quatro tribunais estaduais, que vieram de um projeto de pesquisa real.
Eu extraí do inteiro teor de cada sentença um conjunto de colunas, todas com informação objetiva do processo: o tribunal, o ano, a comarca, se o autor é pessoa física ou jurídica, quem é o réu, de que setor econômico esse réu é, qual foi o resultado, e quanto foi a condenação quando houve.
E eu quero que vocês guardem três perguntas, porque são elas que a gente vai responder hoje, e elas não são perguntas de programação, são perguntas de pesquisa: quem é mais processado nessa base? Contra quem o autor ganha mais? E em que região do país o autor ganha mais?
Nenhuma dessas perguntas se responde lendo sentença por sentença. É por isso que a gente precisa de uma ferramenta nova.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para o notebook. Abram pelo link da página do curso, e a primeira coisa, antes de qualquer outra: Arquivo, salvar uma cópia no Drive. Senão tudo o que vocês escreverem hoje some quando fecharem a aba.
Eu vou esperar todo mundo. Levantem a mão quando o notebook estiver aberto e com o nome "Cópia de" no título.
A primeira célula instala nada e lê a base de um endereço na internet. Ela demora uns dez segundos. Rodem e me digam o que apareceu.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roteiro do notebook é esse.
Primeiro a gente conhece a base: quantas linhas, quais colunas, de que tipo, e o que está faltando. Isso é o que se faz com qualquer base nova, antes de qualquer análise, sempre.
Depois as sete operações, uma de cada vez. Cada uma tem uma célula de demonstração, que eu rodo com vocês, e depois um exercício que vocês fazem. Eu vou dar tempo e vou passar nas dúvidas.
Depois os exercícios de integração, que juntam o pandas com o que vocês já sabiam. Função com def e return, mas agora recebendo uma tabela. Condição com if, mas agora aplicada a uma coluna inteira.
E no fim, as três perguntas de pesquisa. Eu não vou dizer as respostas agora porque quero que vocês descubram. Adianto só que uma delas surpreende bastante.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slide é o mapa do notebook. Sete operações: à esquerda, o que vocês fariam com a `Tabela` do Encontro 4; à direita, o nome disso no pandas.
Repare na primeira linha: "não tinha coluna". A `Tabela` guardava linhas, e para pegar todos os réus era preciso percorrer a lista. A coluna como objeto é a novidade estrutural de hoje, e é dela que saem as outras seis.
Olhem a penúltima, contar por grupo. A `contar` foi escrita com um `for`, um `if` e um dicionário que crescia. O `groupby` é ela, generalizada: não conta só, faz qualquer conta, e agrupa por mais de um campo ao mesmo tempo.
E a última, juntar duas tabelas: com listas e dicionários, é um `for` dentro de outro. `merge` é uma linha.
A ordem da tabela é a ordem do notebook. A gente vai de cima para baixo, e cada exercício usa o que veio antes.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é a notação do Encontro 4, e hoje ela deixa de ser teoria e passa a explicar as mensagens de erro que vocês vão ver na tela.
Em cima: `processos` ponto `shape`, sem parênteses. É atributo. Um dado que o objeto já guarda, calculado quando a tabela foi criada. Devolve a dupla `(7000, 16)`.
Embaixo: `processos` ponto `head`, com parênteses. É método. Uma ação que o objeto executa na hora em que você pede.
E agora os dois erros que vão aparecer hoje, garantidamente, e que vocês vão saber diagnosticar sozinhos.
O primeiro: alguém escreve `processos.shape` com parênteses, por hábito. A mensagem é `TypeError`, objeto do tipo tupla não é chamável. Tradução: você pôs parênteses num atributo. Pediu para executar um dado, e dado não se executa. Tire os parênteses.
O segundo é mais interessante. Alguém escreve `processos.value_counts()`, direto na tabela, e leva um `AttributeError`. E a mensagem está certa: o `DataFrame` realmente não tem esse método. Quem tem é a coluna.
Isso é exatamente o `fundamentos.lower()` do Encontro 4: `"TJSP".lower()` funciona porque texto tem esse método, e a lista não tem. Aqui é a mesma gramática, com outros dois tipos. Quando aparecer `AttributeError`, a pergunta não é "escrevi errado?", é "**esse método é desse tipo?**".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está a tabela. Vamos olhar com calma, porque tudo o que vem depois depende de entender esses dois eixos.
A linha, destacada em amarelo, é um caso. Um processo. E tem duas afirmações fortes escondidas aí: primeiro, tudo o que a gente sabe sobre aquele processo está naquela linha; segundo, nada do que está naquela linha é sobre outro processo. Quando isso deixa de valer, a tabela está errada, e a gente vai ver daqui a pouco um exemplo de quando isso quebra.
A coluna é uma variável. E eu gosto de pensar na coluna como uma pergunta feita a todo mundo: a coluna "ano" é a pergunta "em que ano isso foi ajuizado?", feita sete mil vezes, uma para cada processo. A coluna "resultado" é a pergunta "como isso terminou?", também sete mil vezes.
Se vocês vieram do Encontro 3: a linha é o dicionário, e a coluna é a chave. O nome da chave virou o nome da coluna. É literalmente a mesma informação girada de lado.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é a decisão mais importante de qualquer base de dados, e é uma decisão de pesquisa, não de programação. Ela se chama unidade de observação, e a pergunta é simples: o que é uma linha?
Olhem os três cartões. Se a linha é um processo, a base de hoje tem sete mil linhas. Se a linha é uma parte, um processo com três réus vira três linhas, e a base fica maior. Se a linha é uma movimentação processual, um único processo pode ter cinquenta linhas, e a base vai para centenas de milhares.
Nenhuma das três está certa ou errada. Cada uma serve para uma pergunta. Com processo por linha, eu respondo quantos processos por tribunal. Com parte por linha, eu respondo quantas vezes o Bradesco apareceu como réu, o que eu não consigo responder direito na primeira. Com movimentação por linha, eu respondo quanto tempo demorou entre a citação e a sentença.
E a frase de baixo é a que eu quero que vocês guardem: a mesma pesquisa pode precisar das três tabelas. E o número de linhas significa coisas diferentes em cada uma. Quando alguém disser "a minha base tem trinta mil", a primeira pergunta é: trinta mil o quê?
Eu vou dizer isso de novo hoje, porque na hora do groupby esse conceito volta.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está uma diferença sutil e que muda tudo.
No Encontro 3, o tipo era de cada valor. Uma decisão podia ter valor da causa como número e a decisão seguinte podia ter o mesmo campo como texto, porque alguém digitou com cifrão. Nada impedia. O Python aceitava, e o problema só aparecia lá na frente, quando o for tentasse somar e desse TypeError.
Na tabela, o tipo é da coluna inteira. A coluna valor_condenacao é float, ponto flutuante, número com casas decimais, e ela é isso para as sete mil linhas ou para nenhuma. A coluna ano é int, inteiro. A coluna resultado é texto.
E isso não é burocracia: é essa garantia que permite ao pandas somar sete mil valores de uma vez, sem escrever loop, porque ele sabe de antemão que são todos números.
Reparem na última linha da tabela. Quando vocês rodarem df.dtypes no notebook, é isso que vai aparecer. E quando uma coluna que deveria ser número aparecer como "object", que é como o pandas chama texto, isso é um aviso: tem sujeira na coluna. Geralmente é um cifrão, um ponto de milhar ou uma célula escrita "não informado".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esquema de uma tabela é a lista de quais colunas existem, de que tipo cada uma é, e o que cada uma significa. Em banco de dados isso se chama esquema; em pesquisa empírica, vocês conhecem pelo nome de codebook. É a mesma coisa.
E eu quero insistir num ponto: a terceira coluna dessa tabela, "o que é", não é decoração. Ela é a parte mais importante e é a única que o computador não consegue inferir sozinho.
Vou dar o exemplo que importa para hoje. A coluna resultado tem cinco valores possíveis, e um deles é "ACORDO HOMOLOGADO". A pergunta de codebook é: acordo conta como vitória do autor? Não existe resposta técnica para isso. É uma decisão de pesquisa, tomada uma vez, escrita no codebook, e depois aplicada às sete mil linhas.
Na base de hoje eu tomei uma decisão que vocês podem discordar: acordo não é nem vitória nem derrota, ficou como ausente. Eu vou explicar por quê daqui a dois slides, e vocês podem mudar isso no notebook se acharem que eu errei.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Chave primária é a coluna que identifica cada linha sem ambiguidade. Duas exigências: nunca se repete, e nunca falta.
Na base de hoje, a chave primária é o número CNJ. Eu conferi: os sete mil são distintos, nenhum repetido, nenhum vazio.
Para que isso serve, na prática? Duas coisas. Primeiro, para não contar o mesmo processo duas vezes, que é o erro mais comum e mais silencioso em pesquisa empírica: você junta duas planilhas, algumas linhas se repetem, e a sua taxa de procedência muda sem que ninguém perceba.
Segundo, para ligar esta tabela a outra. É o que a gente vai fazer no fim da aula com o join.
E a frase de baixo é um aviso que vale para o trabalho de vocês. Nome não serve como chave. Existe mais de uma Maria Silva no Brasil. E, do lado das empresas, o problema é ainda pior: nessa base o Bradesco aparecia escrito de três jeitos diferentes, com ponto, sem ponto, com barra. São a mesma empresa e o computador achava que eram três. Eu já limpei isso para vocês, mas na base de vocês ninguém vai limpar.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Índice é a palavra mais confusa da aula, porque ela significa duas coisas, e vocês vão encontrar as duas.
No pandas, o índice é o rótulo de cada linha. Quando vocês rodarem head, vai aparecer uma coluna à esquerda, sem nome, com zero, um, dois, três. Aquilo é o índice, e não é uma coluna: ele não aparece em df.columns e não some se você selecionar outras colunas.
O detalhe que confunde na prática é este: quando você filtra linhas, o índice vem junto. Se você filtrar só os processos do TJSP, a primeira linha do resultado pode ter índice quatro mil e doze. O índice não é recontado. Isso assusta na primeira vez e é completamente normal.
O segundo sentido da palavra é o de banco de dados, e eu menciono porque vocês vão ler isso em algum lugar: ali, índice é uma estrutura que o banco monta para achar uma linha rápido, exatamente como o índice remissivo no fim de um livro. Sem índice, o banco lê a tabela inteira; com índice, ele vai direto. Para hoje vocês não precisam usar isso, só não confundir com o outro.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Rapidinho, porque isso vocês aprendem usando: onde o dado mora.
CSV quer dizer valores separados por vírgula. É um arquivo de texto puro: cada linha do arquivo é uma linha da tabela, e as colunas são separadas por vírgula. Vocês podem abrir num bloco de notas e ler. É o formato universal de troca, e é o que a gente usa hoje.
Duas dores de cabeça clássicas do CSV, para vocês reconhecerem quando acontecer. A primeira é o separador: no Brasil, o Excel costuma salvar CSV com ponto e vírgula em vez de vírgula, porque a vírgula está ocupada sendo separador decimal. Quando o arquivo abre todo numa coluna só, é isso. A segunda é o encoding, que é a tabela que diz qual número corresponde a qual letra: quando o acento vira aquele símbolo estranho, é encoding errado.
XLSX é o Excel. O pandas lê, com read_excel. A vantagem é que muita gente já tem o dado assim. A desvantagem é que planilha mistura dado com formatação e com fórmula, e é fácil alguém ter ordenado uma coluna sem as outras.
Parquet é binário e comprimido, e guarda os tipos junto. A base de hoje em CSV tem três megabytes; em parquet teria menos de um. Vale quando a base é grande.
Banco SQL é um servidor. Vocês vão encontrar em tribunal, em escritório grande. Não é assunto de hoje.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6246-0CCE-8CE3-B64D-03D7298DD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C0428-08DA-3A32-035D-4CD2FF227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645AA-D3FB-4560-12BE-15F334CB12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8C032E-8134-F6E2-9F60-C05FEFD617D7}"/>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1402883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Encontro 4 vocês viram que `dados`, colchete, `assunto`, devolve uma `Series`, e que `Series` é outra classe, com métodos próprios. Hoje isso vira uma regra prática de digitação.
Um colchete e um nome devolve a coluna sozinha, que é uma `Series`. É nela que moram as operações de uma coluna só: contar valores, tirar média, procurar texto.
Dois colchetes e uma lista de nomes devolve um `DataFrame`. Uma tabela — e continua sendo tabela mesmo que vocês peçam uma coluna só, com dois colchetes. É no `DataFrame` que moram as operações que envolvem mais de uma coluna: filtrar com `query`, agrupar, juntar com outra tabela.
A frase destacada é a que eu quero que vocês repitam mentalmente hoje inteiro: um colchete devolve coluna, dois colchetes devolvem tabela.
E ela tem uma consequência imediata, que fecha o slide anterior. Quando aparecer um `AttributeError` dizendo que `Series` não tem tal método, a primeira coisa a conferir não é a grafia: é quantos colchetes vocês usaram.</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Fechando.
Sem a tabela, cada pergunta é um loop novo, escrito à mão, com um acumulador que pode nascer dentro do laço em vez de fora, e a única forma de conferir é reler o código linha por linha.
Com a tabela, cada pergunta é uma linha que diz o que você quer, e não como percorrer. E a forma de conferir muda: você olha quantas linhas entraram e quantas sobraram. Se você filtrou por um tribunal e sobraram sete mil, o filtro não pegou. Se sobraram zero, você escreveu a sigla errada.
E a frase destacada é a moral da aula. O for não sumiu. Ele continua existindo, só que dentro do pandas, escrito por gente que fez isso muito bem. O que continua sendo seu é o critério: quais linhas interessam, o que conta como vitória, qual é a unidade de observação.
O pandas não decide nada disso. Ele executa rápido o que você decidiu.</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Duas palavras sobre IA, que é o tema do Encontro 6 mas que vocês já estão usando.
Pandas é a área em que a IA acerta com mais frequência, porque é código muito repetido na internet. Pedir "agrupe por setor e calcule a média" quase sempre volta certo.
O risco não está na sintaxe. Está em três lugares, e são os três que a gente viu hoje. Primeiro, o que fazer com o ausente: a IA vai preencher nulo com zero sem avisar, porque isso deixa o código mais limpo. Segundo, duplicatas: a IA não sabe qual é a sua chave primária. Terceiro, a unidade de observação: se o join multiplicar linhas, a IA não vai achar isso estranho.
E a frase de baixo é a mais importante do slide. O erro de pandas que a IA comete quase nunca dá mensagem de erro. Ele dá um número plausível. Uma taxa de procedência de trinta e um por cento parece razoável, e você não tem como saber que deveria ser quarenta e quatro.
Por isso o hábito que eu peço: shape antes, shape depois, e uma linha conferida na mão.</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casa, quatro coisas.
A primeira é a seção "Para casa" do notebook. São exercícios da mesma dificuldade dos de hoje, com outras colunas, e cada enunciado diz qual é o resultado esperado, então vocês conseguem se corrigir sozinhos. O gabarito está no repositório; tentem antes de abrir, porque olhar o gabarito dá uma sensação de ter entendido que não sobrevive à próxima aula.
A segunda é a que eu mais quero. Peguem uma pergunta de pesquisa de vocês, de verdade, do TCC ou do trabalho, e escrevam em português duas coisas: quais colunas essa pergunta precisa, e qual é a unidade de observação. Sem código nenhum. Essa é a parte difícil, e não é a parte de programação.
Terceira, commit e push, como sempre.
Quarta, abram issue com qualquer erro que travou. Erro de encoding e erro de tipo de coluna são os mais prováveis, e são úteis para todo mundo ver.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A78"/>
        </a:solidFill>
        <a:effectLst/>
      </p:bgPr>
    </p:bg>
    <p:spTree>
      <p:nvGrpSpPr>
        <p:cNvPr id="1" name=""/>
        <p:cNvGrpSpPr/>
        <p:nvPr/>
      </p:nvGrpSpPr>
      <p:grpSpPr>
        <a:xfrm>
          <a:off x="0" y="0"/>
          <a:ext cx="0" cy="0"/>
          <a:chOff x="0" y="0"/>
          <a:chExt cx="0" cy="0"/>
        </a:xfrm>
      </p:grpSpPr>
      <p:sp>
        <p:nvSpPr>
          <p:cNvPr id="2" name="Text 0"/>
          <p:cNvSpPr txBox="1"/>
          <p:nvPr/>
        </p:nvSpPr>
        <p:spPr>
          <a:xfrm>
            <a:off x="566928" y="2240280"/>
            <a:ext cx="9692640" cy="1463040"/>
          </a:xfrm>
          <a:prstGeom prst="rect">
            <a:avLst/>
          </a:prstGeom>
          <a:noFill/>
          <a:ln/>
        </p:spPr>
        <p:txBody>
          <a:bodyPr wrap="square" lIns="0" tIns="0" rIns="0" bIns="0" rtlCol="0" anchor="b"/>
          <a:lstStyle/>
          <a:p>
            <a:pPr marL="0" indent="0">
              <a:buNone/>
            </a:pPr>
            <a:r>
              <a:rPr lang="en-US" sz="4000" b="1" i="0" dirty="0" err="1">
                <a:solidFill>
                  <a:schemeClr val="bg1"/>
                </a:solidFill>
                <a:effectLst/>
                <a:latin typeface="Arial" panose="020B0604020202020204" pitchFamily="34" charset="0"/>
              </a:rPr>
              <a:t>Manipulação</a:t>
            </a:r>
            <a:r>
              <a:rPr lang="en-US" sz="4000" b="1" i="0" dirty="0">
                <a:solidFill>
                  <a:schemeClr val="bg1"/>
                </a:solidFill>
                <a:effectLst/>
                <a:latin typeface="Arial" panose="020B0604020202020204" pitchFamily="34" charset="0"/>
              </a:rPr>
              <a:t> de dados com pandas</a:t>
            </a:r>
          </a:p>
          <a:p>
            <a:pPr marL="0" indent="0">
              <a:buNone/>
            </a:pPr>
            <a:endParaRPr lang="en-US" sz="4000" dirty="0">
              <a:solidFill>
                <a:schemeClr val="bg1"/>
              </a:solidFill>
            </a:endParaRPr>
          </a:p>
        </p:txBody>
      </p:sp>
      <p:sp>
        <p:nvSpPr>
          <p:cNvPr id="3" name="Text 1"/>
          <p:cNvSpPr txBox="1"/>
          <p:nvPr/>
        </p:nvSpPr>
        <p:spPr>
          <a:xfrm>
            <a:off x="566928" y="3840480"/>
            <a:ext cx="9692640" cy="411480"/>
          </a:xfrm>
          <a:prstGeom prst="rect">
            <a:avLst/>
          </a:prstGeom>
          <a:noFill/>
          <a:ln/>
        </p:spPr>
        <p:txBody>
          <a:bodyPr wrap="square" lIns="0" tIns="0" rIns="0" bIns="0" rtlCol="0" anchor="ctr"/>
          <a:lstStyle/>
          <a:p>
            <a:pPr marL="0" indent="0">
              <a:buNone/>
            </a:pPr>
            <a:r>
              <a:rPr lang="en-US" sz="1900" dirty="0">
                <a:solidFill>
                  <a:srgbClr val="BCD2EA"/>
                </a:solidFill>
                <a:latin typeface="Calibri" pitchFamily="34" charset="0"/>
                <a:ea typeface="Calibri" pitchFamily="34" charset="-122"/>
                <a:cs typeface="Calibri" pitchFamily="34" charset="-120"/>
              </a:rPr>
              <a:t>Encontro 5 · Programação Aplicada ao Direito</a:t>
            </a:r>
            <a:endParaRPr lang="en-US" sz="1900" dirty="0"/>
          </a:p>
        </p:txBody>
      </p:sp>
      <p:sp>
        <p:nvSpPr>
          <p:cNvPr id="4" name="Text 2"/>
          <p:cNvSpPr txBox="1"/>
          <p:nvPr/>
        </p:nvSpPr>
        <p:spPr>
          <a:xfrm>
            <a:off x="566928" y="4892040"/>
            <a:ext cx="9692640" cy="320040"/>
          </a:xfrm>
          <a:prstGeom prst="rect">
            <a:avLst/>
          </a:prstGeom>
          <a:noFill/>
          <a:ln/>
        </p:spPr>
        <p:txBody>
          <a:bodyPr wrap="square" lIns="0" tIns="0" rIns="0" bIns="0" rtlCol="0" anchor="ctr"/>
          <a:lstStyle/>
          <a:p>
            <a:pPr marL="0" indent="0">
              <a:buNone/>
            </a:pPr>
            <a:r>
              <a:rPr lang="en-US" sz="1300" dirty="0">
                <a:solidFill>
                  <a:srgbClr val="8FB0D4"/>
                </a:solidFill>
                <a:latin typeface="Calibri" pitchFamily="34" charset="0"/>
                <a:ea typeface="Calibri" pitchFamily="34" charset="-122"/>
                <a:cs typeface="Calibri" pitchFamily="34" charset="-120"/>
              </a:rPr>
              <a:t>LabDados · FGV Direito SP  ·  2026-09-28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Lista, dicionario, lista de dicionarios">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pt-BR" sz="2900" b="1" dirty="0">
                <a:solidFill>
                  <a:srgbClr val="023A78"/>
                </a:solidFill>
                <a:latin typeface="Calibri" pitchFamily="34" charset="0"/>
                <a:ea typeface="Calibri" pitchFamily="34" charset="-122"/>
                <a:cs typeface="Calibri" pitchFamily="34" charset="-120"/>
              </a:rPr>
              <a:t>Lista, dicionário, lista de dicionários</a:t>
            </a:r>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pt-BR" sz="900" dirty="0">
                <a:solidFill>
                  <a:srgbClr val="9AA8B6"/>
                </a:solidFill>
                <a:latin typeface="Calibri" pitchFamily="34" charset="0"/>
                <a:ea typeface="Calibri" pitchFamily="34" charset="-122"/>
                <a:cs typeface="Calibri" pitchFamily="34" charset="-120"/>
              </a:rPr>
              <a:t>Programação Aplicada ao Direito · Encontro 5</a:t>
            </a:r>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pt-BR" sz="900" dirty="0">
                <a:solidFill>
                  <a:srgbClr val="9AA8B6"/>
                </a:solidFill>
                <a:latin typeface="Calibri" pitchFamily="34" charset="0"/>
                <a:ea typeface="Calibri" pitchFamily="34" charset="-122"/>
                <a:cs typeface="Calibri" pitchFamily="34" charset="-120"/>
              </a:rPr>
              <a:t>1</a:t>
            </a:r>
          </a:p>
        </p:txBody>
      </p:sp>
      <p:sp>
        <p:nvSpPr>
          <p:cNvPr id="6" name="Text 3"/>
          <p:cNvSpPr txBox="1"/>
          <p:nvPr/>
        </p:nvSpPr>
        <p:spPr>
          <a:xfrm>
            <a:off x="566928" y="1298448"/>
            <a:ext cx="11055096" cy="265176"/>
          </a:xfrm>
          <a:prstGeom prst="rect">
            <a:avLst/>
          </a:prstGeom>
          <a:noFill/>
          <a:ln/>
        </p:spPr>
        <p:txBody>
          <a:bodyPr wrap="square" lIns="0" tIns="0" rIns="0" bIns="0" rtlCol="0" anchor="t"/>
          <a:lstStyle/>
          <a:p>
            <a:pPr marL="0" indent="0">
              <a:buNone/>
            </a:pPr>
            <a:r>
              <a:rPr lang="pt-BR" sz="1550" dirty="0">
                <a:solidFill>
                  <a:srgbClr val="16202C"/>
                </a:solidFill>
                <a:latin typeface="Calibri" pitchFamily="34" charset="0"/>
                <a:ea typeface="Calibri" pitchFamily="34" charset="-122"/>
                <a:cs typeface="Calibri" pitchFamily="34" charset="-120"/>
              </a:rPr>
              <a:t>No Encontro 3 vocês construíram os três. A base de hoje é o terceiro, repetido 7.000 vezes.</a:t>
            </a:r>
          </a:p>
        </p:txBody>
      </p:sp>
      <p:sp>
        <p:nvSpPr>
          <p:cNvPr id="7" name="Label 1"/>
          <p:cNvSpPr txBox="1"/>
          <p:nvPr/>
        </p:nvSpPr>
        <p:spPr>
          <a:xfrm>
            <a:off x="566928" y="1691640"/>
            <a:ext cx="11055096" cy="256032"/>
          </a:xfrm>
          <a:prstGeom prst="rect">
            <a:avLst/>
          </a:prstGeom>
          <a:noFill/>
          <a:ln/>
        </p:spPr>
        <p:txBody>
          <a:bodyPr wrap="square" lIns="0" tIns="0" rIns="0" bIns="0" rtlCol="0" anchor="t"/>
          <a:lstStyle/>
          <a:p>
            <a:pPr marL="0" indent="0">
              <a:buNone/>
            </a:pPr>
            <a:r>
              <a:rPr lang="pt-BR" sz="1400" b="1" dirty="0">
                <a:solidFill>
                  <a:srgbClr val="023A78"/>
                </a:solidFill>
                <a:latin typeface="Calibri" pitchFamily="34" charset="0"/>
                <a:ea typeface="Calibri" pitchFamily="34" charset="-122"/>
                <a:cs typeface="Calibri" pitchFamily="34" charset="-120"/>
              </a:rPr>
              <a:t>Lista</a:t>
            </a:r>
            <a:r>
              <a:rPr lang="pt-BR" sz="1400" dirty="0">
                <a:solidFill>
                  <a:srgbClr val="3C4A5A"/>
                </a:solidFill>
                <a:latin typeface="Calibri" pitchFamily="34" charset="0"/>
                <a:ea typeface="Calibri" pitchFamily="34" charset="-122"/>
                <a:cs typeface="Calibri" pitchFamily="34" charset="-120"/>
              </a:rPr>
              <a:t> — vários valores em fila. Você pega pela posição.</a:t>
            </a:r>
          </a:p>
        </p:txBody>
      </p:sp>
      <p:sp>
        <p:nvSpPr>
          <p:cNvPr id="8" name="Card 1"/>
          <p:cNvSpPr/>
          <p:nvPr/>
        </p:nvSpPr>
        <p:spPr>
          <a:xfrm>
            <a:off x="566928" y="1984248"/>
            <a:ext cx="11055096" cy="685800"/>
          </a:xfrm>
          <a:prstGeom prst="roundRect">
            <a:avLst>
              <a:gd name="adj" fmla="val 1358"/>
            </a:avLst>
          </a:prstGeom>
          <a:solidFill>
            <a:srgbClr val="F4F6F9"/>
          </a:solidFill>
          <a:ln w="9525">
            <a:solidFill>
              <a:srgbClr val="E2E8F0"/>
            </a:solidFill>
            <a:prstDash val="solid"/>
          </a:ln>
        </p:spPr>
        <p:txBody>
          <a:bodyPr/>
          <a:lstStyle/>
          <a:p>
            <a:endParaRPr lang="pt-BR"/>
          </a:p>
        </p:txBody>
      </p:sp>
      <p:sp>
        <p:nvSpPr>
          <p:cNvPr id="9" name="Code 1"/>
          <p:cNvSpPr txBox="1"/>
          <p:nvPr/>
        </p:nvSpPr>
        <p:spPr>
          <a:xfrm>
            <a:off x="841248" y="2112264"/>
            <a:ext cx="10506456" cy="457200"/>
          </a:xfrm>
          <a:prstGeom prst="rect">
            <a:avLst/>
          </a:prstGeom>
          <a:noFill/>
          <a:ln/>
        </p:spPr>
        <p:txBody>
          <a:bodyPr wrap="square" lIns="0" tIns="0" rIns="0" bIns="0" rtlCol="0" anchor="t"/>
          <a:lstStyle/>
          <a:p>
            <a:pPr marL="0" indent="0">
              <a:buNone/>
            </a:pPr>
            <a:r>
              <a:rPr lang="pt-BR" sz="1400" dirty="0">
                <a:solidFill>
                  <a:srgbClr val="16202C"/>
                </a:solidFill>
                <a:latin typeface="Courier New" pitchFamily="34" charset="0"/>
                <a:ea typeface="Courier New" pitchFamily="34" charset="-122"/>
                <a:cs typeface="Courier New" pitchFamily="34" charset="-120"/>
              </a:rPr>
              <a:t>tribunais = ["TJSP", "TJRJ", "TJMG"]</a:t>
            </a:r>
          </a:p>
          <a:p>
            <a:pPr marL="0" indent="0">
              <a:buNone/>
            </a:pPr>
            <a:r>
              <a:rPr lang="pt-BR" sz="1400" dirty="0">
                <a:solidFill>
                  <a:srgbClr val="16202C"/>
                </a:solidFill>
                <a:latin typeface="Courier New" pitchFamily="34" charset="0"/>
                <a:ea typeface="Courier New" pitchFamily="34" charset="-122"/>
                <a:cs typeface="Courier New" pitchFamily="34" charset="-120"/>
              </a:rPr>
              <a:t>tribunais[0]</a:t>
            </a:r>
            <a:r>
              <a:rPr lang="pt-BR" sz="1400" dirty="0">
                <a:solidFill>
                  <a:srgbClr val="7A8899"/>
                </a:solidFill>
                <a:latin typeface="Courier New" pitchFamily="34" charset="0"/>
                <a:ea typeface="Courier New" pitchFamily="34" charset="-122"/>
                <a:cs typeface="Courier New" pitchFamily="34" charset="-120"/>
              </a:rPr>
              <a:t>   # "TJSP"</a:t>
            </a:r>
          </a:p>
        </p:txBody>
      </p:sp>
      <p:sp>
        <p:nvSpPr>
          <p:cNvPr id="10" name="Label 2"/>
          <p:cNvSpPr txBox="1"/>
          <p:nvPr/>
        </p:nvSpPr>
        <p:spPr>
          <a:xfrm>
            <a:off x="566928" y="2880360"/>
            <a:ext cx="11055096" cy="256032"/>
          </a:xfrm>
          <a:prstGeom prst="rect">
            <a:avLst/>
          </a:prstGeom>
          <a:noFill/>
          <a:ln/>
        </p:spPr>
        <p:txBody>
          <a:bodyPr wrap="square" lIns="0" tIns="0" rIns="0" bIns="0" rtlCol="0" anchor="t"/>
          <a:lstStyle/>
          <a:p>
            <a:pPr marL="0" indent="0">
              <a:buNone/>
            </a:pPr>
            <a:r>
              <a:rPr lang="pt-BR" sz="1400" b="1" dirty="0">
                <a:solidFill>
                  <a:srgbClr val="023A78"/>
                </a:solidFill>
                <a:latin typeface="Calibri" pitchFamily="34" charset="0"/>
                <a:ea typeface="Calibri" pitchFamily="34" charset="-122"/>
                <a:cs typeface="Calibri" pitchFamily="34" charset="-120"/>
              </a:rPr>
              <a:t>Dicionário</a:t>
            </a:r>
            <a:r>
              <a:rPr lang="pt-BR" sz="1400" dirty="0">
                <a:solidFill>
                  <a:srgbClr val="3C4A5A"/>
                </a:solidFill>
                <a:latin typeface="Calibri" pitchFamily="34" charset="0"/>
                <a:ea typeface="Calibri" pitchFamily="34" charset="-122"/>
                <a:cs typeface="Calibri" pitchFamily="34" charset="-120"/>
              </a:rPr>
              <a:t> — um registro só, com nome em cada valor. Você pega pela chave.</a:t>
            </a:r>
          </a:p>
        </p:txBody>
      </p:sp>
      <p:sp>
        <p:nvSpPr>
          <p:cNvPr id="11" name="Card 2"/>
          <p:cNvSpPr/>
          <p:nvPr/>
        </p:nvSpPr>
        <p:spPr>
          <a:xfrm>
            <a:off x="566928" y="3172968"/>
            <a:ext cx="11055096" cy="685800"/>
          </a:xfrm>
          <a:prstGeom prst="roundRect">
            <a:avLst>
              <a:gd name="adj" fmla="val 1358"/>
            </a:avLst>
          </a:prstGeom>
          <a:solidFill>
            <a:srgbClr val="F4F6F9"/>
          </a:solidFill>
          <a:ln w="9525">
            <a:solidFill>
              <a:srgbClr val="E2E8F0"/>
            </a:solidFill>
            <a:prstDash val="solid"/>
          </a:ln>
        </p:spPr>
        <p:txBody>
          <a:bodyPr/>
          <a:lstStyle/>
          <a:p>
            <a:endParaRPr lang="pt-BR"/>
          </a:p>
        </p:txBody>
      </p:sp>
      <p:sp>
        <p:nvSpPr>
          <p:cNvPr id="12" name="Code 2"/>
          <p:cNvSpPr txBox="1"/>
          <p:nvPr/>
        </p:nvSpPr>
        <p:spPr>
          <a:xfrm>
            <a:off x="841248" y="3300984"/>
            <a:ext cx="10506456" cy="457200"/>
          </a:xfrm>
          <a:prstGeom prst="rect">
            <a:avLst/>
          </a:prstGeom>
          <a:noFill/>
          <a:ln/>
        </p:spPr>
        <p:txBody>
          <a:bodyPr wrap="square" lIns="0" tIns="0" rIns="0" bIns="0" rtlCol="0" anchor="t"/>
          <a:lstStyle/>
          <a:p>
            <a:pPr marL="0" indent="0">
              <a:buNone/>
            </a:pPr>
            <a:r>
              <a:rPr lang="pt-BR" sz="1400" dirty="0">
                <a:solidFill>
                  <a:srgbClr val="16202C"/>
                </a:solidFill>
                <a:latin typeface="Courier New" pitchFamily="34" charset="0"/>
                <a:ea typeface="Courier New" pitchFamily="34" charset="-122"/>
                <a:cs typeface="Courier New" pitchFamily="34" charset="-120"/>
              </a:rPr>
              <a:t>processo = {"tribunal": "TJSP", "ano": 2023, "ganhou_autor": True}</a:t>
            </a:r>
          </a:p>
          <a:p>
            <a:pPr marL="0" indent="0">
              <a:buNone/>
            </a:pPr>
            <a:r>
              <a:rPr lang="pt-BR" sz="1400" dirty="0">
                <a:solidFill>
                  <a:srgbClr val="16202C"/>
                </a:solidFill>
                <a:latin typeface="Courier New" pitchFamily="34" charset="0"/>
                <a:ea typeface="Courier New" pitchFamily="34" charset="-122"/>
                <a:cs typeface="Courier New" pitchFamily="34" charset="-120"/>
              </a:rPr>
              <a:t>processo["ano"]</a:t>
            </a:r>
            <a:r>
              <a:rPr lang="pt-BR" sz="1400" dirty="0">
                <a:solidFill>
                  <a:srgbClr val="7A8899"/>
                </a:solidFill>
                <a:latin typeface="Courier New" pitchFamily="34" charset="0"/>
                <a:ea typeface="Courier New" pitchFamily="34" charset="-122"/>
                <a:cs typeface="Courier New" pitchFamily="34" charset="-120"/>
              </a:rPr>
              <a:t>   # 2023</a:t>
            </a:r>
          </a:p>
        </p:txBody>
      </p:sp>
      <p:sp>
        <p:nvSpPr>
          <p:cNvPr id="13" name="Label 3"/>
          <p:cNvSpPr txBox="1"/>
          <p:nvPr/>
        </p:nvSpPr>
        <p:spPr>
          <a:xfrm>
            <a:off x="566928" y="4069080"/>
            <a:ext cx="11055096" cy="256032"/>
          </a:xfrm>
          <a:prstGeom prst="rect">
            <a:avLst/>
          </a:prstGeom>
          <a:noFill/>
          <a:ln/>
        </p:spPr>
        <p:txBody>
          <a:bodyPr wrap="square" lIns="0" tIns="0" rIns="0" bIns="0" rtlCol="0" anchor="t"/>
          <a:lstStyle/>
          <a:p>
            <a:pPr marL="0" indent="0">
              <a:buNone/>
            </a:pPr>
            <a:r>
              <a:rPr lang="pt-BR" sz="1400" b="1" dirty="0">
                <a:solidFill>
                  <a:srgbClr val="023A78"/>
                </a:solidFill>
                <a:latin typeface="Calibri" pitchFamily="34" charset="0"/>
                <a:ea typeface="Calibri" pitchFamily="34" charset="-122"/>
                <a:cs typeface="Calibri" pitchFamily="34" charset="-120"/>
              </a:rPr>
              <a:t>Lista de dicionários</a:t>
            </a:r>
            <a:r>
              <a:rPr lang="pt-BR" sz="1400" dirty="0">
                <a:solidFill>
                  <a:srgbClr val="3C4A5A"/>
                </a:solidFill>
                <a:latin typeface="Calibri" pitchFamily="34" charset="0"/>
                <a:ea typeface="Calibri" pitchFamily="34" charset="-122"/>
                <a:cs typeface="Calibri" pitchFamily="34" charset="-120"/>
              </a:rPr>
              <a:t> — vários registros com as mesmas chaves. Isto já é uma tabela.</a:t>
            </a:r>
          </a:p>
        </p:txBody>
      </p:sp>
      <p:sp>
        <p:nvSpPr>
          <p:cNvPr id="14" name="Card 3"/>
          <p:cNvSpPr/>
          <p:nvPr/>
        </p:nvSpPr>
        <p:spPr>
          <a:xfrm>
            <a:off x="566928" y="4361688"/>
            <a:ext cx="11055096" cy="1325880"/>
          </a:xfrm>
          <a:prstGeom prst="roundRect">
            <a:avLst>
              <a:gd name="adj" fmla="val 1358"/>
            </a:avLst>
          </a:prstGeom>
          <a:solidFill>
            <a:srgbClr val="F4F6F9"/>
          </a:solidFill>
          <a:ln w="9525">
            <a:solidFill>
              <a:srgbClr val="E2E8F0"/>
            </a:solidFill>
            <a:prstDash val="solid"/>
          </a:ln>
        </p:spPr>
        <p:txBody>
          <a:bodyPr/>
          <a:lstStyle/>
          <a:p>
            <a:endParaRPr lang="pt-BR"/>
          </a:p>
        </p:txBody>
      </p:sp>
      <p:sp>
        <p:nvSpPr>
          <p:cNvPr id="15" name="Code 3"/>
          <p:cNvSpPr txBox="1"/>
          <p:nvPr/>
        </p:nvSpPr>
        <p:spPr>
          <a:xfrm>
            <a:off x="841248" y="4489704"/>
            <a:ext cx="10506456" cy="1097280"/>
          </a:xfrm>
          <a:prstGeom prst="rect">
            <a:avLst/>
          </a:prstGeom>
          <a:noFill/>
          <a:ln/>
        </p:spPr>
        <p:txBody>
          <a:bodyPr wrap="square" lIns="0" tIns="0" rIns="0" bIns="0" rtlCol="0" anchor="t"/>
          <a:lstStyle/>
          <a:p>
            <a:pPr marL="0" indent="0">
              <a:buNone/>
            </a:pPr>
            <a:r>
              <a:rPr lang="pt-BR" sz="1400" dirty="0">
                <a:solidFill>
                  <a:srgbClr val="16202C"/>
                </a:solidFill>
                <a:latin typeface="Courier New" pitchFamily="34" charset="0"/>
                <a:ea typeface="Courier New" pitchFamily="34" charset="-122"/>
                <a:cs typeface="Courier New" pitchFamily="34" charset="-120"/>
              </a:rPr>
              <a:t>processos = [</a:t>
            </a:r>
          </a:p>
          <a:p>
            <a:pPr marL="0" indent="0">
              <a:buNone/>
            </a:pPr>
            <a:r>
              <a:rPr lang="pt-BR" sz="1400" dirty="0">
                <a:solidFill>
                  <a:srgbClr val="16202C"/>
                </a:solidFill>
                <a:latin typeface="Courier New" pitchFamily="34" charset="0"/>
                <a:ea typeface="Courier New" pitchFamily="34" charset="-122"/>
                <a:cs typeface="Courier New" pitchFamily="34" charset="-120"/>
              </a:rPr>
              <a:t>    {"tribunal": "TJSP", "ano": 2023, "ganhou_autor": True},</a:t>
            </a:r>
          </a:p>
          <a:p>
            <a:pPr marL="0" indent="0">
              <a:buNone/>
            </a:pPr>
            <a:r>
              <a:rPr lang="pt-BR" sz="1400" dirty="0">
                <a:solidFill>
                  <a:srgbClr val="16202C"/>
                </a:solidFill>
                <a:latin typeface="Courier New" pitchFamily="34" charset="0"/>
                <a:ea typeface="Courier New" pitchFamily="34" charset="-122"/>
                <a:cs typeface="Courier New" pitchFamily="34" charset="-120"/>
              </a:rPr>
              <a:t>    {"tribunal": "TJRJ", "ano": 2024, "ganhou_autor": False},</a:t>
            </a:r>
          </a:p>
          <a:p>
            <a:pPr marL="0" indent="0">
              <a:buNone/>
            </a:pPr>
            <a:r>
              <a:rPr lang="pt-BR" sz="1400" dirty="0">
                <a:solidFill>
                  <a:srgbClr val="16202C"/>
                </a:solidFill>
                <a:latin typeface="Courier New" pitchFamily="34" charset="0"/>
                <a:ea typeface="Courier New" pitchFamily="34" charset="-122"/>
                <a:cs typeface="Courier New" pitchFamily="34" charset="-120"/>
              </a:rPr>
              <a:t>]</a:t>
            </a:r>
          </a:p>
          <a:p>
            <a:pPr marL="0" indent="0">
              <a:buNone/>
            </a:pPr>
            <a:r>
              <a:rPr lang="pt-BR" sz="1400" dirty="0">
                <a:solidFill>
                  <a:srgbClr val="16202C"/>
                </a:solidFill>
                <a:latin typeface="Courier New" pitchFamily="34" charset="0"/>
                <a:ea typeface="Courier New" pitchFamily="34" charset="-122"/>
                <a:cs typeface="Courier New" pitchFamily="34" charset="-120"/>
              </a:rPr>
              <a:t>processos[1]["ano"]</a:t>
            </a:r>
            <a:r>
              <a:rPr lang="pt-BR" sz="1400" dirty="0">
                <a:solidFill>
                  <a:srgbClr val="7A8899"/>
                </a:solidFill>
                <a:latin typeface="Courier New" pitchFamily="34" charset="0"/>
                <a:ea typeface="Courier New" pitchFamily="34" charset="-122"/>
                <a:cs typeface="Courier New" pitchFamily="34" charset="-120"/>
              </a:rPr>
              <a:t>   # 2024</a:t>
            </a:r>
          </a:p>
        </p:txBody>
      </p:sp>
      <p:sp>
        <p:nvSpPr>
          <p:cNvPr id="16" name="Text fecho"/>
          <p:cNvSpPr txBox="1"/>
          <p:nvPr/>
        </p:nvSpPr>
        <p:spPr>
          <a:xfrm>
            <a:off x="566928" y="5870448"/>
            <a:ext cx="11055096" cy="292608"/>
          </a:xfrm>
          <a:prstGeom prst="rect">
            <a:avLst/>
          </a:prstGeom>
          <a:noFill/>
          <a:ln/>
        </p:spPr>
        <p:txBody>
          <a:bodyPr wrap="square" lIns="0" tIns="0" rIns="0" bIns="0" rtlCol="0" anchor="t"/>
          <a:lstStyle/>
          <a:p>
            <a:pPr marL="0" indent="0">
              <a:buNone/>
            </a:pPr>
            <a:r>
              <a:rPr lang="pt-BR" sz="1500" b="1" dirty="0">
                <a:solidFill>
                  <a:srgbClr val="023A78"/>
                </a:solidFill>
                <a:latin typeface="Calibri" pitchFamily="34" charset="0"/>
                <a:ea typeface="Calibri" pitchFamily="34" charset="-122"/>
                <a:cs typeface="Calibri" pitchFamily="34" charset="-120"/>
              </a:rPr>
              <a:t>Cada dicionário vira uma linha. Cada chave vira uma coluna.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Lista, dicionario, lista de dicionarios">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pt-BR" sz="2900" b="1" dirty="0">
                <a:solidFill>
                  <a:srgbClr val="023A78"/>
                </a:solidFill>
                <a:latin typeface="Calibri" pitchFamily="34" charset="0"/>
                <a:ea typeface="Calibri" pitchFamily="34" charset="-122"/>
                <a:cs typeface="Calibri" pitchFamily="34" charset="-120"/>
              </a:rPr>
              <a:t>De lista de dicionários para tabela</a:t>
            </a:r>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pt-BR" sz="900" dirty="0">
                <a:solidFill>
                  <a:srgbClr val="9AA8B6"/>
                </a:solidFill>
                <a:latin typeface="Calibri" pitchFamily="34" charset="0"/>
                <a:ea typeface="Calibri" pitchFamily="34" charset="-122"/>
                <a:cs typeface="Calibri" pitchFamily="34" charset="-120"/>
              </a:rPr>
              <a:t>Programação Aplicada ao Direito · Encontro 5</a:t>
            </a:r>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pt-BR" sz="900" dirty="0">
                <a:solidFill>
                  <a:srgbClr val="9AA8B6"/>
                </a:solidFill>
                <a:latin typeface="Calibri" pitchFamily="34" charset="0"/>
                <a:ea typeface="Calibri" pitchFamily="34" charset="-122"/>
                <a:cs typeface="Calibri" pitchFamily="34" charset="-120"/>
              </a:rPr>
              <a:t>2</a:t>
            </a:r>
          </a:p>
        </p:txBody>
      </p:sp>
      <p:sp>
        <p:nvSpPr>
          <p:cNvPr id="6" name="TextBox 5"/>
          <p:cNvSpPr txBox="1"/>
          <p:nvPr/>
        </p:nvSpPr>
        <p:spPr>
          <a:xfrm>
            <a:off x="566928" y="1298448"/>
            <a:ext cx="11055096" cy="274320"/>
          </a:xfrm>
          <a:prstGeom prst="rect">
            <a:avLst/>
          </a:prstGeom>
          <a:noFill/>
        </p:spPr>
        <p:txBody>
          <a:bodyPr wrap="square" lIns="0" tIns="0" rIns="0" bIns="0" anchor="t">
            <a:spAutoFit/>
          </a:bodyPr>
          <a:lstStyle/>
          <a:p>
            <a:pPr algn="l"/>
            <a:r>
              <a:rPr sz="1550" b="0" i="0">
                <a:solidFill>
                  <a:srgbClr val="16202C"/>
                </a:solidFill>
                <a:latin typeface="Calibri"/>
              </a:rPr>
              <a:t>A mesma informação, escrita de dois jeitos. O da direita é uma tabela.</a:t>
            </a:r>
          </a:p>
        </p:txBody>
      </p:sp>
      <p:sp>
        <p:nvSpPr>
          <p:cNvPr id="7" name="Rounded Rectangle 6"/>
          <p:cNvSpPr/>
          <p:nvPr/>
        </p:nvSpPr>
        <p:spPr>
          <a:xfrm>
            <a:off x="566928" y="2011680"/>
            <a:ext cx="5349240" cy="1188720"/>
          </a:xfrm>
          <a:prstGeom prst="roundRect">
            <a:avLst>
              <a:gd name="adj" fmla="val 6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86384" y="2258568"/>
            <a:ext cx="4910327" cy="731520"/>
          </a:xfrm>
          <a:prstGeom prst="rect">
            <a:avLst/>
          </a:prstGeom>
          <a:noFill/>
        </p:spPr>
        <p:txBody>
          <a:bodyPr wrap="square" lIns="0" tIns="0" rIns="0" bIns="0" anchor="t">
            <a:spAutoFit/>
          </a:bodyPr>
          <a:lstStyle/>
          <a:p>
            <a:pPr algn="l"/>
            <a:r>
              <a:rPr sz="1050" b="0" i="0">
                <a:solidFill>
                  <a:srgbClr val="16202C"/>
                </a:solidFill>
                <a:latin typeface="Courier New"/>
              </a:rPr>
              <a:t>processos = [</a:t>
            </a:r>
          </a:p>
          <a:p>
            <a:pPr algn="l"/>
            <a:r>
              <a:rPr sz="1050" b="0" i="0">
                <a:solidFill>
                  <a:srgbClr val="1B4F91"/>
                </a:solidFill>
                <a:latin typeface="Courier New"/>
              </a:rPr>
              <a:t>    {"tribunal": "TJSP", "ano": 2023, "ganhou_autor": True},</a:t>
            </a:r>
          </a:p>
          <a:p>
            <a:pPr algn="l"/>
            <a:r>
              <a:rPr sz="1050" b="0" i="0">
                <a:solidFill>
                  <a:srgbClr val="9A501E"/>
                </a:solidFill>
                <a:latin typeface="Courier New"/>
              </a:rPr>
              <a:t>    {"tribunal": "TJRJ", "ano": 2024, "ganhou_autor": False},</a:t>
            </a:r>
          </a:p>
          <a:p>
            <a:pPr algn="l"/>
            <a:r>
              <a:rPr sz="1050" b="0" i="0">
                <a:solidFill>
                  <a:srgbClr val="16202C"/>
                </a:solidFill>
                <a:latin typeface="Courier New"/>
              </a:rPr>
              <a:t>]</a:t>
            </a:r>
          </a:p>
        </p:txBody>
      </p:sp>
      <p:sp>
        <p:nvSpPr>
          <p:cNvPr id="9" name="TextBox 8"/>
          <p:cNvSpPr txBox="1"/>
          <p:nvPr/>
        </p:nvSpPr>
        <p:spPr>
          <a:xfrm>
            <a:off x="566928" y="3310128"/>
            <a:ext cx="5349240" cy="256032"/>
          </a:xfrm>
          <a:prstGeom prst="rect">
            <a:avLst/>
          </a:prstGeom>
          <a:noFill/>
        </p:spPr>
        <p:txBody>
          <a:bodyPr wrap="square" lIns="0" tIns="0" rIns="0" bIns="0" anchor="t">
            <a:spAutoFit/>
          </a:bodyPr>
          <a:lstStyle/>
          <a:p>
            <a:pPr algn="l"/>
            <a:r>
              <a:rPr sz="1100" b="0" i="0">
                <a:solidFill>
                  <a:srgbClr val="9AA8B6"/>
                </a:solidFill>
                <a:latin typeface="Calibri"/>
              </a:rPr>
              <a:t>uma lista com 2 dicionários</a:t>
            </a:r>
          </a:p>
        </p:txBody>
      </p:sp>
      <p:sp>
        <p:nvSpPr>
          <p:cNvPr id="10" name="Right Arrow 9"/>
          <p:cNvSpPr/>
          <p:nvPr/>
        </p:nvSpPr>
        <p:spPr>
          <a:xfrm>
            <a:off x="6126480" y="2441448"/>
            <a:ext cx="731520" cy="329184"/>
          </a:xfrm>
          <a:prstGeom prst="rightArrow">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720" y="2871216"/>
            <a:ext cx="1463040" cy="237744"/>
          </a:xfrm>
          <a:prstGeom prst="rect">
            <a:avLst/>
          </a:prstGeom>
          <a:noFill/>
        </p:spPr>
        <p:txBody>
          <a:bodyPr wrap="square" lIns="0" tIns="0" rIns="0" bIns="0" anchor="t">
            <a:spAutoFit/>
          </a:bodyPr>
          <a:lstStyle/>
          <a:p>
            <a:pPr algn="ctr"/>
            <a:r>
              <a:rPr sz="1100" b="1" i="0">
                <a:solidFill>
                  <a:srgbClr val="023A78"/>
                </a:solidFill>
                <a:latin typeface="Calibri"/>
              </a:rPr>
              <a:t>vira tabela</a:t>
            </a:r>
          </a:p>
        </p:txBody>
      </p:sp>
      <p:sp>
        <p:nvSpPr>
          <p:cNvPr id="12" name="Rectangle 11"/>
          <p:cNvSpPr/>
          <p:nvPr/>
        </p:nvSpPr>
        <p:spPr>
          <a:xfrm>
            <a:off x="7269480" y="2084831"/>
            <a:ext cx="4352544" cy="347472"/>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99831" y="2103120"/>
            <a:ext cx="950976" cy="310896"/>
          </a:xfrm>
          <a:prstGeom prst="rect">
            <a:avLst/>
          </a:prstGeom>
          <a:noFill/>
        </p:spPr>
        <p:txBody>
          <a:bodyPr wrap="square" lIns="0" tIns="0" rIns="0" bIns="0" anchor="ctr">
            <a:spAutoFit/>
          </a:bodyPr>
          <a:lstStyle/>
          <a:p>
            <a:pPr algn="l"/>
            <a:r>
              <a:rPr sz="1050" b="1" i="0">
                <a:solidFill>
                  <a:srgbClr val="FFFFFF"/>
                </a:solidFill>
                <a:latin typeface="Courier New"/>
              </a:rPr>
              <a:t>tribunal</a:t>
            </a:r>
          </a:p>
        </p:txBody>
      </p:sp>
      <p:sp>
        <p:nvSpPr>
          <p:cNvPr id="14" name="TextBox 13"/>
          <p:cNvSpPr txBox="1"/>
          <p:nvPr/>
        </p:nvSpPr>
        <p:spPr>
          <a:xfrm>
            <a:off x="8897111" y="2103120"/>
            <a:ext cx="512063" cy="310896"/>
          </a:xfrm>
          <a:prstGeom prst="rect">
            <a:avLst/>
          </a:prstGeom>
          <a:noFill/>
        </p:spPr>
        <p:txBody>
          <a:bodyPr wrap="square" lIns="0" tIns="0" rIns="0" bIns="0" anchor="ctr">
            <a:spAutoFit/>
          </a:bodyPr>
          <a:lstStyle/>
          <a:p>
            <a:pPr algn="l"/>
            <a:r>
              <a:rPr sz="1050" b="1" i="0">
                <a:solidFill>
                  <a:srgbClr val="FFFFFF"/>
                </a:solidFill>
                <a:latin typeface="Courier New"/>
              </a:rPr>
              <a:t>ano</a:t>
            </a:r>
          </a:p>
        </p:txBody>
      </p:sp>
      <p:sp>
        <p:nvSpPr>
          <p:cNvPr id="15" name="TextBox 14"/>
          <p:cNvSpPr txBox="1"/>
          <p:nvPr/>
        </p:nvSpPr>
        <p:spPr>
          <a:xfrm>
            <a:off x="9555480" y="2103120"/>
            <a:ext cx="1993391" cy="310896"/>
          </a:xfrm>
          <a:prstGeom prst="rect">
            <a:avLst/>
          </a:prstGeom>
          <a:noFill/>
        </p:spPr>
        <p:txBody>
          <a:bodyPr wrap="square" lIns="0" tIns="0" rIns="0" bIns="0" anchor="ctr">
            <a:spAutoFit/>
          </a:bodyPr>
          <a:lstStyle/>
          <a:p>
            <a:pPr algn="l"/>
            <a:r>
              <a:rPr sz="1050" b="1" i="0">
                <a:solidFill>
                  <a:srgbClr val="FFFFFF"/>
                </a:solidFill>
                <a:latin typeface="Courier New"/>
              </a:rPr>
              <a:t>ganhou_autor</a:t>
            </a:r>
          </a:p>
        </p:txBody>
      </p:sp>
      <p:sp>
        <p:nvSpPr>
          <p:cNvPr id="16" name="Rectangle 15"/>
          <p:cNvSpPr/>
          <p:nvPr/>
        </p:nvSpPr>
        <p:spPr>
          <a:xfrm>
            <a:off x="7269480" y="2432303"/>
            <a:ext cx="4352544" cy="347472"/>
          </a:xfrm>
          <a:prstGeom prst="rect">
            <a:avLst/>
          </a:prstGeom>
          <a:solidFill>
            <a:srgbClr val="E8F0F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342631" y="2450591"/>
            <a:ext cx="310896" cy="310896"/>
          </a:xfrm>
          <a:prstGeom prst="rect">
            <a:avLst/>
          </a:prstGeom>
          <a:noFill/>
        </p:spPr>
        <p:txBody>
          <a:bodyPr wrap="square" lIns="0" tIns="0" rIns="0" bIns="0" anchor="ctr">
            <a:spAutoFit/>
          </a:bodyPr>
          <a:lstStyle/>
          <a:p>
            <a:pPr algn="l"/>
            <a:r>
              <a:rPr sz="1050" b="0" i="0">
                <a:solidFill>
                  <a:srgbClr val="9AA8B6"/>
                </a:solidFill>
                <a:latin typeface="Courier New"/>
              </a:rPr>
              <a:t>0</a:t>
            </a:r>
          </a:p>
        </p:txBody>
      </p:sp>
      <p:sp>
        <p:nvSpPr>
          <p:cNvPr id="18" name="TextBox 17"/>
          <p:cNvSpPr txBox="1"/>
          <p:nvPr/>
        </p:nvSpPr>
        <p:spPr>
          <a:xfrm>
            <a:off x="7799831" y="2450591"/>
            <a:ext cx="950976" cy="310896"/>
          </a:xfrm>
          <a:prstGeom prst="rect">
            <a:avLst/>
          </a:prstGeom>
          <a:noFill/>
        </p:spPr>
        <p:txBody>
          <a:bodyPr wrap="square" lIns="0" tIns="0" rIns="0" bIns="0" anchor="ctr">
            <a:spAutoFit/>
          </a:bodyPr>
          <a:lstStyle/>
          <a:p>
            <a:pPr algn="l"/>
            <a:r>
              <a:rPr sz="1050" b="0" i="0">
                <a:solidFill>
                  <a:srgbClr val="1B4F91"/>
                </a:solidFill>
                <a:latin typeface="Courier New"/>
              </a:rPr>
              <a:t>TJSP</a:t>
            </a:r>
          </a:p>
        </p:txBody>
      </p:sp>
      <p:sp>
        <p:nvSpPr>
          <p:cNvPr id="19" name="TextBox 18"/>
          <p:cNvSpPr txBox="1"/>
          <p:nvPr/>
        </p:nvSpPr>
        <p:spPr>
          <a:xfrm>
            <a:off x="8897111" y="2450591"/>
            <a:ext cx="512063" cy="310896"/>
          </a:xfrm>
          <a:prstGeom prst="rect">
            <a:avLst/>
          </a:prstGeom>
          <a:noFill/>
        </p:spPr>
        <p:txBody>
          <a:bodyPr wrap="square" lIns="0" tIns="0" rIns="0" bIns="0" anchor="ctr">
            <a:spAutoFit/>
          </a:bodyPr>
          <a:lstStyle/>
          <a:p>
            <a:pPr algn="l"/>
            <a:r>
              <a:rPr sz="1050" b="0" i="0">
                <a:solidFill>
                  <a:srgbClr val="1B4F91"/>
                </a:solidFill>
                <a:latin typeface="Courier New"/>
              </a:rPr>
              <a:t>2023</a:t>
            </a:r>
          </a:p>
        </p:txBody>
      </p:sp>
      <p:sp>
        <p:nvSpPr>
          <p:cNvPr id="20" name="TextBox 19"/>
          <p:cNvSpPr txBox="1"/>
          <p:nvPr/>
        </p:nvSpPr>
        <p:spPr>
          <a:xfrm>
            <a:off x="9555480" y="2450591"/>
            <a:ext cx="1993391" cy="310896"/>
          </a:xfrm>
          <a:prstGeom prst="rect">
            <a:avLst/>
          </a:prstGeom>
          <a:noFill/>
        </p:spPr>
        <p:txBody>
          <a:bodyPr wrap="square" lIns="0" tIns="0" rIns="0" bIns="0" anchor="ctr">
            <a:spAutoFit/>
          </a:bodyPr>
          <a:lstStyle/>
          <a:p>
            <a:pPr algn="l"/>
            <a:r>
              <a:rPr sz="1050" b="0" i="0">
                <a:solidFill>
                  <a:srgbClr val="1B4F91"/>
                </a:solidFill>
                <a:latin typeface="Courier New"/>
              </a:rPr>
              <a:t>True</a:t>
            </a:r>
          </a:p>
        </p:txBody>
      </p:sp>
      <p:sp>
        <p:nvSpPr>
          <p:cNvPr id="21" name="Rectangle 20"/>
          <p:cNvSpPr/>
          <p:nvPr/>
        </p:nvSpPr>
        <p:spPr>
          <a:xfrm>
            <a:off x="7269480" y="2779775"/>
            <a:ext cx="4352544" cy="347472"/>
          </a:xfrm>
          <a:prstGeom prst="rect">
            <a:avLst/>
          </a:prstGeom>
          <a:solidFill>
            <a:srgbClr val="FCEFE3"/>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342631" y="2798063"/>
            <a:ext cx="310896" cy="310896"/>
          </a:xfrm>
          <a:prstGeom prst="rect">
            <a:avLst/>
          </a:prstGeom>
          <a:noFill/>
        </p:spPr>
        <p:txBody>
          <a:bodyPr wrap="square" lIns="0" tIns="0" rIns="0" bIns="0" anchor="ctr">
            <a:spAutoFit/>
          </a:bodyPr>
          <a:lstStyle/>
          <a:p>
            <a:pPr algn="l"/>
            <a:r>
              <a:rPr sz="1050" b="0" i="0">
                <a:solidFill>
                  <a:srgbClr val="9AA8B6"/>
                </a:solidFill>
                <a:latin typeface="Courier New"/>
              </a:rPr>
              <a:t>1</a:t>
            </a:r>
          </a:p>
        </p:txBody>
      </p:sp>
      <p:sp>
        <p:nvSpPr>
          <p:cNvPr id="23" name="TextBox 22"/>
          <p:cNvSpPr txBox="1"/>
          <p:nvPr/>
        </p:nvSpPr>
        <p:spPr>
          <a:xfrm>
            <a:off x="7799831" y="2798063"/>
            <a:ext cx="950976" cy="310896"/>
          </a:xfrm>
          <a:prstGeom prst="rect">
            <a:avLst/>
          </a:prstGeom>
          <a:noFill/>
        </p:spPr>
        <p:txBody>
          <a:bodyPr wrap="square" lIns="0" tIns="0" rIns="0" bIns="0" anchor="ctr">
            <a:spAutoFit/>
          </a:bodyPr>
          <a:lstStyle/>
          <a:p>
            <a:pPr algn="l"/>
            <a:r>
              <a:rPr sz="1050" b="0" i="0">
                <a:solidFill>
                  <a:srgbClr val="9A501E"/>
                </a:solidFill>
                <a:latin typeface="Courier New"/>
              </a:rPr>
              <a:t>TJRJ</a:t>
            </a:r>
          </a:p>
        </p:txBody>
      </p:sp>
      <p:sp>
        <p:nvSpPr>
          <p:cNvPr id="24" name="TextBox 23"/>
          <p:cNvSpPr txBox="1"/>
          <p:nvPr/>
        </p:nvSpPr>
        <p:spPr>
          <a:xfrm>
            <a:off x="8897111" y="2798063"/>
            <a:ext cx="512063" cy="310896"/>
          </a:xfrm>
          <a:prstGeom prst="rect">
            <a:avLst/>
          </a:prstGeom>
          <a:noFill/>
        </p:spPr>
        <p:txBody>
          <a:bodyPr wrap="square" lIns="0" tIns="0" rIns="0" bIns="0" anchor="ctr">
            <a:spAutoFit/>
          </a:bodyPr>
          <a:lstStyle/>
          <a:p>
            <a:pPr algn="l"/>
            <a:r>
              <a:rPr sz="1050" b="0" i="0">
                <a:solidFill>
                  <a:srgbClr val="9A501E"/>
                </a:solidFill>
                <a:latin typeface="Courier New"/>
              </a:rPr>
              <a:t>2024</a:t>
            </a:r>
          </a:p>
        </p:txBody>
      </p:sp>
      <p:sp>
        <p:nvSpPr>
          <p:cNvPr id="25" name="TextBox 24"/>
          <p:cNvSpPr txBox="1"/>
          <p:nvPr/>
        </p:nvSpPr>
        <p:spPr>
          <a:xfrm>
            <a:off x="9555480" y="2798063"/>
            <a:ext cx="1993391" cy="310896"/>
          </a:xfrm>
          <a:prstGeom prst="rect">
            <a:avLst/>
          </a:prstGeom>
          <a:noFill/>
        </p:spPr>
        <p:txBody>
          <a:bodyPr wrap="square" lIns="0" tIns="0" rIns="0" bIns="0" anchor="ctr">
            <a:spAutoFit/>
          </a:bodyPr>
          <a:lstStyle/>
          <a:p>
            <a:pPr algn="l"/>
            <a:r>
              <a:rPr sz="1050" b="0" i="0">
                <a:solidFill>
                  <a:srgbClr val="9A501E"/>
                </a:solidFill>
                <a:latin typeface="Courier New"/>
              </a:rPr>
              <a:t>False</a:t>
            </a:r>
          </a:p>
        </p:txBody>
      </p:sp>
      <p:sp>
        <p:nvSpPr>
          <p:cNvPr id="26" name="TextBox 25"/>
          <p:cNvSpPr txBox="1"/>
          <p:nvPr/>
        </p:nvSpPr>
        <p:spPr>
          <a:xfrm>
            <a:off x="7269480" y="3310128"/>
            <a:ext cx="4352544" cy="256032"/>
          </a:xfrm>
          <a:prstGeom prst="rect">
            <a:avLst/>
          </a:prstGeom>
          <a:noFill/>
        </p:spPr>
        <p:txBody>
          <a:bodyPr wrap="square" lIns="0" tIns="0" rIns="0" bIns="0" anchor="t">
            <a:spAutoFit/>
          </a:bodyPr>
          <a:lstStyle/>
          <a:p>
            <a:pPr algn="l"/>
            <a:r>
              <a:rPr sz="1100" b="0" i="0">
                <a:solidFill>
                  <a:srgbClr val="9AA8B6"/>
                </a:solidFill>
                <a:latin typeface="Calibri"/>
              </a:rPr>
              <a:t>uma tabela com 2 linhas e 3 colunas</a:t>
            </a:r>
          </a:p>
        </p:txBody>
      </p:sp>
      <p:sp>
        <p:nvSpPr>
          <p:cNvPr id="27" name="Rounded Rectangle 26"/>
          <p:cNvSpPr/>
          <p:nvPr/>
        </p:nvSpPr>
        <p:spPr>
          <a:xfrm>
            <a:off x="566928" y="4069080"/>
            <a:ext cx="3520440" cy="1188720"/>
          </a:xfrm>
          <a:prstGeom prst="roundRect">
            <a:avLst>
              <a:gd name="adj" fmla="val 6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04672" y="4270248"/>
            <a:ext cx="3044952" cy="822960"/>
          </a:xfrm>
          <a:prstGeom prst="rect">
            <a:avLst/>
          </a:prstGeom>
          <a:noFill/>
        </p:spPr>
        <p:txBody>
          <a:bodyPr wrap="square" lIns="0" tIns="0" rIns="0" bIns="0" anchor="t">
            <a:spAutoFit/>
          </a:bodyPr>
          <a:lstStyle/>
          <a:p>
            <a:pPr algn="l"/>
            <a:r>
              <a:rPr sz="1300" b="1" i="0">
                <a:solidFill>
                  <a:srgbClr val="023A78"/>
                </a:solidFill>
                <a:latin typeface="Calibri"/>
              </a:rPr>
              <a:t>Cada dicionário vira uma linha</a:t>
            </a:r>
          </a:p>
          <a:p>
            <a:pPr algn="l">
              <a:spcBef>
                <a:spcPts val="500"/>
              </a:spcBef>
            </a:pPr>
            <a:r>
              <a:rPr sz="1100" b="0" i="0">
                <a:solidFill>
                  <a:srgbClr val="3C4A5A"/>
                </a:solidFill>
                <a:latin typeface="Calibri"/>
              </a:rPr>
              <a:t>São 2 dicionários na lista e 2 linhas na tabela. Com 7.000 dicionários, o desenho é o mesmo.</a:t>
            </a:r>
          </a:p>
        </p:txBody>
      </p:sp>
      <p:sp>
        <p:nvSpPr>
          <p:cNvPr id="29" name="Rounded Rectangle 28"/>
          <p:cNvSpPr/>
          <p:nvPr/>
        </p:nvSpPr>
        <p:spPr>
          <a:xfrm>
            <a:off x="4334256" y="4069080"/>
            <a:ext cx="3520440" cy="1188720"/>
          </a:xfrm>
          <a:prstGeom prst="roundRect">
            <a:avLst>
              <a:gd name="adj" fmla="val 6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572000" y="4270248"/>
            <a:ext cx="3044952" cy="822960"/>
          </a:xfrm>
          <a:prstGeom prst="rect">
            <a:avLst/>
          </a:prstGeom>
          <a:noFill/>
        </p:spPr>
        <p:txBody>
          <a:bodyPr wrap="square" lIns="0" tIns="0" rIns="0" bIns="0" anchor="t">
            <a:spAutoFit/>
          </a:bodyPr>
          <a:lstStyle/>
          <a:p>
            <a:pPr algn="l"/>
            <a:r>
              <a:rPr sz="1300" b="1" i="0">
                <a:solidFill>
                  <a:srgbClr val="023A78"/>
                </a:solidFill>
                <a:latin typeface="Calibri"/>
              </a:rPr>
              <a:t>Cada chave vira uma coluna</a:t>
            </a:r>
          </a:p>
          <a:p>
            <a:pPr algn="l">
              <a:spcBef>
                <a:spcPts val="500"/>
              </a:spcBef>
            </a:pPr>
            <a:r>
              <a:rPr sz="1100" b="0" i="0">
                <a:solidFill>
                  <a:srgbClr val="3C4A5A"/>
                </a:solidFill>
                <a:latin typeface="Calibri"/>
              </a:rPr>
              <a:t>Os nomes das chaves viram o cabeçalho. Por isso todos os dicionários precisam ter as mesmas.</a:t>
            </a:r>
          </a:p>
        </p:txBody>
      </p:sp>
      <p:sp>
        <p:nvSpPr>
          <p:cNvPr id="31" name="Rounded Rectangle 30"/>
          <p:cNvSpPr/>
          <p:nvPr/>
        </p:nvSpPr>
        <p:spPr>
          <a:xfrm>
            <a:off x="8101583" y="4069080"/>
            <a:ext cx="3520440" cy="1188720"/>
          </a:xfrm>
          <a:prstGeom prst="roundRect">
            <a:avLst>
              <a:gd name="adj" fmla="val 6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339327" y="4270248"/>
            <a:ext cx="3044952" cy="822960"/>
          </a:xfrm>
          <a:prstGeom prst="rect">
            <a:avLst/>
          </a:prstGeom>
          <a:noFill/>
        </p:spPr>
        <p:txBody>
          <a:bodyPr wrap="square" lIns="0" tIns="0" rIns="0" bIns="0" anchor="t">
            <a:spAutoFit/>
          </a:bodyPr>
          <a:lstStyle/>
          <a:p>
            <a:pPr algn="l"/>
            <a:r>
              <a:rPr sz="1300" b="1" i="0">
                <a:solidFill>
                  <a:srgbClr val="023A78"/>
                </a:solidFill>
                <a:latin typeface="Calibri"/>
              </a:rPr>
              <a:t>O índice vem de brinde</a:t>
            </a:r>
          </a:p>
          <a:p>
            <a:pPr algn="l">
              <a:spcBef>
                <a:spcPts val="500"/>
              </a:spcBef>
            </a:pPr>
            <a:r>
              <a:rPr sz="1100" b="0" i="0">
                <a:solidFill>
                  <a:srgbClr val="3C4A5A"/>
                </a:solidFill>
                <a:latin typeface="Calibri"/>
              </a:rPr>
              <a:t>O 0 e o 1 à esquerda ninguém escreveu: eles aparecem sozinhos, para dar nome a cada linha.</a:t>
            </a:r>
          </a:p>
        </p:txBody>
      </p:sp>
      <p:sp>
        <p:nvSpPr>
          <p:cNvPr id="33" name="TextBox 32"/>
          <p:cNvSpPr txBox="1"/>
          <p:nvPr/>
        </p:nvSpPr>
        <p:spPr>
          <a:xfrm>
            <a:off x="566928" y="5577840"/>
            <a:ext cx="11055096" cy="292608"/>
          </a:xfrm>
          <a:prstGeom prst="rect">
            <a:avLst/>
          </a:prstGeom>
          <a:noFill/>
        </p:spPr>
        <p:txBody>
          <a:bodyPr wrap="square" lIns="0" tIns="0" rIns="0" bIns="0" anchor="t">
            <a:spAutoFit/>
          </a:bodyPr>
          <a:lstStyle/>
          <a:p>
            <a:pPr algn="l"/>
            <a:r>
              <a:rPr sz="1500" b="1" i="0">
                <a:solidFill>
                  <a:srgbClr val="023A78"/>
                </a:solidFill>
                <a:latin typeface="Calibri"/>
              </a:rPr>
              <a:t>Nada se perde na passagem. O que muda é o que dá para fazer depois.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Onde a gente parou</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3</a:t>
            </a:r>
            <a:endParaRPr lang="en-US" sz="900" dirty="0"/>
          </a:p>
        </p:txBody>
      </p:sp>
      <p:sp>
        <p:nvSpPr>
          <p:cNvPr id="6" name="TextBox 5"/>
          <p:cNvSpPr txBox="1"/>
          <p:nvPr/>
        </p:nvSpPr>
        <p:spPr>
          <a:xfrm>
            <a:off x="566928" y="1298448"/>
            <a:ext cx="11055096" cy="265176"/>
          </a:xfrm>
          <a:prstGeom prst="rect">
            <a:avLst/>
          </a:prstGeom>
          <a:noFill/>
        </p:spPr>
        <p:txBody>
          <a:bodyPr wrap="square" lIns="0" tIns="0" rIns="0" bIns="0" anchor="t">
            <a:spAutoFit/>
          </a:bodyPr>
          <a:lstStyle/>
          <a:p>
            <a:pPr algn="l"/>
            <a:r>
              <a:rPr sz="1550" b="0">
                <a:solidFill>
                  <a:srgbClr val="16202C"/>
                </a:solidFill>
                <a:latin typeface="Calibri"/>
              </a:rPr>
              <a:t>No Encontro 4 vocês escreveram uma classe que guarda uma base inteira e responde perguntas sobre ela.</a:t>
            </a:r>
          </a:p>
        </p:txBody>
      </p:sp>
      <p:sp>
        <p:nvSpPr>
          <p:cNvPr id="7" name="Rounded Rectangle 6"/>
          <p:cNvSpPr/>
          <p:nvPr/>
        </p:nvSpPr>
        <p:spPr>
          <a:xfrm>
            <a:off x="566928" y="1664208"/>
            <a:ext cx="11055096" cy="26974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8" y="1874519"/>
            <a:ext cx="6400800" cy="219456"/>
          </a:xfrm>
          <a:prstGeom prst="rect">
            <a:avLst/>
          </a:prstGeom>
          <a:noFill/>
        </p:spPr>
        <p:txBody>
          <a:bodyPr wrap="square" lIns="0" tIns="0" rIns="0" bIns="0" anchor="t">
            <a:spAutoFit/>
          </a:bodyPr>
          <a:lstStyle/>
          <a:p>
            <a:pPr algn="l"/>
            <a:r>
              <a:rPr sz="1300" b="0">
                <a:solidFill>
                  <a:srgbClr val="16202C"/>
                </a:solidFill>
                <a:latin typeface="Courier New"/>
              </a:rPr>
              <a:t>class Tabela:</a:t>
            </a:r>
          </a:p>
        </p:txBody>
      </p:sp>
      <p:sp>
        <p:nvSpPr>
          <p:cNvPr id="9" name="TextBox 8"/>
          <p:cNvSpPr txBox="1"/>
          <p:nvPr/>
        </p:nvSpPr>
        <p:spPr>
          <a:xfrm>
            <a:off x="841248" y="2112263"/>
            <a:ext cx="6400800" cy="219456"/>
          </a:xfrm>
          <a:prstGeom prst="rect">
            <a:avLst/>
          </a:prstGeom>
          <a:noFill/>
        </p:spPr>
        <p:txBody>
          <a:bodyPr wrap="square" lIns="0" tIns="0" rIns="0" bIns="0" anchor="t">
            <a:spAutoFit/>
          </a:bodyPr>
          <a:lstStyle/>
          <a:p>
            <a:pPr algn="l"/>
            <a:r>
              <a:rPr sz="1300" b="0">
                <a:solidFill>
                  <a:srgbClr val="16202C"/>
                </a:solidFill>
                <a:latin typeface="Courier New"/>
              </a:rPr>
              <a:t>    def __init__(self, linhas):</a:t>
            </a:r>
          </a:p>
        </p:txBody>
      </p:sp>
      <p:sp>
        <p:nvSpPr>
          <p:cNvPr id="10" name="TextBox 9"/>
          <p:cNvSpPr txBox="1"/>
          <p:nvPr/>
        </p:nvSpPr>
        <p:spPr>
          <a:xfrm>
            <a:off x="841248" y="2350008"/>
            <a:ext cx="6400800" cy="219456"/>
          </a:xfrm>
          <a:prstGeom prst="rect">
            <a:avLst/>
          </a:prstGeom>
          <a:noFill/>
        </p:spPr>
        <p:txBody>
          <a:bodyPr wrap="square" lIns="0" tIns="0" rIns="0" bIns="0" anchor="t">
            <a:spAutoFit/>
          </a:bodyPr>
          <a:lstStyle/>
          <a:p>
            <a:pPr algn="l"/>
            <a:r>
              <a:rPr sz="1300" b="0">
                <a:solidFill>
                  <a:srgbClr val="16202C"/>
                </a:solidFill>
                <a:latin typeface="Courier New"/>
              </a:rPr>
              <a:t>        self.linhas = linhas</a:t>
            </a:r>
          </a:p>
        </p:txBody>
      </p:sp>
      <p:sp>
        <p:nvSpPr>
          <p:cNvPr id="11" name="TextBox 10"/>
          <p:cNvSpPr txBox="1"/>
          <p:nvPr/>
        </p:nvSpPr>
        <p:spPr>
          <a:xfrm>
            <a:off x="841248" y="2587752"/>
            <a:ext cx="6400800" cy="219456"/>
          </a:xfrm>
          <a:prstGeom prst="rect">
            <a:avLst/>
          </a:prstGeom>
          <a:noFill/>
        </p:spPr>
        <p:txBody>
          <a:bodyPr wrap="square" lIns="0" tIns="0" rIns="0" bIns="0" anchor="t">
            <a:spAutoFit/>
          </a:bodyPr>
          <a:lstStyle/>
          <a:p>
            <a:pPr algn="l"/>
            <a:r>
              <a:rPr sz="1300" b="0">
                <a:solidFill>
                  <a:srgbClr val="16202C"/>
                </a:solidFill>
                <a:latin typeface="Courier New"/>
              </a:rPr>
              <a:t>        self.shape = (len(linhas), len(linhas[0]))</a:t>
            </a:r>
          </a:p>
        </p:txBody>
      </p:sp>
      <p:sp>
        <p:nvSpPr>
          <p:cNvPr id="12" name="TextBox 11"/>
          <p:cNvSpPr txBox="1"/>
          <p:nvPr/>
        </p:nvSpPr>
        <p:spPr>
          <a:xfrm>
            <a:off x="841248" y="3063239"/>
            <a:ext cx="6400800" cy="219456"/>
          </a:xfrm>
          <a:prstGeom prst="rect">
            <a:avLst/>
          </a:prstGeom>
          <a:noFill/>
        </p:spPr>
        <p:txBody>
          <a:bodyPr wrap="square" lIns="0" tIns="0" rIns="0" bIns="0" anchor="t">
            <a:spAutoFit/>
          </a:bodyPr>
          <a:lstStyle/>
          <a:p>
            <a:pPr algn="l"/>
            <a:r>
              <a:rPr sz="1300" b="0">
                <a:solidFill>
                  <a:srgbClr val="16202C"/>
                </a:solidFill>
                <a:latin typeface="Courier New"/>
              </a:rPr>
              <a:t>    def head(self, n=5):</a:t>
            </a:r>
          </a:p>
        </p:txBody>
      </p:sp>
      <p:sp>
        <p:nvSpPr>
          <p:cNvPr id="13" name="TextBox 12"/>
          <p:cNvSpPr txBox="1"/>
          <p:nvPr/>
        </p:nvSpPr>
        <p:spPr>
          <a:xfrm>
            <a:off x="841248" y="3300984"/>
            <a:ext cx="6400800" cy="219456"/>
          </a:xfrm>
          <a:prstGeom prst="rect">
            <a:avLst/>
          </a:prstGeom>
          <a:noFill/>
        </p:spPr>
        <p:txBody>
          <a:bodyPr wrap="square" lIns="0" tIns="0" rIns="0" bIns="0" anchor="t">
            <a:spAutoFit/>
          </a:bodyPr>
          <a:lstStyle/>
          <a:p>
            <a:pPr algn="l"/>
            <a:r>
              <a:rPr sz="1300" b="0">
                <a:solidFill>
                  <a:srgbClr val="16202C"/>
                </a:solidFill>
                <a:latin typeface="Courier New"/>
              </a:rPr>
              <a:t>        return self.linhas[:n]</a:t>
            </a:r>
          </a:p>
        </p:txBody>
      </p:sp>
      <p:sp>
        <p:nvSpPr>
          <p:cNvPr id="14" name="TextBox 13"/>
          <p:cNvSpPr txBox="1"/>
          <p:nvPr/>
        </p:nvSpPr>
        <p:spPr>
          <a:xfrm>
            <a:off x="841248" y="3776472"/>
            <a:ext cx="6400800" cy="219456"/>
          </a:xfrm>
          <a:prstGeom prst="rect">
            <a:avLst/>
          </a:prstGeom>
          <a:noFill/>
        </p:spPr>
        <p:txBody>
          <a:bodyPr wrap="square" lIns="0" tIns="0" rIns="0" bIns="0" anchor="t">
            <a:spAutoFit/>
          </a:bodyPr>
          <a:lstStyle/>
          <a:p>
            <a:pPr algn="l"/>
            <a:r>
              <a:rPr sz="1300" b="0">
                <a:solidFill>
                  <a:srgbClr val="16202C"/>
                </a:solidFill>
                <a:latin typeface="Courier New"/>
              </a:rPr>
              <a:t>    def contar(self, campo):</a:t>
            </a:r>
          </a:p>
        </p:txBody>
      </p:sp>
      <p:sp>
        <p:nvSpPr>
          <p:cNvPr id="15" name="TextBox 14"/>
          <p:cNvSpPr txBox="1"/>
          <p:nvPr/>
        </p:nvSpPr>
        <p:spPr>
          <a:xfrm>
            <a:off x="841248" y="4014215"/>
            <a:ext cx="6400800" cy="219456"/>
          </a:xfrm>
          <a:prstGeom prst="rect">
            <a:avLst/>
          </a:prstGeom>
          <a:noFill/>
        </p:spPr>
        <p:txBody>
          <a:bodyPr wrap="square" lIns="0" tIns="0" rIns="0" bIns="0" anchor="t">
            <a:spAutoFit/>
          </a:bodyPr>
          <a:lstStyle/>
          <a:p>
            <a:pPr algn="l"/>
            <a:r>
              <a:rPr sz="1300" b="0">
                <a:solidFill>
                  <a:srgbClr val="16202C"/>
                </a:solidFill>
                <a:latin typeface="Courier New"/>
              </a:rPr>
              <a:t>        ...</a:t>
            </a:r>
          </a:p>
        </p:txBody>
      </p:sp>
      <p:sp>
        <p:nvSpPr>
          <p:cNvPr id="16" name="Right Arrow 15"/>
          <p:cNvSpPr/>
          <p:nvPr/>
        </p:nvSpPr>
        <p:spPr>
          <a:xfrm>
            <a:off x="2293620" y="1920239"/>
            <a:ext cx="566928" cy="118872"/>
          </a:xfrm>
          <a:prstGeom prst="rightArrow">
            <a:avLst>
              <a:gd name="adj1" fmla="val 50000"/>
              <a:gd name="adj2" fmla="val 60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06852" y="1865376"/>
            <a:ext cx="8331708" cy="237744"/>
          </a:xfrm>
          <a:prstGeom prst="rect">
            <a:avLst/>
          </a:prstGeom>
          <a:noFill/>
        </p:spPr>
        <p:txBody>
          <a:bodyPr wrap="square" lIns="0" tIns="0" rIns="0" bIns="0" anchor="t">
            <a:spAutoFit/>
          </a:bodyPr>
          <a:lstStyle/>
          <a:p>
            <a:pPr algn="l"/>
            <a:r>
              <a:rPr sz="1100" b="1">
                <a:solidFill>
                  <a:srgbClr val="023A78"/>
                </a:solidFill>
                <a:latin typeface="Calibri"/>
              </a:rPr>
              <a:t>a classe  </a:t>
            </a:r>
            <a:r>
              <a:rPr sz="1100" b="0">
                <a:solidFill>
                  <a:srgbClr val="3C4A5A"/>
                </a:solidFill>
                <a:latin typeface="Calibri"/>
              </a:rPr>
              <a:t>o molde de onde saem as tabelas</a:t>
            </a:r>
          </a:p>
        </p:txBody>
      </p:sp>
      <p:sp>
        <p:nvSpPr>
          <p:cNvPr id="18" name="Right Arrow 17"/>
          <p:cNvSpPr/>
          <p:nvPr/>
        </p:nvSpPr>
        <p:spPr>
          <a:xfrm>
            <a:off x="4076699" y="2157983"/>
            <a:ext cx="566928" cy="118872"/>
          </a:xfrm>
          <a:prstGeom prst="rightArrow">
            <a:avLst>
              <a:gd name="adj1" fmla="val 50000"/>
              <a:gd name="adj2" fmla="val 60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89932" y="2103120"/>
            <a:ext cx="6548628" cy="237744"/>
          </a:xfrm>
          <a:prstGeom prst="rect">
            <a:avLst/>
          </a:prstGeom>
          <a:noFill/>
        </p:spPr>
        <p:txBody>
          <a:bodyPr wrap="square" lIns="0" tIns="0" rIns="0" bIns="0" anchor="t">
            <a:spAutoFit/>
          </a:bodyPr>
          <a:lstStyle/>
          <a:p>
            <a:pPr algn="l"/>
            <a:r>
              <a:rPr sz="1100" b="1">
                <a:solidFill>
                  <a:srgbClr val="023A78"/>
                </a:solidFill>
                <a:latin typeface="Calibri"/>
              </a:rPr>
              <a:t>__init__  </a:t>
            </a:r>
            <a:r>
              <a:rPr sz="1100" b="0">
                <a:solidFill>
                  <a:srgbClr val="3C4A5A"/>
                </a:solidFill>
                <a:latin typeface="Calibri"/>
              </a:rPr>
              <a:t>roda uma vez, quando o objeto nasce</a:t>
            </a:r>
          </a:p>
        </p:txBody>
      </p:sp>
      <p:sp>
        <p:nvSpPr>
          <p:cNvPr id="20" name="Right Arrow 19"/>
          <p:cNvSpPr/>
          <p:nvPr/>
        </p:nvSpPr>
        <p:spPr>
          <a:xfrm>
            <a:off x="3779519" y="2395727"/>
            <a:ext cx="566928" cy="118872"/>
          </a:xfrm>
          <a:prstGeom prst="rightArrow">
            <a:avLst>
              <a:gd name="adj1" fmla="val 50000"/>
              <a:gd name="adj2" fmla="val 60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92752" y="2340864"/>
            <a:ext cx="6845808" cy="237744"/>
          </a:xfrm>
          <a:prstGeom prst="rect">
            <a:avLst/>
          </a:prstGeom>
          <a:noFill/>
        </p:spPr>
        <p:txBody>
          <a:bodyPr wrap="square" lIns="0" tIns="0" rIns="0" bIns="0" anchor="t">
            <a:spAutoFit/>
          </a:bodyPr>
          <a:lstStyle/>
          <a:p>
            <a:pPr algn="l"/>
            <a:r>
              <a:rPr sz="1100" b="1">
                <a:solidFill>
                  <a:srgbClr val="023A78"/>
                </a:solidFill>
                <a:latin typeface="Calibri"/>
              </a:rPr>
              <a:t>atributo  </a:t>
            </a:r>
            <a:r>
              <a:rPr sz="1100" b="0">
                <a:solidFill>
                  <a:srgbClr val="3C4A5A"/>
                </a:solidFill>
                <a:latin typeface="Calibri"/>
              </a:rPr>
              <a:t>guarda a lista que chegou</a:t>
            </a:r>
          </a:p>
        </p:txBody>
      </p:sp>
      <p:sp>
        <p:nvSpPr>
          <p:cNvPr id="22" name="Right Arrow 21"/>
          <p:cNvSpPr/>
          <p:nvPr/>
        </p:nvSpPr>
        <p:spPr>
          <a:xfrm>
            <a:off x="5958840" y="2633472"/>
            <a:ext cx="566928" cy="118872"/>
          </a:xfrm>
          <a:prstGeom prst="rightArrow">
            <a:avLst>
              <a:gd name="adj1" fmla="val 50000"/>
              <a:gd name="adj2" fmla="val 60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72072" y="2578608"/>
            <a:ext cx="4666488" cy="237744"/>
          </a:xfrm>
          <a:prstGeom prst="rect">
            <a:avLst/>
          </a:prstGeom>
          <a:noFill/>
        </p:spPr>
        <p:txBody>
          <a:bodyPr wrap="square" lIns="0" tIns="0" rIns="0" bIns="0" anchor="t">
            <a:spAutoFit/>
          </a:bodyPr>
          <a:lstStyle/>
          <a:p>
            <a:pPr algn="l"/>
            <a:r>
              <a:rPr sz="1100" b="1">
                <a:solidFill>
                  <a:srgbClr val="023A78"/>
                </a:solidFill>
                <a:latin typeface="Calibri"/>
              </a:rPr>
              <a:t>atributo  </a:t>
            </a:r>
            <a:r>
              <a:rPr sz="1100" b="0">
                <a:solidFill>
                  <a:srgbClr val="3C4A5A"/>
                </a:solidFill>
                <a:latin typeface="Calibri"/>
              </a:rPr>
              <a:t>calculado na criação e guardado</a:t>
            </a:r>
          </a:p>
        </p:txBody>
      </p:sp>
      <p:sp>
        <p:nvSpPr>
          <p:cNvPr id="24" name="Right Arrow 23"/>
          <p:cNvSpPr/>
          <p:nvPr/>
        </p:nvSpPr>
        <p:spPr>
          <a:xfrm>
            <a:off x="3383280" y="3108959"/>
            <a:ext cx="566928" cy="118872"/>
          </a:xfrm>
          <a:prstGeom prst="rightArrow">
            <a:avLst>
              <a:gd name="adj1" fmla="val 50000"/>
              <a:gd name="adj2" fmla="val 60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96512" y="3054096"/>
            <a:ext cx="7242048" cy="237744"/>
          </a:xfrm>
          <a:prstGeom prst="rect">
            <a:avLst/>
          </a:prstGeom>
          <a:noFill/>
        </p:spPr>
        <p:txBody>
          <a:bodyPr wrap="square" lIns="0" tIns="0" rIns="0" bIns="0" anchor="t">
            <a:spAutoFit/>
          </a:bodyPr>
          <a:lstStyle/>
          <a:p>
            <a:pPr algn="l"/>
            <a:r>
              <a:rPr sz="1100" b="1">
                <a:solidFill>
                  <a:srgbClr val="023A78"/>
                </a:solidFill>
                <a:latin typeface="Calibri"/>
              </a:rPr>
              <a:t>método  </a:t>
            </a:r>
            <a:r>
              <a:rPr sz="1100" b="0">
                <a:solidFill>
                  <a:srgbClr val="3C4A5A"/>
                </a:solidFill>
                <a:latin typeface="Calibri"/>
              </a:rPr>
              <a:t>uma função escrita dentro da classe</a:t>
            </a:r>
          </a:p>
        </p:txBody>
      </p:sp>
      <p:sp>
        <p:nvSpPr>
          <p:cNvPr id="26" name="Right Arrow 25"/>
          <p:cNvSpPr/>
          <p:nvPr/>
        </p:nvSpPr>
        <p:spPr>
          <a:xfrm>
            <a:off x="3779519" y="3822191"/>
            <a:ext cx="566928" cy="118872"/>
          </a:xfrm>
          <a:prstGeom prst="rightArrow">
            <a:avLst>
              <a:gd name="adj1" fmla="val 50000"/>
              <a:gd name="adj2" fmla="val 60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92752" y="3767328"/>
            <a:ext cx="6845808" cy="237744"/>
          </a:xfrm>
          <a:prstGeom prst="rect">
            <a:avLst/>
          </a:prstGeom>
          <a:noFill/>
        </p:spPr>
        <p:txBody>
          <a:bodyPr wrap="square" lIns="0" tIns="0" rIns="0" bIns="0" anchor="t">
            <a:spAutoFit/>
          </a:bodyPr>
          <a:lstStyle/>
          <a:p>
            <a:pPr algn="l"/>
            <a:r>
              <a:rPr sz="1100" b="1">
                <a:solidFill>
                  <a:srgbClr val="023A78"/>
                </a:solidFill>
                <a:latin typeface="Calibri"/>
              </a:rPr>
              <a:t>método  </a:t>
            </a:r>
            <a:r>
              <a:rPr sz="1100" b="0">
                <a:solidFill>
                  <a:srgbClr val="3C4A5A"/>
                </a:solidFill>
                <a:latin typeface="Calibri"/>
              </a:rPr>
              <a:t>o self é o próprio objeto</a:t>
            </a:r>
          </a:p>
        </p:txBody>
      </p:sp>
      <p:sp>
        <p:nvSpPr>
          <p:cNvPr id="28" name="TextBox 27"/>
          <p:cNvSpPr txBox="1"/>
          <p:nvPr/>
        </p:nvSpPr>
        <p:spPr>
          <a:xfrm>
            <a:off x="566928" y="4498848"/>
            <a:ext cx="11055096" cy="274320"/>
          </a:xfrm>
          <a:prstGeom prst="rect">
            <a:avLst/>
          </a:prstGeom>
          <a:noFill/>
        </p:spPr>
        <p:txBody>
          <a:bodyPr wrap="square" lIns="0" tIns="0" rIns="0" bIns="0" anchor="t">
            <a:spAutoFit/>
          </a:bodyPr>
          <a:lstStyle/>
          <a:p>
            <a:pPr algn="ctr"/>
            <a:r>
              <a:rPr sz="1500" b="1">
                <a:solidFill>
                  <a:srgbClr val="023A78"/>
                </a:solidFill>
                <a:latin typeface="Calibri"/>
              </a:rPr>
              <a:t>Quarenta linhas. E elas já desenham a estrutura de uma tabela.</a:t>
            </a:r>
          </a:p>
        </p:txBody>
      </p:sp>
      <p:sp>
        <p:nvSpPr>
          <p:cNvPr id="29" name="Rounded Rectangle 28"/>
          <p:cNvSpPr/>
          <p:nvPr/>
        </p:nvSpPr>
        <p:spPr>
          <a:xfrm>
            <a:off x="566928" y="4864608"/>
            <a:ext cx="11055096" cy="1353312"/>
          </a:xfrm>
          <a:prstGeom prst="roundRect">
            <a:avLst>
              <a:gd name="adj" fmla="val 6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59536" y="5010912"/>
            <a:ext cx="10469880" cy="1060704"/>
          </a:xfrm>
          <a:prstGeom prst="rect">
            <a:avLst/>
          </a:prstGeom>
          <a:noFill/>
        </p:spPr>
        <p:txBody>
          <a:bodyPr wrap="square" lIns="0" tIns="0" rIns="0" bIns="0" anchor="t">
            <a:spAutoFit/>
          </a:bodyPr>
          <a:lstStyle/>
          <a:p>
            <a:pPr algn="l"/>
            <a:r>
              <a:rPr sz="1250" b="1">
                <a:solidFill>
                  <a:srgbClr val="023A78"/>
                </a:solidFill>
                <a:latin typeface="Calibri"/>
              </a:rPr>
              <a:t>Classe  </a:t>
            </a:r>
            <a:r>
              <a:rPr sz="1250" b="0">
                <a:solidFill>
                  <a:srgbClr val="16202C"/>
                </a:solidFill>
                <a:latin typeface="Calibri"/>
              </a:rPr>
              <a:t>é o molde: diz o que cada objeto vai guardar (</a:t>
            </a:r>
            <a:r>
              <a:rPr sz="1200" b="0">
                <a:solidFill>
                  <a:srgbClr val="023A78"/>
                </a:solidFill>
                <a:latin typeface="Courier New"/>
              </a:rPr>
              <a:t>linhas</a:t>
            </a:r>
            <a:r>
              <a:rPr sz="1250" b="0">
                <a:solidFill>
                  <a:srgbClr val="16202C"/>
                </a:solidFill>
                <a:latin typeface="Calibri"/>
              </a:rPr>
              <a:t>, </a:t>
            </a:r>
            <a:r>
              <a:rPr sz="1200" b="0">
                <a:solidFill>
                  <a:srgbClr val="023A78"/>
                </a:solidFill>
                <a:latin typeface="Courier New"/>
              </a:rPr>
              <a:t>shape</a:t>
            </a:r>
            <a:r>
              <a:rPr sz="1250" b="0">
                <a:solidFill>
                  <a:srgbClr val="16202C"/>
                </a:solidFill>
                <a:latin typeface="Calibri"/>
              </a:rPr>
              <a:t>) e o que ele vai saber fazer (</a:t>
            </a:r>
            <a:r>
              <a:rPr sz="1200" b="0">
                <a:solidFill>
                  <a:srgbClr val="023A78"/>
                </a:solidFill>
                <a:latin typeface="Courier New"/>
              </a:rPr>
              <a:t>head</a:t>
            </a:r>
            <a:r>
              <a:rPr sz="1250" b="0">
                <a:solidFill>
                  <a:srgbClr val="16202C"/>
                </a:solidFill>
                <a:latin typeface="Calibri"/>
              </a:rPr>
              <a:t>, </a:t>
            </a:r>
            <a:r>
              <a:rPr sz="1200" b="0">
                <a:solidFill>
                  <a:srgbClr val="023A78"/>
                </a:solidFill>
                <a:latin typeface="Courier New"/>
              </a:rPr>
              <a:t>contar</a:t>
            </a:r>
            <a:r>
              <a:rPr sz="1250" b="0">
                <a:solidFill>
                  <a:srgbClr val="16202C"/>
                </a:solidFill>
                <a:latin typeface="Calibri"/>
              </a:rPr>
              <a:t>). É a forma de bolo; o objeto é o bolo.</a:t>
            </a:r>
          </a:p>
          <a:p>
            <a:pPr algn="l">
              <a:spcBef>
                <a:spcPts val="600"/>
              </a:spcBef>
            </a:pPr>
            <a:r>
              <a:rPr sz="1250" b="1">
                <a:solidFill>
                  <a:srgbClr val="023A78"/>
                </a:solidFill>
                <a:latin typeface="Calibri"/>
              </a:rPr>
              <a:t>Posso criar funções dentro do objeto?  </a:t>
            </a:r>
            <a:r>
              <a:rPr sz="1250" b="0">
                <a:solidFill>
                  <a:srgbClr val="16202C"/>
                </a:solidFill>
                <a:latin typeface="Calibri"/>
              </a:rPr>
              <a:t>Pode — e é exatamente isso que </a:t>
            </a:r>
            <a:r>
              <a:rPr sz="1200" b="0">
                <a:solidFill>
                  <a:srgbClr val="023A78"/>
                </a:solidFill>
                <a:latin typeface="Courier New"/>
              </a:rPr>
              <a:t>head</a:t>
            </a:r>
            <a:r>
              <a:rPr sz="1250" b="0">
                <a:solidFill>
                  <a:srgbClr val="16202C"/>
                </a:solidFill>
                <a:latin typeface="Calibri"/>
              </a:rPr>
              <a:t> e </a:t>
            </a:r>
            <a:r>
              <a:rPr sz="1200" b="0">
                <a:solidFill>
                  <a:srgbClr val="023A78"/>
                </a:solidFill>
                <a:latin typeface="Courier New"/>
              </a:rPr>
              <a:t>contar</a:t>
            </a:r>
            <a:r>
              <a:rPr sz="1250" b="0">
                <a:solidFill>
                  <a:srgbClr val="16202C"/>
                </a:solidFill>
                <a:latin typeface="Calibri"/>
              </a:rPr>
              <a:t> são. Uma função escrita dentro de uma classe muda de nome: passa a se chamar método, e ganha o </a:t>
            </a:r>
            <a:r>
              <a:rPr sz="1200" b="0">
                <a:solidFill>
                  <a:srgbClr val="023A78"/>
                </a:solidFill>
                <a:latin typeface="Courier New"/>
              </a:rPr>
              <a:t>self</a:t>
            </a:r>
            <a:r>
              <a:rPr sz="1250" b="0">
                <a:solidFill>
                  <a:srgbClr val="16202C"/>
                </a:solidFill>
                <a:latin typeface="Calibri"/>
              </a:rPr>
              <a:t>, que é o próprio objeto — é por ele que ela enxerga os dados guardados. A mesma função escrita fora da classe não teria </a:t>
            </a:r>
            <a:r>
              <a:rPr sz="1200" b="0">
                <a:solidFill>
                  <a:srgbClr val="023A78"/>
                </a:solidFill>
                <a:latin typeface="Courier New"/>
              </a:rPr>
              <a:t>self</a:t>
            </a:r>
            <a:r>
              <a:rPr sz="1250" b="0">
                <a:solidFill>
                  <a:srgbClr val="16202C"/>
                </a:solidFill>
                <a:latin typeface="Calibri"/>
              </a:rPr>
              <a:t> nem dono.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Quatro palavras do Encontro 4</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4</a:t>
            </a:r>
            <a:endParaRPr lang="en-US" sz="900" dirty="0"/>
          </a:p>
        </p:txBody>
      </p:sp>
      <p:sp>
        <p:nvSpPr>
          <p:cNvPr id="6" name="TextBox 5"/>
          <p:cNvSpPr txBox="1"/>
          <p:nvPr/>
        </p:nvSpPr>
        <p:spPr>
          <a:xfrm>
            <a:off x="566928" y="1298448"/>
            <a:ext cx="11055096" cy="274320"/>
          </a:xfrm>
          <a:prstGeom prst="rect">
            <a:avLst/>
          </a:prstGeom>
          <a:noFill/>
        </p:spPr>
        <p:txBody>
          <a:bodyPr wrap="square" lIns="0" tIns="0" rIns="0" bIns="0" anchor="t">
            <a:spAutoFit/>
          </a:bodyPr>
          <a:lstStyle/>
          <a:p>
            <a:pPr algn="l"/>
            <a:r>
              <a:rPr sz="1550" b="0">
                <a:solidFill>
                  <a:srgbClr val="16202C"/>
                </a:solidFill>
                <a:latin typeface="Calibri"/>
              </a:rPr>
              <a:t>As quatro palavras que vocês usaram na aula passada, todas na classe Tabela do Encontro 4.</a:t>
            </a:r>
          </a:p>
        </p:txBody>
      </p:sp>
      <p:sp>
        <p:nvSpPr>
          <p:cNvPr id="7" name="Rounded Rectangle 6"/>
          <p:cNvSpPr/>
          <p:nvPr/>
        </p:nvSpPr>
        <p:spPr>
          <a:xfrm>
            <a:off x="566928" y="1828800"/>
            <a:ext cx="2606040" cy="128016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86384" y="2011680"/>
            <a:ext cx="2167128" cy="256032"/>
          </a:xfrm>
          <a:prstGeom prst="rect">
            <a:avLst/>
          </a:prstGeom>
          <a:noFill/>
        </p:spPr>
        <p:txBody>
          <a:bodyPr wrap="square" lIns="0" tIns="0" rIns="0" bIns="0" anchor="t">
            <a:spAutoFit/>
          </a:bodyPr>
          <a:lstStyle/>
          <a:p>
            <a:pPr algn="l"/>
            <a:r>
              <a:rPr sz="1450" b="1">
                <a:solidFill>
                  <a:srgbClr val="023A78"/>
                </a:solidFill>
                <a:latin typeface="Calibri"/>
              </a:rPr>
              <a:t>Objeto</a:t>
            </a:r>
          </a:p>
        </p:txBody>
      </p:sp>
      <p:sp>
        <p:nvSpPr>
          <p:cNvPr id="9" name="TextBox 8"/>
          <p:cNvSpPr txBox="1"/>
          <p:nvPr/>
        </p:nvSpPr>
        <p:spPr>
          <a:xfrm>
            <a:off x="786384" y="2340864"/>
            <a:ext cx="2167128" cy="640080"/>
          </a:xfrm>
          <a:prstGeom prst="rect">
            <a:avLst/>
          </a:prstGeom>
          <a:noFill/>
        </p:spPr>
        <p:txBody>
          <a:bodyPr wrap="square" lIns="0" tIns="0" rIns="0" bIns="0" anchor="t">
            <a:spAutoFit/>
          </a:bodyPr>
          <a:lstStyle/>
          <a:p>
            <a:pPr algn="l"/>
            <a:r>
              <a:rPr sz="1100" b="0">
                <a:solidFill>
                  <a:srgbClr val="3C4A5A"/>
                </a:solidFill>
                <a:latin typeface="Calibri"/>
              </a:rPr>
              <a:t>A coisa criada a partir de uma classe. Guarda dados e sabe agir sobre eles.</a:t>
            </a:r>
          </a:p>
        </p:txBody>
      </p:sp>
      <p:sp>
        <p:nvSpPr>
          <p:cNvPr id="10" name="Rounded Rectangle 9"/>
          <p:cNvSpPr/>
          <p:nvPr/>
        </p:nvSpPr>
        <p:spPr>
          <a:xfrm>
            <a:off x="3383280" y="1828800"/>
            <a:ext cx="2606040" cy="128016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602736" y="2011680"/>
            <a:ext cx="2167128" cy="256032"/>
          </a:xfrm>
          <a:prstGeom prst="rect">
            <a:avLst/>
          </a:prstGeom>
          <a:noFill/>
        </p:spPr>
        <p:txBody>
          <a:bodyPr wrap="square" lIns="0" tIns="0" rIns="0" bIns="0" anchor="t">
            <a:spAutoFit/>
          </a:bodyPr>
          <a:lstStyle/>
          <a:p>
            <a:pPr algn="l"/>
            <a:r>
              <a:rPr sz="1450" b="1">
                <a:solidFill>
                  <a:srgbClr val="023A78"/>
                </a:solidFill>
                <a:latin typeface="Calibri"/>
              </a:rPr>
              <a:t>Atributo</a:t>
            </a:r>
          </a:p>
        </p:txBody>
      </p:sp>
      <p:sp>
        <p:nvSpPr>
          <p:cNvPr id="12" name="TextBox 11"/>
          <p:cNvSpPr txBox="1"/>
          <p:nvPr/>
        </p:nvSpPr>
        <p:spPr>
          <a:xfrm>
            <a:off x="3602736" y="2340864"/>
            <a:ext cx="2167128" cy="640080"/>
          </a:xfrm>
          <a:prstGeom prst="rect">
            <a:avLst/>
          </a:prstGeom>
          <a:noFill/>
        </p:spPr>
        <p:txBody>
          <a:bodyPr wrap="square" lIns="0" tIns="0" rIns="0" bIns="0" anchor="t">
            <a:spAutoFit/>
          </a:bodyPr>
          <a:lstStyle/>
          <a:p>
            <a:pPr algn="l"/>
            <a:r>
              <a:rPr sz="1100" b="0">
                <a:solidFill>
                  <a:srgbClr val="3C4A5A"/>
                </a:solidFill>
                <a:latin typeface="Calibri"/>
              </a:rPr>
              <a:t>Uma informação que o objeto já guarda. Vem sem parênteses.</a:t>
            </a:r>
          </a:p>
        </p:txBody>
      </p:sp>
      <p:sp>
        <p:nvSpPr>
          <p:cNvPr id="13" name="Rounded Rectangle 12"/>
          <p:cNvSpPr/>
          <p:nvPr/>
        </p:nvSpPr>
        <p:spPr>
          <a:xfrm>
            <a:off x="6199632" y="1828800"/>
            <a:ext cx="2606040" cy="128016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19088" y="2011680"/>
            <a:ext cx="2167128" cy="256032"/>
          </a:xfrm>
          <a:prstGeom prst="rect">
            <a:avLst/>
          </a:prstGeom>
          <a:noFill/>
        </p:spPr>
        <p:txBody>
          <a:bodyPr wrap="square" lIns="0" tIns="0" rIns="0" bIns="0" anchor="t">
            <a:spAutoFit/>
          </a:bodyPr>
          <a:lstStyle/>
          <a:p>
            <a:pPr algn="l"/>
            <a:r>
              <a:rPr sz="1450" b="1">
                <a:solidFill>
                  <a:srgbClr val="023A78"/>
                </a:solidFill>
                <a:latin typeface="Calibri"/>
              </a:rPr>
              <a:t>Método</a:t>
            </a:r>
          </a:p>
        </p:txBody>
      </p:sp>
      <p:sp>
        <p:nvSpPr>
          <p:cNvPr id="15" name="TextBox 14"/>
          <p:cNvSpPr txBox="1"/>
          <p:nvPr/>
        </p:nvSpPr>
        <p:spPr>
          <a:xfrm>
            <a:off x="6419088" y="2340864"/>
            <a:ext cx="2167128" cy="640080"/>
          </a:xfrm>
          <a:prstGeom prst="rect">
            <a:avLst/>
          </a:prstGeom>
          <a:noFill/>
        </p:spPr>
        <p:txBody>
          <a:bodyPr wrap="square" lIns="0" tIns="0" rIns="0" bIns="0" anchor="t">
            <a:spAutoFit/>
          </a:bodyPr>
          <a:lstStyle/>
          <a:p>
            <a:pPr algn="l"/>
            <a:r>
              <a:rPr sz="1100" b="0">
                <a:solidFill>
                  <a:srgbClr val="3C4A5A"/>
                </a:solidFill>
                <a:latin typeface="Calibri"/>
              </a:rPr>
              <a:t>Uma ação que o objeto sabe fazer. Vem sempre com parênteses.</a:t>
            </a:r>
          </a:p>
        </p:txBody>
      </p:sp>
      <p:sp>
        <p:nvSpPr>
          <p:cNvPr id="16" name="Rounded Rectangle 15"/>
          <p:cNvSpPr/>
          <p:nvPr/>
        </p:nvSpPr>
        <p:spPr>
          <a:xfrm>
            <a:off x="9015984" y="1828800"/>
            <a:ext cx="2606040" cy="128016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235440" y="2011680"/>
            <a:ext cx="2167128" cy="256032"/>
          </a:xfrm>
          <a:prstGeom prst="rect">
            <a:avLst/>
          </a:prstGeom>
          <a:noFill/>
        </p:spPr>
        <p:txBody>
          <a:bodyPr wrap="square" lIns="0" tIns="0" rIns="0" bIns="0" anchor="t">
            <a:spAutoFit/>
          </a:bodyPr>
          <a:lstStyle/>
          <a:p>
            <a:pPr algn="l"/>
            <a:r>
              <a:rPr sz="1450" b="1">
                <a:solidFill>
                  <a:srgbClr val="023A78"/>
                </a:solidFill>
                <a:latin typeface="Calibri"/>
              </a:rPr>
              <a:t>Função</a:t>
            </a:r>
          </a:p>
        </p:txBody>
      </p:sp>
      <p:sp>
        <p:nvSpPr>
          <p:cNvPr id="18" name="TextBox 17"/>
          <p:cNvSpPr txBox="1"/>
          <p:nvPr/>
        </p:nvSpPr>
        <p:spPr>
          <a:xfrm>
            <a:off x="9235440" y="2340864"/>
            <a:ext cx="2167128" cy="640080"/>
          </a:xfrm>
          <a:prstGeom prst="rect">
            <a:avLst/>
          </a:prstGeom>
          <a:noFill/>
        </p:spPr>
        <p:txBody>
          <a:bodyPr wrap="square" lIns="0" tIns="0" rIns="0" bIns="0" anchor="t">
            <a:spAutoFit/>
          </a:bodyPr>
          <a:lstStyle/>
          <a:p>
            <a:pPr algn="l"/>
            <a:r>
              <a:rPr sz="1100" b="0">
                <a:solidFill>
                  <a:srgbClr val="3C4A5A"/>
                </a:solidFill>
                <a:latin typeface="Calibri"/>
              </a:rPr>
              <a:t>Uma ação solta: não é de objeto nenhum. O que ela usa vai dentro dos parênteses.</a:t>
            </a:r>
          </a:p>
        </p:txBody>
      </p:sp>
      <p:sp>
        <p:nvSpPr>
          <p:cNvPr id="19" name="Rounded Rectangle 18"/>
          <p:cNvSpPr/>
          <p:nvPr/>
        </p:nvSpPr>
        <p:spPr>
          <a:xfrm>
            <a:off x="566928" y="3474720"/>
            <a:ext cx="11055096" cy="22402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3703320"/>
            <a:ext cx="2834640" cy="237744"/>
          </a:xfrm>
          <a:prstGeom prst="rect">
            <a:avLst/>
          </a:prstGeom>
          <a:noFill/>
        </p:spPr>
        <p:txBody>
          <a:bodyPr wrap="square" lIns="0" tIns="0" rIns="0" bIns="0" anchor="t">
            <a:spAutoFit/>
          </a:bodyPr>
          <a:lstStyle/>
          <a:p>
            <a:pPr algn="l"/>
            <a:r>
              <a:rPr sz="1300" b="0">
                <a:solidFill>
                  <a:srgbClr val="16202C"/>
                </a:solidFill>
                <a:latin typeface="Courier New"/>
              </a:rPr>
              <a:t>tabela = Tabela(linhas)</a:t>
            </a:r>
          </a:p>
        </p:txBody>
      </p:sp>
      <p:sp>
        <p:nvSpPr>
          <p:cNvPr id="21" name="Oval 20"/>
          <p:cNvSpPr/>
          <p:nvPr/>
        </p:nvSpPr>
        <p:spPr>
          <a:xfrm>
            <a:off x="896112" y="3621024"/>
            <a:ext cx="722376" cy="365760"/>
          </a:xfrm>
          <a:prstGeom prst="ellipse">
            <a:avLst/>
          </a:prstGeom>
          <a:noFill/>
          <a:ln w="15875">
            <a:solidFill>
              <a:srgbClr val="023A7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ight Arrow 21"/>
          <p:cNvSpPr/>
          <p:nvPr/>
        </p:nvSpPr>
        <p:spPr>
          <a:xfrm>
            <a:off x="3438144" y="3721607"/>
            <a:ext cx="905256" cy="146304"/>
          </a:xfrm>
          <a:prstGeom prst="rightArrow">
            <a:avLst>
              <a:gd name="adj1" fmla="val 55000"/>
              <a:gd name="adj2" fmla="val 62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26280" y="3685032"/>
            <a:ext cx="6775704" cy="274320"/>
          </a:xfrm>
          <a:prstGeom prst="rect">
            <a:avLst/>
          </a:prstGeom>
          <a:noFill/>
        </p:spPr>
        <p:txBody>
          <a:bodyPr wrap="square" lIns="0" tIns="0" rIns="0" bIns="0" anchor="t">
            <a:spAutoFit/>
          </a:bodyPr>
          <a:lstStyle/>
          <a:p>
            <a:pPr algn="l"/>
            <a:r>
              <a:rPr sz="1350" b="1">
                <a:solidFill>
                  <a:srgbClr val="023A78"/>
                </a:solidFill>
                <a:latin typeface="Calibri"/>
              </a:rPr>
              <a:t>objeto  </a:t>
            </a:r>
            <a:r>
              <a:rPr sz="1200" b="0">
                <a:solidFill>
                  <a:srgbClr val="3C4A5A"/>
                </a:solidFill>
                <a:latin typeface="Calibri"/>
              </a:rPr>
              <a:t>o que sai quando a classe é chamada, guardado no nome tabela</a:t>
            </a:r>
          </a:p>
        </p:txBody>
      </p:sp>
      <p:sp>
        <p:nvSpPr>
          <p:cNvPr id="24" name="TextBox 23"/>
          <p:cNvSpPr txBox="1"/>
          <p:nvPr/>
        </p:nvSpPr>
        <p:spPr>
          <a:xfrm>
            <a:off x="960120" y="4206240"/>
            <a:ext cx="2834640" cy="237744"/>
          </a:xfrm>
          <a:prstGeom prst="rect">
            <a:avLst/>
          </a:prstGeom>
          <a:noFill/>
        </p:spPr>
        <p:txBody>
          <a:bodyPr wrap="square" lIns="0" tIns="0" rIns="0" bIns="0" anchor="t">
            <a:spAutoFit/>
          </a:bodyPr>
          <a:lstStyle/>
          <a:p>
            <a:pPr algn="l"/>
            <a:r>
              <a:rPr sz="1300" b="0">
                <a:solidFill>
                  <a:srgbClr val="16202C"/>
                </a:solidFill>
                <a:latin typeface="Courier New"/>
              </a:rPr>
              <a:t>tabela.shape</a:t>
            </a:r>
          </a:p>
        </p:txBody>
      </p:sp>
      <p:sp>
        <p:nvSpPr>
          <p:cNvPr id="25" name="Oval 24"/>
          <p:cNvSpPr/>
          <p:nvPr/>
        </p:nvSpPr>
        <p:spPr>
          <a:xfrm>
            <a:off x="1589532" y="4123944"/>
            <a:ext cx="623316" cy="365760"/>
          </a:xfrm>
          <a:prstGeom prst="ellipse">
            <a:avLst/>
          </a:prstGeom>
          <a:noFill/>
          <a:ln w="15875">
            <a:solidFill>
              <a:srgbClr val="023A7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ight Arrow 25"/>
          <p:cNvSpPr/>
          <p:nvPr/>
        </p:nvSpPr>
        <p:spPr>
          <a:xfrm>
            <a:off x="3438144" y="4224527"/>
            <a:ext cx="905256" cy="146304"/>
          </a:xfrm>
          <a:prstGeom prst="rightArrow">
            <a:avLst>
              <a:gd name="adj1" fmla="val 55000"/>
              <a:gd name="adj2" fmla="val 62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26280" y="4187952"/>
            <a:ext cx="6775704" cy="274320"/>
          </a:xfrm>
          <a:prstGeom prst="rect">
            <a:avLst/>
          </a:prstGeom>
          <a:noFill/>
        </p:spPr>
        <p:txBody>
          <a:bodyPr wrap="square" lIns="0" tIns="0" rIns="0" bIns="0" anchor="t">
            <a:spAutoFit/>
          </a:bodyPr>
          <a:lstStyle/>
          <a:p>
            <a:pPr algn="l"/>
            <a:r>
              <a:rPr sz="1350" b="1">
                <a:solidFill>
                  <a:srgbClr val="023A78"/>
                </a:solidFill>
                <a:latin typeface="Calibri"/>
              </a:rPr>
              <a:t>atributo  </a:t>
            </a:r>
            <a:r>
              <a:rPr sz="1200" b="0">
                <a:solidFill>
                  <a:srgbClr val="3C4A5A"/>
                </a:solidFill>
                <a:latin typeface="Calibri"/>
              </a:rPr>
              <a:t>a informação que já está guardada — devolve (7000, 16)</a:t>
            </a:r>
          </a:p>
        </p:txBody>
      </p:sp>
      <p:sp>
        <p:nvSpPr>
          <p:cNvPr id="28" name="TextBox 27"/>
          <p:cNvSpPr txBox="1"/>
          <p:nvPr/>
        </p:nvSpPr>
        <p:spPr>
          <a:xfrm>
            <a:off x="960120" y="4709160"/>
            <a:ext cx="2834640" cy="237744"/>
          </a:xfrm>
          <a:prstGeom prst="rect">
            <a:avLst/>
          </a:prstGeom>
          <a:noFill/>
        </p:spPr>
        <p:txBody>
          <a:bodyPr wrap="square" lIns="0" tIns="0" rIns="0" bIns="0" anchor="t">
            <a:spAutoFit/>
          </a:bodyPr>
          <a:lstStyle/>
          <a:p>
            <a:pPr algn="l"/>
            <a:r>
              <a:rPr sz="1300" b="0">
                <a:solidFill>
                  <a:srgbClr val="16202C"/>
                </a:solidFill>
                <a:latin typeface="Courier New"/>
              </a:rPr>
              <a:t>tabela.head(3)</a:t>
            </a:r>
          </a:p>
        </p:txBody>
      </p:sp>
      <p:sp>
        <p:nvSpPr>
          <p:cNvPr id="29" name="Oval 28"/>
          <p:cNvSpPr/>
          <p:nvPr/>
        </p:nvSpPr>
        <p:spPr>
          <a:xfrm>
            <a:off x="1589532" y="4626864"/>
            <a:ext cx="821436" cy="365760"/>
          </a:xfrm>
          <a:prstGeom prst="ellipse">
            <a:avLst/>
          </a:prstGeom>
          <a:noFill/>
          <a:ln w="15875">
            <a:solidFill>
              <a:srgbClr val="023A7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ight Arrow 29"/>
          <p:cNvSpPr/>
          <p:nvPr/>
        </p:nvSpPr>
        <p:spPr>
          <a:xfrm>
            <a:off x="3438144" y="4727448"/>
            <a:ext cx="905256" cy="146304"/>
          </a:xfrm>
          <a:prstGeom prst="rightArrow">
            <a:avLst>
              <a:gd name="adj1" fmla="val 55000"/>
              <a:gd name="adj2" fmla="val 62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26280" y="4690872"/>
            <a:ext cx="6775704" cy="274320"/>
          </a:xfrm>
          <a:prstGeom prst="rect">
            <a:avLst/>
          </a:prstGeom>
          <a:noFill/>
        </p:spPr>
        <p:txBody>
          <a:bodyPr wrap="square" lIns="0" tIns="0" rIns="0" bIns="0" anchor="t">
            <a:spAutoFit/>
          </a:bodyPr>
          <a:lstStyle/>
          <a:p>
            <a:pPr algn="l"/>
            <a:r>
              <a:rPr sz="1350" b="1">
                <a:solidFill>
                  <a:srgbClr val="023A78"/>
                </a:solidFill>
                <a:latin typeface="Calibri"/>
              </a:rPr>
              <a:t>método  </a:t>
            </a:r>
            <a:r>
              <a:rPr sz="1200" b="0">
                <a:solidFill>
                  <a:srgbClr val="3C4A5A"/>
                </a:solidFill>
                <a:latin typeface="Calibri"/>
              </a:rPr>
              <a:t>a ação que o objeto faz na hora — devolve as 3 primeiras linhas</a:t>
            </a:r>
          </a:p>
        </p:txBody>
      </p:sp>
      <p:sp>
        <p:nvSpPr>
          <p:cNvPr id="32" name="TextBox 31"/>
          <p:cNvSpPr txBox="1"/>
          <p:nvPr/>
        </p:nvSpPr>
        <p:spPr>
          <a:xfrm>
            <a:off x="960120" y="5212080"/>
            <a:ext cx="2834640" cy="237744"/>
          </a:xfrm>
          <a:prstGeom prst="rect">
            <a:avLst/>
          </a:prstGeom>
          <a:noFill/>
        </p:spPr>
        <p:txBody>
          <a:bodyPr wrap="square" lIns="0" tIns="0" rIns="0" bIns="0" anchor="t">
            <a:spAutoFit/>
          </a:bodyPr>
          <a:lstStyle/>
          <a:p>
            <a:pPr algn="l"/>
            <a:r>
              <a:rPr sz="1300" b="0">
                <a:solidFill>
                  <a:srgbClr val="16202C"/>
                </a:solidFill>
                <a:latin typeface="Courier New"/>
              </a:rPr>
              <a:t>len(linhas)</a:t>
            </a:r>
          </a:p>
        </p:txBody>
      </p:sp>
      <p:sp>
        <p:nvSpPr>
          <p:cNvPr id="33" name="Oval 32"/>
          <p:cNvSpPr/>
          <p:nvPr/>
        </p:nvSpPr>
        <p:spPr>
          <a:xfrm>
            <a:off x="896112" y="5129784"/>
            <a:ext cx="425196" cy="365760"/>
          </a:xfrm>
          <a:prstGeom prst="ellipse">
            <a:avLst/>
          </a:prstGeom>
          <a:noFill/>
          <a:ln w="15875">
            <a:solidFill>
              <a:srgbClr val="023A7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ight Arrow 33"/>
          <p:cNvSpPr/>
          <p:nvPr/>
        </p:nvSpPr>
        <p:spPr>
          <a:xfrm>
            <a:off x="3438144" y="5230368"/>
            <a:ext cx="905256" cy="146304"/>
          </a:xfrm>
          <a:prstGeom prst="rightArrow">
            <a:avLst>
              <a:gd name="adj1" fmla="val 55000"/>
              <a:gd name="adj2" fmla="val 62000"/>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26280" y="5193792"/>
            <a:ext cx="6775704" cy="274320"/>
          </a:xfrm>
          <a:prstGeom prst="rect">
            <a:avLst/>
          </a:prstGeom>
          <a:noFill/>
        </p:spPr>
        <p:txBody>
          <a:bodyPr wrap="square" lIns="0" tIns="0" rIns="0" bIns="0" anchor="t">
            <a:spAutoFit/>
          </a:bodyPr>
          <a:lstStyle/>
          <a:p>
            <a:pPr algn="l"/>
            <a:r>
              <a:rPr sz="1350" b="1">
                <a:solidFill>
                  <a:srgbClr val="023A78"/>
                </a:solidFill>
                <a:latin typeface="Calibri"/>
              </a:rPr>
              <a:t>função  </a:t>
            </a:r>
            <a:r>
              <a:rPr sz="1200" b="0">
                <a:solidFill>
                  <a:srgbClr val="3C4A5A"/>
                </a:solidFill>
                <a:latin typeface="Calibri"/>
              </a:rPr>
              <a:t>não pertence ao objeto: a lista vai dentro dos parênteses — devolve 7000</a:t>
            </a:r>
          </a:p>
        </p:txBody>
      </p:sp>
      <p:sp>
        <p:nvSpPr>
          <p:cNvPr id="36" name="TextBox 35"/>
          <p:cNvSpPr txBox="1"/>
          <p:nvPr/>
        </p:nvSpPr>
        <p:spPr>
          <a:xfrm>
            <a:off x="566928" y="5897880"/>
            <a:ext cx="11055096" cy="274320"/>
          </a:xfrm>
          <a:prstGeom prst="rect">
            <a:avLst/>
          </a:prstGeom>
          <a:noFill/>
        </p:spPr>
        <p:txBody>
          <a:bodyPr wrap="square" lIns="0" tIns="0" rIns="0" bIns="0" anchor="t">
            <a:spAutoFit/>
          </a:bodyPr>
          <a:lstStyle/>
          <a:p>
            <a:pPr algn="l"/>
            <a:r>
              <a:rPr sz="1350" b="1">
                <a:solidFill>
                  <a:srgbClr val="023A78"/>
                </a:solidFill>
                <a:latin typeface="Calibri"/>
              </a:rPr>
              <a:t>Regra de bolso:  </a:t>
            </a:r>
            <a:r>
              <a:rPr sz="1350" b="0">
                <a:solidFill>
                  <a:srgbClr val="16202C"/>
                </a:solidFill>
                <a:latin typeface="Calibri"/>
              </a:rPr>
              <a:t>com parênteses, alguém está fazendo alguma coisa. Sem parênteses, é uma informação que já estava guardada.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Os elementos da tabela</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5</a:t>
            </a:r>
            <a:endParaRPr lang="en-US" sz="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2560320"/>
        </p:xfrm>
        <a:graphic>
          <a:graphicData uri="http://schemas.openxmlformats.org/drawingml/2006/table">
            <a:tbl>
              <a:tblPr/>
              <a:tblGrid>
                <a:gridCol w="3685032">
                  <a:extLst>
                    <a:ext uri="{9D8B030D-6E8A-4147-A177-3AD203B41FA5}">
                      <a16:colId xmlns:a16="http://schemas.microsoft.com/office/drawing/2014/main" val="20000"/>
                    </a:ext>
                  </a:extLst>
                </a:gridCol>
                <a:gridCol w="3685032">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31089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 elemento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Na classe Tabela</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No DataFrame</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extLst>
                  <a:ext uri="{0D108BD9-81ED-4DB2-BD59-A6C34878D82A}">
                    <a16:rowId xmlns:a16="http://schemas.microsoft.com/office/drawing/2014/main" val="10000"/>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a base inteira</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Tabela(decisoes)</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pd.DataFrame(decisoes)</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uma linha, um caso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tabela.linhas[0]</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processos.loc[0]</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uma coluna, uma variável</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não tinha</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processos["reu"]</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o tamanho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tabela.shape</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processos.shape</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espiar o começo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tabela.head()</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processos.head()</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contar por valor</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tabela.contar("reu")</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processos["reu"].value_counts()</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É outra coisa, ou é a mesma coisa maior?</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6</a:t>
            </a:r>
            <a:endParaRPr lang="en-US" sz="900" dirty="0"/>
          </a:p>
        </p:txBody>
      </p:sp>
      <p:sp>
        <p:nvSpPr>
          <p:cNvPr id="6" name="TextBox 5"/>
          <p:cNvSpPr txBox="1"/>
          <p:nvPr/>
        </p:nvSpPr>
        <p:spPr>
          <a:xfrm>
            <a:off x="566928" y="1298448"/>
            <a:ext cx="11055096" cy="265176"/>
          </a:xfrm>
          <a:prstGeom prst="rect">
            <a:avLst/>
          </a:prstGeom>
          <a:noFill/>
        </p:spPr>
        <p:txBody>
          <a:bodyPr wrap="square" lIns="0" tIns="0" rIns="0" bIns="0" anchor="t">
            <a:spAutoFit/>
          </a:bodyPr>
          <a:lstStyle/>
          <a:p>
            <a:pPr algn="l"/>
            <a:r>
              <a:rPr sz="1550" b="0">
                <a:solidFill>
                  <a:srgbClr val="16202C"/>
                </a:solidFill>
                <a:latin typeface="Calibri"/>
              </a:rPr>
              <a:t>O DataFrame não é uma coisa nova: é a mesma ideia da classe Tabela, muito mais acabada.</a:t>
            </a:r>
          </a:p>
        </p:txBody>
      </p:sp>
      <p:sp>
        <p:nvSpPr>
          <p:cNvPr id="7" name="Rounded Rectangle 6"/>
          <p:cNvSpPr/>
          <p:nvPr/>
        </p:nvSpPr>
        <p:spPr>
          <a:xfrm>
            <a:off x="2697480" y="1755648"/>
            <a:ext cx="4297680" cy="3877056"/>
          </a:xfrm>
          <a:prstGeom prst="roundRect">
            <a:avLst>
              <a:gd name="adj" fmla="val 4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7178040" y="1755648"/>
            <a:ext cx="4443984" cy="3877056"/>
          </a:xfrm>
          <a:prstGeom prst="roundRect">
            <a:avLst>
              <a:gd name="adj" fmla="val 4000"/>
            </a:avLst>
          </a:prstGeom>
          <a:solidFill>
            <a:srgbClr val="E8F0FA"/>
          </a:solidFill>
          <a:ln w="9525">
            <a:solidFill>
              <a:srgbClr val="D2E0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935224" y="1847088"/>
            <a:ext cx="3822191" cy="256032"/>
          </a:xfrm>
          <a:prstGeom prst="rect">
            <a:avLst/>
          </a:prstGeom>
          <a:noFill/>
        </p:spPr>
        <p:txBody>
          <a:bodyPr wrap="square" lIns="0" tIns="0" rIns="0" bIns="0" anchor="t">
            <a:spAutoFit/>
          </a:bodyPr>
          <a:lstStyle/>
          <a:p>
            <a:pPr algn="l"/>
            <a:r>
              <a:rPr sz="1400" b="1">
                <a:solidFill>
                  <a:srgbClr val="3C4A5A"/>
                </a:solidFill>
                <a:latin typeface="Calibri"/>
              </a:rPr>
              <a:t>A classe Tabela</a:t>
            </a:r>
          </a:p>
        </p:txBody>
      </p:sp>
      <p:sp>
        <p:nvSpPr>
          <p:cNvPr id="10" name="TextBox 9"/>
          <p:cNvSpPr txBox="1"/>
          <p:nvPr/>
        </p:nvSpPr>
        <p:spPr>
          <a:xfrm>
            <a:off x="7415783" y="1847088"/>
            <a:ext cx="3968496" cy="256032"/>
          </a:xfrm>
          <a:prstGeom prst="rect">
            <a:avLst/>
          </a:prstGeom>
          <a:noFill/>
        </p:spPr>
        <p:txBody>
          <a:bodyPr wrap="square" lIns="0" tIns="0" rIns="0" bIns="0" anchor="t">
            <a:spAutoFit/>
          </a:bodyPr>
          <a:lstStyle/>
          <a:p>
            <a:pPr algn="l"/>
            <a:r>
              <a:rPr sz="1400" b="1">
                <a:solidFill>
                  <a:srgbClr val="023A78"/>
                </a:solidFill>
                <a:latin typeface="Calibri"/>
              </a:rPr>
              <a:t>O DataFrame do pandas</a:t>
            </a:r>
          </a:p>
        </p:txBody>
      </p:sp>
      <p:sp>
        <p:nvSpPr>
          <p:cNvPr id="11" name="TextBox 10"/>
          <p:cNvSpPr txBox="1"/>
          <p:nvPr/>
        </p:nvSpPr>
        <p:spPr>
          <a:xfrm>
            <a:off x="566928" y="2304288"/>
            <a:ext cx="2011680" cy="548640"/>
          </a:xfrm>
          <a:prstGeom prst="rect">
            <a:avLst/>
          </a:prstGeom>
          <a:noFill/>
        </p:spPr>
        <p:txBody>
          <a:bodyPr wrap="square" lIns="0" tIns="0" rIns="0" bIns="0" anchor="t">
            <a:spAutoFit/>
          </a:bodyPr>
          <a:lstStyle/>
          <a:p>
            <a:pPr algn="l"/>
            <a:r>
              <a:rPr sz="1250" b="1">
                <a:solidFill>
                  <a:srgbClr val="023A78"/>
                </a:solidFill>
                <a:latin typeface="Calibri"/>
              </a:rPr>
              <a:t>O que é</a:t>
            </a:r>
          </a:p>
        </p:txBody>
      </p:sp>
      <p:sp>
        <p:nvSpPr>
          <p:cNvPr id="12" name="TextBox 11"/>
          <p:cNvSpPr txBox="1"/>
          <p:nvPr/>
        </p:nvSpPr>
        <p:spPr>
          <a:xfrm>
            <a:off x="2935224" y="2304288"/>
            <a:ext cx="3822191" cy="658368"/>
          </a:xfrm>
          <a:prstGeom prst="rect">
            <a:avLst/>
          </a:prstGeom>
          <a:noFill/>
        </p:spPr>
        <p:txBody>
          <a:bodyPr wrap="square" lIns="0" tIns="0" rIns="0" bIns="0" anchor="t">
            <a:spAutoFit/>
          </a:bodyPr>
          <a:lstStyle/>
          <a:p>
            <a:pPr algn="l"/>
            <a:r>
              <a:rPr sz="1150" b="0">
                <a:solidFill>
                  <a:srgbClr val="3C4A5A"/>
                </a:solidFill>
                <a:latin typeface="Calibri"/>
              </a:rPr>
              <a:t>Um objeto criado por uma classe de quarenta linhas, escrita no Encontro 4.</a:t>
            </a:r>
          </a:p>
        </p:txBody>
      </p:sp>
      <p:sp>
        <p:nvSpPr>
          <p:cNvPr id="13" name="TextBox 12"/>
          <p:cNvSpPr txBox="1"/>
          <p:nvPr/>
        </p:nvSpPr>
        <p:spPr>
          <a:xfrm>
            <a:off x="7415783" y="2304288"/>
            <a:ext cx="3968496" cy="658368"/>
          </a:xfrm>
          <a:prstGeom prst="rect">
            <a:avLst/>
          </a:prstGeom>
          <a:noFill/>
        </p:spPr>
        <p:txBody>
          <a:bodyPr wrap="square" lIns="0" tIns="0" rIns="0" bIns="0" anchor="t">
            <a:spAutoFit/>
          </a:bodyPr>
          <a:lstStyle/>
          <a:p>
            <a:pPr algn="l"/>
            <a:r>
              <a:rPr sz="1150" b="0">
                <a:solidFill>
                  <a:srgbClr val="16202C"/>
                </a:solidFill>
                <a:latin typeface="Calibri"/>
              </a:rPr>
              <a:t>Um objeto criado por uma classe enorme, escrita e testada por muita gente há mais de quinze anos.</a:t>
            </a:r>
          </a:p>
        </p:txBody>
      </p:sp>
      <p:sp>
        <p:nvSpPr>
          <p:cNvPr id="14" name="Rectangle 13"/>
          <p:cNvSpPr/>
          <p:nvPr/>
        </p:nvSpPr>
        <p:spPr>
          <a:xfrm>
            <a:off x="2935224" y="3026663"/>
            <a:ext cx="3822191"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415783" y="3026663"/>
            <a:ext cx="3968496"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66928" y="3172968"/>
            <a:ext cx="2011680" cy="548640"/>
          </a:xfrm>
          <a:prstGeom prst="rect">
            <a:avLst/>
          </a:prstGeom>
          <a:noFill/>
        </p:spPr>
        <p:txBody>
          <a:bodyPr wrap="square" lIns="0" tIns="0" rIns="0" bIns="0" anchor="t">
            <a:spAutoFit/>
          </a:bodyPr>
          <a:lstStyle/>
          <a:p>
            <a:pPr algn="l"/>
            <a:r>
              <a:rPr sz="1250" b="1">
                <a:solidFill>
                  <a:srgbClr val="023A78"/>
                </a:solidFill>
                <a:latin typeface="Calibri"/>
              </a:rPr>
              <a:t>De onde vem</a:t>
            </a:r>
          </a:p>
        </p:txBody>
      </p:sp>
      <p:sp>
        <p:nvSpPr>
          <p:cNvPr id="17" name="TextBox 16"/>
          <p:cNvSpPr txBox="1"/>
          <p:nvPr/>
        </p:nvSpPr>
        <p:spPr>
          <a:xfrm>
            <a:off x="2935224" y="3172968"/>
            <a:ext cx="3822191" cy="658368"/>
          </a:xfrm>
          <a:prstGeom prst="rect">
            <a:avLst/>
          </a:prstGeom>
          <a:noFill/>
        </p:spPr>
        <p:txBody>
          <a:bodyPr wrap="square" lIns="0" tIns="0" rIns="0" bIns="0" anchor="t">
            <a:spAutoFit/>
          </a:bodyPr>
          <a:lstStyle/>
          <a:p>
            <a:pPr algn="l"/>
            <a:r>
              <a:rPr sz="1150" b="0">
                <a:solidFill>
                  <a:srgbClr val="3C4A5A"/>
                </a:solidFill>
                <a:latin typeface="Calibri"/>
              </a:rPr>
              <a:t>Do arquivo onde ela foi escrita. Só existe naquele notebook.</a:t>
            </a:r>
          </a:p>
        </p:txBody>
      </p:sp>
      <p:sp>
        <p:nvSpPr>
          <p:cNvPr id="18" name="TextBox 17"/>
          <p:cNvSpPr txBox="1"/>
          <p:nvPr/>
        </p:nvSpPr>
        <p:spPr>
          <a:xfrm>
            <a:off x="7415783" y="3172968"/>
            <a:ext cx="3968496" cy="658368"/>
          </a:xfrm>
          <a:prstGeom prst="rect">
            <a:avLst/>
          </a:prstGeom>
          <a:noFill/>
        </p:spPr>
        <p:txBody>
          <a:bodyPr wrap="square" lIns="0" tIns="0" rIns="0" bIns="0" anchor="t">
            <a:spAutoFit/>
          </a:bodyPr>
          <a:lstStyle/>
          <a:p>
            <a:pPr algn="l"/>
            <a:r>
              <a:rPr sz="1150" b="0">
                <a:solidFill>
                  <a:srgbClr val="16202C"/>
                </a:solidFill>
                <a:latin typeface="Calibri"/>
              </a:rPr>
              <a:t>De um pacote que se instala uma vez e se importa: </a:t>
            </a:r>
            <a:r>
              <a:rPr sz="1100" b="0">
                <a:solidFill>
                  <a:srgbClr val="023A78"/>
                </a:solidFill>
                <a:latin typeface="Courier New"/>
              </a:rPr>
              <a:t>import pandas as pd</a:t>
            </a:r>
          </a:p>
        </p:txBody>
      </p:sp>
      <p:sp>
        <p:nvSpPr>
          <p:cNvPr id="19" name="Rectangle 18"/>
          <p:cNvSpPr/>
          <p:nvPr/>
        </p:nvSpPr>
        <p:spPr>
          <a:xfrm>
            <a:off x="2935224" y="3895344"/>
            <a:ext cx="3822191"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7415783" y="3895344"/>
            <a:ext cx="3968496"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66928" y="4041648"/>
            <a:ext cx="2011680" cy="548640"/>
          </a:xfrm>
          <a:prstGeom prst="rect">
            <a:avLst/>
          </a:prstGeom>
          <a:noFill/>
        </p:spPr>
        <p:txBody>
          <a:bodyPr wrap="square" lIns="0" tIns="0" rIns="0" bIns="0" anchor="t">
            <a:spAutoFit/>
          </a:bodyPr>
          <a:lstStyle/>
          <a:p>
            <a:pPr algn="l"/>
            <a:r>
              <a:rPr sz="1250" b="1">
                <a:solidFill>
                  <a:srgbClr val="023A78"/>
                </a:solidFill>
                <a:latin typeface="Calibri"/>
              </a:rPr>
              <a:t>O que sabe fazer</a:t>
            </a:r>
          </a:p>
        </p:txBody>
      </p:sp>
      <p:sp>
        <p:nvSpPr>
          <p:cNvPr id="22" name="TextBox 21"/>
          <p:cNvSpPr txBox="1"/>
          <p:nvPr/>
        </p:nvSpPr>
        <p:spPr>
          <a:xfrm>
            <a:off x="2935224" y="4041648"/>
            <a:ext cx="3822191" cy="658368"/>
          </a:xfrm>
          <a:prstGeom prst="rect">
            <a:avLst/>
          </a:prstGeom>
          <a:noFill/>
        </p:spPr>
        <p:txBody>
          <a:bodyPr wrap="square" lIns="0" tIns="0" rIns="0" bIns="0" anchor="t">
            <a:spAutoFit/>
          </a:bodyPr>
          <a:lstStyle/>
          <a:p>
            <a:pPr algn="l"/>
            <a:r>
              <a:rPr sz="1150" b="0">
                <a:solidFill>
                  <a:srgbClr val="3C4A5A"/>
                </a:solidFill>
                <a:latin typeface="Calibri"/>
              </a:rPr>
              <a:t>Três coisas: shape, head() e contar() — o que deu tempo de escrever.</a:t>
            </a:r>
          </a:p>
        </p:txBody>
      </p:sp>
      <p:sp>
        <p:nvSpPr>
          <p:cNvPr id="23" name="TextBox 22"/>
          <p:cNvSpPr txBox="1"/>
          <p:nvPr/>
        </p:nvSpPr>
        <p:spPr>
          <a:xfrm>
            <a:off x="7415783" y="4041648"/>
            <a:ext cx="3968496" cy="658368"/>
          </a:xfrm>
          <a:prstGeom prst="rect">
            <a:avLst/>
          </a:prstGeom>
          <a:noFill/>
        </p:spPr>
        <p:txBody>
          <a:bodyPr wrap="square" lIns="0" tIns="0" rIns="0" bIns="0" anchor="t">
            <a:spAutoFit/>
          </a:bodyPr>
          <a:lstStyle/>
          <a:p>
            <a:pPr algn="l"/>
            <a:r>
              <a:rPr sz="1150" b="0">
                <a:solidFill>
                  <a:srgbClr val="16202C"/>
                </a:solidFill>
                <a:latin typeface="Calibri"/>
              </a:rPr>
              <a:t>Dezenas de operações prontas: filtrar, agrupar, ordenar, juntar, converter tipo.</a:t>
            </a:r>
          </a:p>
        </p:txBody>
      </p:sp>
      <p:sp>
        <p:nvSpPr>
          <p:cNvPr id="24" name="Rectangle 23"/>
          <p:cNvSpPr/>
          <p:nvPr/>
        </p:nvSpPr>
        <p:spPr>
          <a:xfrm>
            <a:off x="2935224" y="4764024"/>
            <a:ext cx="3822191"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7415783" y="4764024"/>
            <a:ext cx="3968496"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4910328"/>
            <a:ext cx="2011680" cy="548640"/>
          </a:xfrm>
          <a:prstGeom prst="rect">
            <a:avLst/>
          </a:prstGeom>
          <a:noFill/>
        </p:spPr>
        <p:txBody>
          <a:bodyPr wrap="square" lIns="0" tIns="0" rIns="0" bIns="0" anchor="t">
            <a:spAutoFit/>
          </a:bodyPr>
          <a:lstStyle/>
          <a:p>
            <a:pPr algn="l"/>
            <a:r>
              <a:rPr sz="1250" b="1">
                <a:solidFill>
                  <a:srgbClr val="023A78"/>
                </a:solidFill>
                <a:latin typeface="Calibri"/>
              </a:rPr>
              <a:t>A coluna</a:t>
            </a:r>
          </a:p>
        </p:txBody>
      </p:sp>
      <p:sp>
        <p:nvSpPr>
          <p:cNvPr id="27" name="TextBox 26"/>
          <p:cNvSpPr txBox="1"/>
          <p:nvPr/>
        </p:nvSpPr>
        <p:spPr>
          <a:xfrm>
            <a:off x="2935224" y="4910328"/>
            <a:ext cx="3822191" cy="658368"/>
          </a:xfrm>
          <a:prstGeom prst="rect">
            <a:avLst/>
          </a:prstGeom>
          <a:noFill/>
        </p:spPr>
        <p:txBody>
          <a:bodyPr wrap="square" lIns="0" tIns="0" rIns="0" bIns="0" anchor="t">
            <a:spAutoFit/>
          </a:bodyPr>
          <a:lstStyle/>
          <a:p>
            <a:pPr algn="l"/>
            <a:r>
              <a:rPr sz="1150" b="0">
                <a:solidFill>
                  <a:srgbClr val="3C4A5A"/>
                </a:solidFill>
                <a:latin typeface="Calibri"/>
              </a:rPr>
              <a:t>Não existia. A coluna era uma chave repetida dentro de cada dicionário.</a:t>
            </a:r>
          </a:p>
        </p:txBody>
      </p:sp>
      <p:sp>
        <p:nvSpPr>
          <p:cNvPr id="28" name="TextBox 27"/>
          <p:cNvSpPr txBox="1"/>
          <p:nvPr/>
        </p:nvSpPr>
        <p:spPr>
          <a:xfrm>
            <a:off x="7415783" y="4910328"/>
            <a:ext cx="3968496" cy="658368"/>
          </a:xfrm>
          <a:prstGeom prst="rect">
            <a:avLst/>
          </a:prstGeom>
          <a:noFill/>
        </p:spPr>
        <p:txBody>
          <a:bodyPr wrap="square" lIns="0" tIns="0" rIns="0" bIns="0" anchor="t">
            <a:spAutoFit/>
          </a:bodyPr>
          <a:lstStyle/>
          <a:p>
            <a:pPr algn="l"/>
            <a:r>
              <a:rPr sz="1150" b="0">
                <a:solidFill>
                  <a:srgbClr val="16202C"/>
                </a:solidFill>
                <a:latin typeface="Calibri"/>
              </a:rPr>
              <a:t>Existe e tem nome: </a:t>
            </a:r>
            <a:r>
              <a:rPr sz="1100" b="0">
                <a:solidFill>
                  <a:srgbClr val="023A78"/>
                </a:solidFill>
                <a:latin typeface="Courier New"/>
              </a:rPr>
              <a:t>processos["reu"]</a:t>
            </a:r>
            <a:r>
              <a:rPr sz="1150" b="0">
                <a:solidFill>
                  <a:srgbClr val="16202C"/>
                </a:solidFill>
                <a:latin typeface="Calibri"/>
              </a:rPr>
              <a:t> devolve uma Series, com tipo próprio.</a:t>
            </a:r>
          </a:p>
        </p:txBody>
      </p:sp>
      <p:sp>
        <p:nvSpPr>
          <p:cNvPr id="29" name="TextBox 28"/>
          <p:cNvSpPr txBox="1"/>
          <p:nvPr/>
        </p:nvSpPr>
        <p:spPr>
          <a:xfrm>
            <a:off x="566928" y="5888736"/>
            <a:ext cx="11055096" cy="292608"/>
          </a:xfrm>
          <a:prstGeom prst="rect">
            <a:avLst/>
          </a:prstGeom>
          <a:noFill/>
        </p:spPr>
        <p:txBody>
          <a:bodyPr wrap="square" lIns="0" tIns="0" rIns="0" bIns="0" anchor="t">
            <a:spAutoFit/>
          </a:bodyPr>
          <a:lstStyle/>
          <a:p>
            <a:pPr algn="l"/>
            <a:r>
              <a:rPr sz="1500" b="1">
                <a:solidFill>
                  <a:srgbClr val="023A78"/>
                </a:solidFill>
                <a:latin typeface="Calibri"/>
              </a:rPr>
              <a:t>A gramática é a mesma: objeto, atributo sem parênteses, método com parênteses. O DataFrame é essa mesma ideia, crescida.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pandas por fora: a biblioteca e o DataFrame</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7</a:t>
            </a:r>
            <a:endParaRPr lang="en-US" sz="900" dirty="0"/>
          </a:p>
        </p:txBody>
      </p:sp>
      <p:sp>
        <p:nvSpPr>
          <p:cNvPr id="6" name="TextBox 5"/>
          <p:cNvSpPr txBox="1"/>
          <p:nvPr/>
        </p:nvSpPr>
        <p:spPr>
          <a:xfrm>
            <a:off x="566928" y="1298448"/>
            <a:ext cx="11055096" cy="238527"/>
          </a:xfrm>
          <a:prstGeom prst="rect">
            <a:avLst/>
          </a:prstGeom>
          <a:noFill/>
        </p:spPr>
        <p:txBody>
          <a:bodyPr wrap="square" lIns="0" tIns="0" rIns="0" bIns="0" anchor="t">
            <a:spAutoFit/>
          </a:bodyPr>
          <a:lstStyle/>
          <a:p>
            <a:pPr algn="l"/>
            <a:r>
              <a:rPr sz="1550" b="0" dirty="0">
                <a:solidFill>
                  <a:srgbClr val="16202C"/>
                </a:solidFill>
                <a:latin typeface="Calibri"/>
              </a:rPr>
              <a:t>O pandas é </a:t>
            </a:r>
            <a:r>
              <a:rPr sz="1550" b="0" dirty="0" err="1">
                <a:solidFill>
                  <a:srgbClr val="16202C"/>
                </a:solidFill>
                <a:latin typeface="Calibri"/>
              </a:rPr>
              <a:t>uma</a:t>
            </a:r>
            <a:r>
              <a:rPr sz="1550" b="0" dirty="0">
                <a:solidFill>
                  <a:srgbClr val="16202C"/>
                </a:solidFill>
                <a:latin typeface="Calibri"/>
              </a:rPr>
              <a:t> </a:t>
            </a:r>
            <a:r>
              <a:rPr sz="1550" b="0" dirty="0" err="1">
                <a:solidFill>
                  <a:srgbClr val="16202C"/>
                </a:solidFill>
                <a:latin typeface="Calibri"/>
              </a:rPr>
              <a:t>biblioteca</a:t>
            </a:r>
            <a:r>
              <a:rPr sz="1550" b="0" dirty="0">
                <a:solidFill>
                  <a:srgbClr val="16202C"/>
                </a:solidFill>
                <a:latin typeface="Calibri"/>
              </a:rPr>
              <a:t>: </a:t>
            </a:r>
            <a:r>
              <a:rPr sz="1550" b="0" dirty="0" err="1">
                <a:solidFill>
                  <a:srgbClr val="16202C"/>
                </a:solidFill>
                <a:latin typeface="Calibri"/>
              </a:rPr>
              <a:t>uma</a:t>
            </a:r>
            <a:r>
              <a:rPr sz="1550" b="0" dirty="0">
                <a:solidFill>
                  <a:srgbClr val="16202C"/>
                </a:solidFill>
                <a:latin typeface="Calibri"/>
              </a:rPr>
              <a:t> </a:t>
            </a:r>
            <a:r>
              <a:rPr sz="1550" b="0" dirty="0" err="1">
                <a:solidFill>
                  <a:srgbClr val="16202C"/>
                </a:solidFill>
                <a:latin typeface="Calibri"/>
              </a:rPr>
              <a:t>caixa</a:t>
            </a:r>
            <a:r>
              <a:rPr sz="1550" b="0" dirty="0">
                <a:solidFill>
                  <a:srgbClr val="16202C"/>
                </a:solidFill>
                <a:latin typeface="Calibri"/>
              </a:rPr>
              <a:t> de ferramentas </a:t>
            </a:r>
            <a:r>
              <a:rPr sz="1550" b="0" dirty="0" err="1">
                <a:solidFill>
                  <a:srgbClr val="16202C"/>
                </a:solidFill>
                <a:latin typeface="Calibri"/>
              </a:rPr>
              <a:t>já</a:t>
            </a:r>
            <a:r>
              <a:rPr sz="1550" b="0" dirty="0">
                <a:solidFill>
                  <a:srgbClr val="16202C"/>
                </a:solidFill>
                <a:latin typeface="Calibri"/>
              </a:rPr>
              <a:t> </a:t>
            </a:r>
            <a:r>
              <a:rPr sz="1550" b="0" dirty="0" err="1">
                <a:solidFill>
                  <a:srgbClr val="16202C"/>
                </a:solidFill>
                <a:latin typeface="Calibri"/>
              </a:rPr>
              <a:t>montada</a:t>
            </a:r>
            <a:r>
              <a:rPr sz="1550" b="0" dirty="0">
                <a:solidFill>
                  <a:srgbClr val="16202C"/>
                </a:solidFill>
                <a:latin typeface="Calibri"/>
              </a:rPr>
              <a:t>. O </a:t>
            </a:r>
            <a:r>
              <a:rPr sz="1550" b="0" dirty="0" err="1">
                <a:solidFill>
                  <a:srgbClr val="16202C"/>
                </a:solidFill>
                <a:latin typeface="Calibri"/>
              </a:rPr>
              <a:t>DataFrame</a:t>
            </a:r>
            <a:r>
              <a:rPr sz="1550" b="0" dirty="0">
                <a:solidFill>
                  <a:srgbClr val="16202C"/>
                </a:solidFill>
                <a:latin typeface="Calibri"/>
              </a:rPr>
              <a:t> é </a:t>
            </a:r>
            <a:r>
              <a:rPr lang="en-US" sz="1550" dirty="0">
                <a:solidFill>
                  <a:srgbClr val="16202C"/>
                </a:solidFill>
                <a:latin typeface="Calibri"/>
              </a:rPr>
              <a:t>a principal ferramenta</a:t>
            </a:r>
            <a:r>
              <a:rPr sz="1550" b="0" dirty="0">
                <a:solidFill>
                  <a:srgbClr val="16202C"/>
                </a:solidFill>
                <a:latin typeface="Calibri"/>
              </a:rPr>
              <a:t> dela.</a:t>
            </a:r>
          </a:p>
        </p:txBody>
      </p:sp>
      <p:sp>
        <p:nvSpPr>
          <p:cNvPr id="7" name="Rounded Rectangle 6"/>
          <p:cNvSpPr/>
          <p:nvPr/>
        </p:nvSpPr>
        <p:spPr>
          <a:xfrm>
            <a:off x="566928" y="1737360"/>
            <a:ext cx="7589520" cy="3950208"/>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60" y="1920240"/>
            <a:ext cx="7077456" cy="256032"/>
          </a:xfrm>
          <a:prstGeom prst="rect">
            <a:avLst/>
          </a:prstGeom>
          <a:noFill/>
        </p:spPr>
        <p:txBody>
          <a:bodyPr wrap="square" lIns="0" tIns="0" rIns="0" bIns="0" anchor="t">
            <a:spAutoFit/>
          </a:bodyPr>
          <a:lstStyle/>
          <a:p>
            <a:pPr algn="l"/>
            <a:r>
              <a:rPr sz="1450" b="1">
                <a:solidFill>
                  <a:srgbClr val="023A78"/>
                </a:solidFill>
                <a:latin typeface="Courier New"/>
              </a:rPr>
              <a:t>pandas</a:t>
            </a:r>
            <a:r>
              <a:rPr sz="1200" b="0">
                <a:solidFill>
                  <a:srgbClr val="3C4A5A"/>
                </a:solidFill>
                <a:latin typeface="Calibri"/>
              </a:rPr>
              <a:t>   a biblioteca — instala uma vez, importa em todo notebook:  </a:t>
            </a:r>
            <a:r>
              <a:rPr sz="1150" b="0">
                <a:solidFill>
                  <a:srgbClr val="023A78"/>
                </a:solidFill>
                <a:latin typeface="Courier New"/>
              </a:rPr>
              <a:t>import pandas as pd</a:t>
            </a:r>
          </a:p>
        </p:txBody>
      </p:sp>
      <p:sp>
        <p:nvSpPr>
          <p:cNvPr id="9" name="Rounded Rectangle 8"/>
          <p:cNvSpPr/>
          <p:nvPr/>
        </p:nvSpPr>
        <p:spPr>
          <a:xfrm>
            <a:off x="822960" y="2304288"/>
            <a:ext cx="7077456" cy="932688"/>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42416" y="2450592"/>
            <a:ext cx="6638544" cy="640080"/>
          </a:xfrm>
          <a:prstGeom prst="rect">
            <a:avLst/>
          </a:prstGeom>
          <a:noFill/>
        </p:spPr>
        <p:txBody>
          <a:bodyPr wrap="square" lIns="0" tIns="0" rIns="0" bIns="0" anchor="t">
            <a:spAutoFit/>
          </a:bodyPr>
          <a:lstStyle/>
          <a:p>
            <a:pPr algn="l"/>
            <a:r>
              <a:rPr sz="1250" b="1">
                <a:solidFill>
                  <a:srgbClr val="023A78"/>
                </a:solidFill>
                <a:latin typeface="Calibri"/>
              </a:rPr>
              <a:t>funções da biblioteca</a:t>
            </a:r>
            <a:r>
              <a:rPr sz="1150" b="0">
                <a:solidFill>
                  <a:srgbClr val="3C4A5A"/>
                </a:solidFill>
                <a:latin typeface="Calibri"/>
              </a:rPr>
              <a:t>   elementos da própria biblioteca: chamados pelo </a:t>
            </a:r>
            <a:r>
              <a:rPr sz="1100" b="0">
                <a:solidFill>
                  <a:srgbClr val="023A78"/>
                </a:solidFill>
                <a:latin typeface="Courier New"/>
              </a:rPr>
              <a:t>pd</a:t>
            </a:r>
            <a:r>
              <a:rPr sz="1150" b="0">
                <a:solidFill>
                  <a:srgbClr val="3C4A5A"/>
                </a:solidFill>
                <a:latin typeface="Calibri"/>
              </a:rPr>
              <a:t>, sem precisar de nenhum objeto</a:t>
            </a:r>
          </a:p>
          <a:p>
            <a:pPr algn="l">
              <a:spcBef>
                <a:spcPts val="500"/>
              </a:spcBef>
            </a:pPr>
            <a:r>
              <a:rPr sz="1150" b="0">
                <a:solidFill>
                  <a:srgbClr val="023A78"/>
                </a:solidFill>
                <a:latin typeface="Courier New"/>
              </a:rPr>
              <a:t>pd.read_csv("processos.csv")</a:t>
            </a:r>
            <a:r>
              <a:rPr sz="1100" b="0">
                <a:solidFill>
                  <a:srgbClr val="9AA8B6"/>
                </a:solidFill>
                <a:latin typeface="Calibri"/>
              </a:rPr>
              <a:t>     o que ela usa vai dentro dos parênteses</a:t>
            </a:r>
          </a:p>
        </p:txBody>
      </p:sp>
      <p:sp>
        <p:nvSpPr>
          <p:cNvPr id="11" name="Rounded Rectangle 10"/>
          <p:cNvSpPr/>
          <p:nvPr/>
        </p:nvSpPr>
        <p:spPr>
          <a:xfrm>
            <a:off x="822960" y="3438144"/>
            <a:ext cx="7077456" cy="1901952"/>
          </a:xfrm>
          <a:prstGeom prst="roundRect">
            <a:avLst>
              <a:gd name="adj" fmla="val 5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42416" y="3584448"/>
            <a:ext cx="6638544" cy="548640"/>
          </a:xfrm>
          <a:prstGeom prst="rect">
            <a:avLst/>
          </a:prstGeom>
          <a:noFill/>
        </p:spPr>
        <p:txBody>
          <a:bodyPr wrap="square" lIns="0" tIns="0" rIns="0" bIns="0" anchor="t">
            <a:spAutoFit/>
          </a:bodyPr>
          <a:lstStyle/>
          <a:p>
            <a:pPr algn="l"/>
            <a:r>
              <a:rPr sz="1250" b="1">
                <a:solidFill>
                  <a:srgbClr val="023A78"/>
                </a:solidFill>
                <a:latin typeface="Courier New"/>
              </a:rPr>
              <a:t>DataFrame</a:t>
            </a:r>
            <a:r>
              <a:rPr sz="1150" b="0">
                <a:solidFill>
                  <a:srgbClr val="3C4A5A"/>
                </a:solidFill>
                <a:latin typeface="Calibri"/>
              </a:rPr>
              <a:t>   a classe que mora dentro da biblioteca — o molde da tabela</a:t>
            </a:r>
          </a:p>
          <a:p>
            <a:pPr algn="l">
              <a:spcBef>
                <a:spcPts val="500"/>
              </a:spcBef>
            </a:pPr>
            <a:r>
              <a:rPr sz="1150" b="0">
                <a:solidFill>
                  <a:srgbClr val="023A78"/>
                </a:solidFill>
                <a:latin typeface="Courier New"/>
              </a:rPr>
              <a:t>processos = pd.DataFrame(dados)</a:t>
            </a:r>
            <a:r>
              <a:rPr sz="1100" b="0">
                <a:solidFill>
                  <a:srgbClr val="9AA8B6"/>
                </a:solidFill>
                <a:latin typeface="Calibri"/>
              </a:rPr>
              <a:t>     daqui sai o objeto</a:t>
            </a:r>
          </a:p>
        </p:txBody>
      </p:sp>
      <p:sp>
        <p:nvSpPr>
          <p:cNvPr id="13" name="Rounded Rectangle 12"/>
          <p:cNvSpPr/>
          <p:nvPr/>
        </p:nvSpPr>
        <p:spPr>
          <a:xfrm>
            <a:off x="1042416" y="4370832"/>
            <a:ext cx="3209544" cy="804672"/>
          </a:xfrm>
          <a:prstGeom prst="roundRect">
            <a:avLst>
              <a:gd name="adj" fmla="val 8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07008" y="4480560"/>
            <a:ext cx="2880360" cy="603504"/>
          </a:xfrm>
          <a:prstGeom prst="rect">
            <a:avLst/>
          </a:prstGeom>
          <a:noFill/>
        </p:spPr>
        <p:txBody>
          <a:bodyPr wrap="square" lIns="0" tIns="0" rIns="0" bIns="0" anchor="t">
            <a:spAutoFit/>
          </a:bodyPr>
          <a:lstStyle/>
          <a:p>
            <a:pPr algn="l"/>
            <a:r>
              <a:rPr sz="1200" b="1">
                <a:solidFill>
                  <a:srgbClr val="023A78"/>
                </a:solidFill>
                <a:latin typeface="Calibri"/>
              </a:rPr>
              <a:t>atributos</a:t>
            </a:r>
          </a:p>
          <a:p>
            <a:pPr algn="l">
              <a:spcBef>
                <a:spcPts val="300"/>
              </a:spcBef>
            </a:pPr>
            <a:r>
              <a:rPr sz="1100" b="0">
                <a:solidFill>
                  <a:srgbClr val="16202C"/>
                </a:solidFill>
                <a:latin typeface="Courier New"/>
              </a:rPr>
              <a:t>.shape    .columns    .dtypes</a:t>
            </a:r>
          </a:p>
          <a:p>
            <a:pPr algn="l">
              <a:spcBef>
                <a:spcPts val="300"/>
              </a:spcBef>
            </a:pPr>
            <a:r>
              <a:rPr sz="1000" b="0">
                <a:solidFill>
                  <a:srgbClr val="9AA8B6"/>
                </a:solidFill>
                <a:latin typeface="Calibri"/>
              </a:rPr>
              <a:t>sem parênteses: informação já guardada</a:t>
            </a:r>
          </a:p>
        </p:txBody>
      </p:sp>
      <p:sp>
        <p:nvSpPr>
          <p:cNvPr id="15" name="Rounded Rectangle 14"/>
          <p:cNvSpPr/>
          <p:nvPr/>
        </p:nvSpPr>
        <p:spPr>
          <a:xfrm>
            <a:off x="4471416" y="4370832"/>
            <a:ext cx="3209544" cy="804672"/>
          </a:xfrm>
          <a:prstGeom prst="roundRect">
            <a:avLst>
              <a:gd name="adj" fmla="val 8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36008" y="4480560"/>
            <a:ext cx="2880360" cy="603504"/>
          </a:xfrm>
          <a:prstGeom prst="rect">
            <a:avLst/>
          </a:prstGeom>
          <a:noFill/>
        </p:spPr>
        <p:txBody>
          <a:bodyPr wrap="square" lIns="0" tIns="0" rIns="0" bIns="0" anchor="t">
            <a:spAutoFit/>
          </a:bodyPr>
          <a:lstStyle/>
          <a:p>
            <a:pPr algn="l"/>
            <a:r>
              <a:rPr sz="1200" b="1">
                <a:solidFill>
                  <a:srgbClr val="023A78"/>
                </a:solidFill>
                <a:latin typeface="Calibri"/>
              </a:rPr>
              <a:t>métodos</a:t>
            </a:r>
          </a:p>
          <a:p>
            <a:pPr algn="l">
              <a:spcBef>
                <a:spcPts val="300"/>
              </a:spcBef>
            </a:pPr>
            <a:r>
              <a:rPr sz="1100" b="0">
                <a:solidFill>
                  <a:srgbClr val="16202C"/>
                </a:solidFill>
                <a:latin typeface="Courier New"/>
              </a:rPr>
              <a:t>.head()   .query()   .groupby()</a:t>
            </a:r>
          </a:p>
          <a:p>
            <a:pPr algn="l">
              <a:spcBef>
                <a:spcPts val="300"/>
              </a:spcBef>
            </a:pPr>
            <a:r>
              <a:rPr sz="1000" b="0">
                <a:solidFill>
                  <a:srgbClr val="9AA8B6"/>
                </a:solidFill>
                <a:latin typeface="Calibri"/>
              </a:rPr>
              <a:t>com parênteses: ação feita na hora</a:t>
            </a:r>
          </a:p>
        </p:txBody>
      </p:sp>
      <p:sp>
        <p:nvSpPr>
          <p:cNvPr id="17" name="Rounded Rectangle 16"/>
          <p:cNvSpPr/>
          <p:nvPr/>
        </p:nvSpPr>
        <p:spPr>
          <a:xfrm>
            <a:off x="8412480" y="1737360"/>
            <a:ext cx="3209544" cy="3950208"/>
          </a:xfrm>
          <a:prstGeom prst="roundRect">
            <a:avLst>
              <a:gd name="adj" fmla="val 5000"/>
            </a:avLst>
          </a:prstGeom>
          <a:solidFill>
            <a:srgbClr val="E8F0FA"/>
          </a:solidFill>
          <a:ln w="9525">
            <a:solidFill>
              <a:srgbClr val="D2E0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650224" y="1920240"/>
            <a:ext cx="2734056" cy="274320"/>
          </a:xfrm>
          <a:prstGeom prst="rect">
            <a:avLst/>
          </a:prstGeom>
          <a:noFill/>
        </p:spPr>
        <p:txBody>
          <a:bodyPr wrap="square" lIns="0" tIns="0" rIns="0" bIns="0" anchor="t">
            <a:spAutoFit/>
          </a:bodyPr>
          <a:lstStyle/>
          <a:p>
            <a:pPr algn="l"/>
            <a:r>
              <a:rPr sz="1400" b="1">
                <a:solidFill>
                  <a:srgbClr val="023A78"/>
                </a:solidFill>
                <a:latin typeface="Calibri"/>
              </a:rPr>
              <a:t>E na classe Tabela?</a:t>
            </a:r>
          </a:p>
        </p:txBody>
      </p:sp>
      <p:sp>
        <p:nvSpPr>
          <p:cNvPr id="19" name="TextBox 18"/>
          <p:cNvSpPr txBox="1"/>
          <p:nvPr/>
        </p:nvSpPr>
        <p:spPr>
          <a:xfrm>
            <a:off x="8650224" y="2340864"/>
            <a:ext cx="2734056" cy="731520"/>
          </a:xfrm>
          <a:prstGeom prst="rect">
            <a:avLst/>
          </a:prstGeom>
          <a:noFill/>
        </p:spPr>
        <p:txBody>
          <a:bodyPr wrap="square" lIns="0" tIns="0" rIns="0" bIns="0" anchor="t">
            <a:spAutoFit/>
          </a:bodyPr>
          <a:lstStyle/>
          <a:p>
            <a:pPr algn="l"/>
            <a:r>
              <a:rPr sz="1200" b="1">
                <a:solidFill>
                  <a:srgbClr val="023A78"/>
                </a:solidFill>
                <a:latin typeface="Calibri"/>
              </a:rPr>
              <a:t>Atributos</a:t>
            </a:r>
          </a:p>
          <a:p>
            <a:pPr algn="l">
              <a:spcBef>
                <a:spcPts val="200"/>
              </a:spcBef>
            </a:pPr>
            <a:r>
              <a:rPr sz="1150" b="0">
                <a:solidFill>
                  <a:srgbClr val="3C4A5A"/>
                </a:solidFill>
                <a:latin typeface="Calibri"/>
              </a:rPr>
              <a:t>existiam: linhas e shape.</a:t>
            </a:r>
          </a:p>
        </p:txBody>
      </p:sp>
      <p:sp>
        <p:nvSpPr>
          <p:cNvPr id="20" name="TextBox 19"/>
          <p:cNvSpPr txBox="1"/>
          <p:nvPr/>
        </p:nvSpPr>
        <p:spPr>
          <a:xfrm>
            <a:off x="8650224" y="3182112"/>
            <a:ext cx="2734056" cy="731520"/>
          </a:xfrm>
          <a:prstGeom prst="rect">
            <a:avLst/>
          </a:prstGeom>
          <a:noFill/>
        </p:spPr>
        <p:txBody>
          <a:bodyPr wrap="square" lIns="0" tIns="0" rIns="0" bIns="0" anchor="t">
            <a:spAutoFit/>
          </a:bodyPr>
          <a:lstStyle/>
          <a:p>
            <a:pPr algn="l"/>
            <a:r>
              <a:rPr sz="1200" b="1">
                <a:solidFill>
                  <a:srgbClr val="023A78"/>
                </a:solidFill>
                <a:latin typeface="Calibri"/>
              </a:rPr>
              <a:t>Métodos</a:t>
            </a:r>
          </a:p>
          <a:p>
            <a:pPr algn="l">
              <a:spcBef>
                <a:spcPts val="200"/>
              </a:spcBef>
            </a:pPr>
            <a:r>
              <a:rPr sz="1150" b="0">
                <a:solidFill>
                  <a:srgbClr val="3C4A5A"/>
                </a:solidFill>
                <a:latin typeface="Calibri"/>
              </a:rPr>
              <a:t>existiam, e eram dois: head() e contar().</a:t>
            </a:r>
          </a:p>
        </p:txBody>
      </p:sp>
      <p:sp>
        <p:nvSpPr>
          <p:cNvPr id="21" name="TextBox 20"/>
          <p:cNvSpPr txBox="1"/>
          <p:nvPr/>
        </p:nvSpPr>
        <p:spPr>
          <a:xfrm>
            <a:off x="8650224" y="4023360"/>
            <a:ext cx="2734056" cy="731520"/>
          </a:xfrm>
          <a:prstGeom prst="rect">
            <a:avLst/>
          </a:prstGeom>
          <a:noFill/>
        </p:spPr>
        <p:txBody>
          <a:bodyPr wrap="square" lIns="0" tIns="0" rIns="0" bIns="0" anchor="t">
            <a:spAutoFit/>
          </a:bodyPr>
          <a:lstStyle/>
          <a:p>
            <a:pPr algn="l"/>
            <a:r>
              <a:rPr sz="1200" b="1">
                <a:solidFill>
                  <a:srgbClr val="023A78"/>
                </a:solidFill>
                <a:latin typeface="Calibri"/>
              </a:rPr>
              <a:t>Funções de biblioteca</a:t>
            </a:r>
          </a:p>
          <a:p>
            <a:pPr algn="l">
              <a:spcBef>
                <a:spcPts val="200"/>
              </a:spcBef>
            </a:pPr>
            <a:r>
              <a:rPr sz="1150" b="0">
                <a:solidFill>
                  <a:srgbClr val="3C4A5A"/>
                </a:solidFill>
                <a:latin typeface="Calibri"/>
              </a:rPr>
              <a:t>não existiam. Só as de Python, como len().</a:t>
            </a:r>
          </a:p>
        </p:txBody>
      </p:sp>
      <p:sp>
        <p:nvSpPr>
          <p:cNvPr id="22" name="TextBox 21"/>
          <p:cNvSpPr txBox="1"/>
          <p:nvPr/>
        </p:nvSpPr>
        <p:spPr>
          <a:xfrm>
            <a:off x="8650224" y="5029200"/>
            <a:ext cx="2734056" cy="731520"/>
          </a:xfrm>
          <a:prstGeom prst="rect">
            <a:avLst/>
          </a:prstGeom>
          <a:noFill/>
        </p:spPr>
        <p:txBody>
          <a:bodyPr wrap="square" lIns="0" tIns="0" rIns="0" bIns="0" anchor="t">
            <a:spAutoFit/>
          </a:bodyPr>
          <a:lstStyle/>
          <a:p>
            <a:pPr algn="l"/>
            <a:r>
              <a:rPr sz="1150" b="1">
                <a:solidFill>
                  <a:srgbClr val="023A78"/>
                </a:solidFill>
                <a:latin typeface="Calibri"/>
              </a:rPr>
              <a:t>A diferença não é de ideia: é de quantidade e de acabamento.</a:t>
            </a:r>
          </a:p>
        </p:txBody>
      </p:sp>
      <p:sp>
        <p:nvSpPr>
          <p:cNvPr id="23" name="TextBox 22"/>
          <p:cNvSpPr txBox="1"/>
          <p:nvPr/>
        </p:nvSpPr>
        <p:spPr>
          <a:xfrm>
            <a:off x="566928" y="5888736"/>
            <a:ext cx="11055096" cy="292608"/>
          </a:xfrm>
          <a:prstGeom prst="rect">
            <a:avLst/>
          </a:prstGeom>
          <a:noFill/>
        </p:spPr>
        <p:txBody>
          <a:bodyPr wrap="square" lIns="0" tIns="0" rIns="0" bIns="0" anchor="t">
            <a:spAutoFit/>
          </a:bodyPr>
          <a:lstStyle/>
          <a:p>
            <a:pPr algn="l"/>
            <a:r>
              <a:rPr sz="1400" b="1">
                <a:solidFill>
                  <a:srgbClr val="023A78"/>
                </a:solidFill>
                <a:latin typeface="Calibri"/>
              </a:rPr>
              <a:t>Como saber qual é qual:  </a:t>
            </a:r>
            <a:r>
              <a:rPr sz="1300" b="0">
                <a:solidFill>
                  <a:srgbClr val="023A78"/>
                </a:solidFill>
                <a:latin typeface="Courier New"/>
              </a:rPr>
              <a:t>pd.alguma_coisa()</a:t>
            </a:r>
            <a:r>
              <a:rPr sz="1400" b="0">
                <a:solidFill>
                  <a:srgbClr val="16202C"/>
                </a:solidFill>
                <a:latin typeface="Calibri"/>
              </a:rPr>
              <a:t> é função da biblioteca.  </a:t>
            </a:r>
            <a:r>
              <a:rPr sz="1300" b="0">
                <a:solidFill>
                  <a:srgbClr val="023A78"/>
                </a:solidFill>
                <a:latin typeface="Courier New"/>
              </a:rPr>
              <a:t>processos.alguma_coisa()</a:t>
            </a:r>
            <a:r>
              <a:rPr sz="1400" b="0">
                <a:solidFill>
                  <a:srgbClr val="16202C"/>
                </a:solidFill>
                <a:latin typeface="Calibri"/>
              </a:rPr>
              <a:t> é método do objeto.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612A69-AA01-EFA2-CF0D-0B388FB83037}"/>
              </a:ext>
            </a:extLst>
          </p:cNvPr>
          <p:cNvPicPr>
            <a:picLocks noChangeAspect="1"/>
          </p:cNvPicPr>
          <p:nvPr/>
        </p:nvPicPr>
        <p:blipFill>
          <a:blip r:embed="rId2"/>
          <a:stretch>
            <a:fillRect/>
          </a:stretch>
        </p:blipFill>
        <p:spPr>
          <a:xfrm>
            <a:off x="409398" y="454602"/>
            <a:ext cx="11373203" cy="5948795"/>
          </a:xfrm>
          <a:prstGeom prst="rect">
            <a:avLst/>
          </a:prstGeom>
        </p:spPr>
      </p:pic>
      <p:sp>
        <p:nvSpPr>
          <p:cNvPr id="4" name="Oval 3">
            <a:extLst>
              <a:ext uri="{FF2B5EF4-FFF2-40B4-BE49-F238E27FC236}">
                <a16:creationId xmlns:a16="http://schemas.microsoft.com/office/drawing/2014/main" id="{F128FDDC-3618-B5D1-2A9A-8385C8D93140}"/>
              </a:ext>
            </a:extLst>
          </p:cNvPr>
          <p:cNvSpPr/>
          <p:nvPr/>
        </p:nvSpPr>
        <p:spPr>
          <a:xfrm>
            <a:off x="333477" y="1005629"/>
            <a:ext cx="2954009" cy="15634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555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que tem dentro da biblioteca pandas</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8</a:t>
            </a:r>
            <a:endParaRPr lang="en-US" sz="900" dirty="0"/>
          </a:p>
        </p:txBody>
      </p:sp>
      <p:sp>
        <p:nvSpPr>
          <p:cNvPr id="6" name="Rounded Rectangle 5"/>
          <p:cNvSpPr/>
          <p:nvPr/>
        </p:nvSpPr>
        <p:spPr>
          <a:xfrm>
            <a:off x="566928" y="1828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68096" y="2029968"/>
            <a:ext cx="2212848" cy="457200"/>
          </a:xfrm>
          <a:prstGeom prst="rect">
            <a:avLst/>
          </a:prstGeom>
          <a:noFill/>
        </p:spPr>
        <p:txBody>
          <a:bodyPr wrap="square" lIns="0" tIns="0" rIns="0" bIns="0" anchor="t">
            <a:spAutoFit/>
          </a:bodyPr>
          <a:lstStyle/>
          <a:p>
            <a:r>
              <a:rPr sz="1300" b="1">
                <a:solidFill>
                  <a:srgbClr val="023A78"/>
                </a:solidFill>
                <a:latin typeface="Calibri"/>
              </a:rPr>
              <a:t>DataFrame</a:t>
            </a:r>
          </a:p>
          <a:p>
            <a:pPr>
              <a:spcBef>
                <a:spcPts val="100"/>
              </a:spcBef>
            </a:pPr>
            <a:r>
              <a:rPr sz="1050" b="0">
                <a:solidFill>
                  <a:srgbClr val="9AA8B6"/>
                </a:solidFill>
                <a:latin typeface="Calibri"/>
              </a:rPr>
              <a:t>a tabela</a:t>
            </a:r>
          </a:p>
        </p:txBody>
      </p:sp>
      <p:sp>
        <p:nvSpPr>
          <p:cNvPr id="8" name="Rounded Rectangle 7"/>
          <p:cNvSpPr/>
          <p:nvPr/>
        </p:nvSpPr>
        <p:spPr>
          <a:xfrm>
            <a:off x="768096" y="2615184"/>
            <a:ext cx="2212848" cy="310896"/>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59536" y="2670048"/>
            <a:ext cx="2029967" cy="219456"/>
          </a:xfrm>
          <a:prstGeom prst="rect">
            <a:avLst/>
          </a:prstGeom>
          <a:noFill/>
        </p:spPr>
        <p:txBody>
          <a:bodyPr wrap="square" lIns="0" tIns="0" rIns="0" bIns="0" anchor="t">
            <a:spAutoFit/>
          </a:bodyPr>
          <a:lstStyle/>
          <a:p>
            <a:r>
              <a:rPr sz="950" b="1">
                <a:solidFill>
                  <a:srgbClr val="023A78"/>
                </a:solidFill>
                <a:latin typeface="Courier New"/>
              </a:rPr>
              <a:t>pd.DataFrame(dados)</a:t>
            </a:r>
          </a:p>
        </p:txBody>
      </p:sp>
      <p:sp>
        <p:nvSpPr>
          <p:cNvPr id="10" name="TextBox 9"/>
          <p:cNvSpPr txBox="1"/>
          <p:nvPr/>
        </p:nvSpPr>
        <p:spPr>
          <a:xfrm>
            <a:off x="768096" y="3090672"/>
            <a:ext cx="2212848" cy="731520"/>
          </a:xfrm>
          <a:prstGeom prst="rect">
            <a:avLst/>
          </a:prstGeom>
          <a:noFill/>
        </p:spPr>
        <p:txBody>
          <a:bodyPr wrap="square" lIns="0" tIns="0" rIns="0" bIns="0" anchor="t">
            <a:spAutoFit/>
          </a:bodyPr>
          <a:lstStyle/>
          <a:p>
            <a:r>
              <a:rPr sz="1050" b="0">
                <a:solidFill>
                  <a:srgbClr val="3C4A5A"/>
                </a:solidFill>
                <a:latin typeface="Calibri"/>
              </a:rPr>
              <a:t>A tabela inteira: linhas, colunas e índice.</a:t>
            </a:r>
          </a:p>
        </p:txBody>
      </p:sp>
      <p:sp>
        <p:nvSpPr>
          <p:cNvPr id="11" name="Rounded Rectangle 10"/>
          <p:cNvSpPr/>
          <p:nvPr/>
        </p:nvSpPr>
        <p:spPr>
          <a:xfrm>
            <a:off x="3383280" y="1828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584448" y="2029968"/>
            <a:ext cx="2212848" cy="457200"/>
          </a:xfrm>
          <a:prstGeom prst="rect">
            <a:avLst/>
          </a:prstGeom>
          <a:noFill/>
        </p:spPr>
        <p:txBody>
          <a:bodyPr wrap="square" lIns="0" tIns="0" rIns="0" bIns="0" anchor="t">
            <a:spAutoFit/>
          </a:bodyPr>
          <a:lstStyle/>
          <a:p>
            <a:r>
              <a:rPr sz="1300" b="1">
                <a:solidFill>
                  <a:srgbClr val="023A78"/>
                </a:solidFill>
                <a:latin typeface="Calibri"/>
              </a:rPr>
              <a:t>Tabela cruzada</a:t>
            </a:r>
          </a:p>
          <a:p>
            <a:pPr>
              <a:spcBef>
                <a:spcPts val="100"/>
              </a:spcBef>
            </a:pPr>
            <a:r>
              <a:rPr sz="1050" b="0">
                <a:solidFill>
                  <a:srgbClr val="9AA8B6"/>
                </a:solidFill>
                <a:latin typeface="Calibri"/>
              </a:rPr>
              <a:t>dupla entrada</a:t>
            </a:r>
          </a:p>
        </p:txBody>
      </p:sp>
      <p:sp>
        <p:nvSpPr>
          <p:cNvPr id="13" name="Rounded Rectangle 12"/>
          <p:cNvSpPr/>
          <p:nvPr/>
        </p:nvSpPr>
        <p:spPr>
          <a:xfrm>
            <a:off x="3584448" y="2615184"/>
            <a:ext cx="2212848" cy="310896"/>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75888" y="2670048"/>
            <a:ext cx="2029967" cy="219456"/>
          </a:xfrm>
          <a:prstGeom prst="rect">
            <a:avLst/>
          </a:prstGeom>
          <a:noFill/>
        </p:spPr>
        <p:txBody>
          <a:bodyPr wrap="square" lIns="0" tIns="0" rIns="0" bIns="0" anchor="t">
            <a:spAutoFit/>
          </a:bodyPr>
          <a:lstStyle/>
          <a:p>
            <a:r>
              <a:rPr sz="950" b="1">
                <a:solidFill>
                  <a:srgbClr val="023A78"/>
                </a:solidFill>
                <a:latin typeface="Courier New"/>
              </a:rPr>
              <a:t>pd.crosstab(col1, col2)</a:t>
            </a:r>
          </a:p>
        </p:txBody>
      </p:sp>
      <p:sp>
        <p:nvSpPr>
          <p:cNvPr id="15" name="TextBox 14"/>
          <p:cNvSpPr txBox="1"/>
          <p:nvPr/>
        </p:nvSpPr>
        <p:spPr>
          <a:xfrm>
            <a:off x="3584448" y="3090672"/>
            <a:ext cx="2212848" cy="731520"/>
          </a:xfrm>
          <a:prstGeom prst="rect">
            <a:avLst/>
          </a:prstGeom>
          <a:noFill/>
        </p:spPr>
        <p:txBody>
          <a:bodyPr wrap="square" lIns="0" tIns="0" rIns="0" bIns="0" anchor="t">
            <a:spAutoFit/>
          </a:bodyPr>
          <a:lstStyle/>
          <a:p>
            <a:r>
              <a:rPr sz="1050" b="0">
                <a:solidFill>
                  <a:srgbClr val="3C4A5A"/>
                </a:solidFill>
                <a:latin typeface="Calibri"/>
              </a:rPr>
              <a:t>Resultado por tribunal numa tabela de duas entradas.</a:t>
            </a:r>
          </a:p>
        </p:txBody>
      </p:sp>
      <p:sp>
        <p:nvSpPr>
          <p:cNvPr id="16" name="Rounded Rectangle 15"/>
          <p:cNvSpPr/>
          <p:nvPr/>
        </p:nvSpPr>
        <p:spPr>
          <a:xfrm>
            <a:off x="6199632" y="1828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00800" y="2029968"/>
            <a:ext cx="2212848" cy="457200"/>
          </a:xfrm>
          <a:prstGeom prst="rect">
            <a:avLst/>
          </a:prstGeom>
          <a:noFill/>
        </p:spPr>
        <p:txBody>
          <a:bodyPr wrap="square" lIns="0" tIns="0" rIns="0" bIns="0" anchor="t">
            <a:spAutoFit/>
          </a:bodyPr>
          <a:lstStyle/>
          <a:p>
            <a:r>
              <a:rPr sz="1300" b="1">
                <a:solidFill>
                  <a:srgbClr val="023A78"/>
                </a:solidFill>
                <a:latin typeface="Calibri"/>
              </a:rPr>
              <a:t>Gráfico</a:t>
            </a:r>
          </a:p>
          <a:p>
            <a:pPr>
              <a:spcBef>
                <a:spcPts val="100"/>
              </a:spcBef>
            </a:pPr>
            <a:r>
              <a:rPr sz="1050" b="0">
                <a:solidFill>
                  <a:srgbClr val="9AA8B6"/>
                </a:solidFill>
                <a:latin typeface="Calibri"/>
              </a:rPr>
              <a:t>direto da tabela</a:t>
            </a:r>
          </a:p>
        </p:txBody>
      </p:sp>
      <p:sp>
        <p:nvSpPr>
          <p:cNvPr id="18" name="Rounded Rectangle 17"/>
          <p:cNvSpPr/>
          <p:nvPr/>
        </p:nvSpPr>
        <p:spPr>
          <a:xfrm>
            <a:off x="6400800" y="2615184"/>
            <a:ext cx="2212848" cy="310896"/>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92240" y="2670048"/>
            <a:ext cx="2029967" cy="219456"/>
          </a:xfrm>
          <a:prstGeom prst="rect">
            <a:avLst/>
          </a:prstGeom>
          <a:noFill/>
        </p:spPr>
        <p:txBody>
          <a:bodyPr wrap="square" lIns="0" tIns="0" rIns="0" bIns="0" anchor="t">
            <a:spAutoFit/>
          </a:bodyPr>
          <a:lstStyle/>
          <a:p>
            <a:r>
              <a:rPr sz="950" b="1">
                <a:solidFill>
                  <a:srgbClr val="023A78"/>
                </a:solidFill>
                <a:latin typeface="Courier New"/>
              </a:rPr>
              <a:t>processos.plot(kind="bar")</a:t>
            </a:r>
          </a:p>
        </p:txBody>
      </p:sp>
      <p:sp>
        <p:nvSpPr>
          <p:cNvPr id="20" name="TextBox 19"/>
          <p:cNvSpPr txBox="1"/>
          <p:nvPr/>
        </p:nvSpPr>
        <p:spPr>
          <a:xfrm>
            <a:off x="6400800" y="3090672"/>
            <a:ext cx="2212848" cy="731520"/>
          </a:xfrm>
          <a:prstGeom prst="rect">
            <a:avLst/>
          </a:prstGeom>
          <a:noFill/>
        </p:spPr>
        <p:txBody>
          <a:bodyPr wrap="square" lIns="0" tIns="0" rIns="0" bIns="0" anchor="t">
            <a:spAutoFit/>
          </a:bodyPr>
          <a:lstStyle/>
          <a:p>
            <a:r>
              <a:rPr sz="1050" b="0">
                <a:solidFill>
                  <a:srgbClr val="3C4A5A"/>
                </a:solidFill>
                <a:latin typeface="Calibri"/>
              </a:rPr>
              <a:t>A tabela vira barra, linha ou pizza.</a:t>
            </a:r>
          </a:p>
        </p:txBody>
      </p:sp>
      <p:sp>
        <p:nvSpPr>
          <p:cNvPr id="21" name="Rounded Rectangle 20"/>
          <p:cNvSpPr/>
          <p:nvPr/>
        </p:nvSpPr>
        <p:spPr>
          <a:xfrm>
            <a:off x="9015984" y="1828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217152" y="2029968"/>
            <a:ext cx="2212848" cy="457200"/>
          </a:xfrm>
          <a:prstGeom prst="rect">
            <a:avLst/>
          </a:prstGeom>
          <a:noFill/>
        </p:spPr>
        <p:txBody>
          <a:bodyPr wrap="square" lIns="0" tIns="0" rIns="0" bIns="0" anchor="t">
            <a:spAutoFit/>
          </a:bodyPr>
          <a:lstStyle/>
          <a:p>
            <a:r>
              <a:rPr sz="1300" b="1">
                <a:solidFill>
                  <a:srgbClr val="023A78"/>
                </a:solidFill>
                <a:latin typeface="Calibri"/>
              </a:rPr>
              <a:t>Outras fontes</a:t>
            </a:r>
          </a:p>
          <a:p>
            <a:pPr>
              <a:spcBef>
                <a:spcPts val="100"/>
              </a:spcBef>
            </a:pPr>
            <a:r>
              <a:rPr sz="1050" b="0">
                <a:solidFill>
                  <a:srgbClr val="9AA8B6"/>
                </a:solidFill>
                <a:latin typeface="Calibri"/>
              </a:rPr>
              <a:t>além do CSV</a:t>
            </a:r>
          </a:p>
        </p:txBody>
      </p:sp>
      <p:sp>
        <p:nvSpPr>
          <p:cNvPr id="23" name="Rounded Rectangle 22"/>
          <p:cNvSpPr/>
          <p:nvPr/>
        </p:nvSpPr>
        <p:spPr>
          <a:xfrm>
            <a:off x="9217152" y="2615184"/>
            <a:ext cx="2212848" cy="51206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308592" y="2670048"/>
            <a:ext cx="2029967" cy="420624"/>
          </a:xfrm>
          <a:prstGeom prst="rect">
            <a:avLst/>
          </a:prstGeom>
          <a:noFill/>
        </p:spPr>
        <p:txBody>
          <a:bodyPr wrap="square" lIns="0" tIns="0" rIns="0" bIns="0" anchor="t">
            <a:spAutoFit/>
          </a:bodyPr>
          <a:lstStyle/>
          <a:p>
            <a:r>
              <a:rPr sz="950" b="1">
                <a:solidFill>
                  <a:srgbClr val="023A78"/>
                </a:solidFill>
                <a:latin typeface="Courier New"/>
              </a:rPr>
              <a:t>pd.read_html(url)</a:t>
            </a:r>
          </a:p>
          <a:p>
            <a:r>
              <a:rPr sz="950" b="1">
                <a:solidFill>
                  <a:srgbClr val="023A78"/>
                </a:solidFill>
                <a:latin typeface="Courier New"/>
              </a:rPr>
              <a:t>pd.read_sql(...)</a:t>
            </a:r>
          </a:p>
        </p:txBody>
      </p:sp>
      <p:sp>
        <p:nvSpPr>
          <p:cNvPr id="25" name="TextBox 24"/>
          <p:cNvSpPr txBox="1"/>
          <p:nvPr/>
        </p:nvSpPr>
        <p:spPr>
          <a:xfrm>
            <a:off x="9217152" y="3291840"/>
            <a:ext cx="2212848" cy="731520"/>
          </a:xfrm>
          <a:prstGeom prst="rect">
            <a:avLst/>
          </a:prstGeom>
          <a:noFill/>
        </p:spPr>
        <p:txBody>
          <a:bodyPr wrap="square" lIns="0" tIns="0" rIns="0" bIns="0" anchor="t">
            <a:spAutoFit/>
          </a:bodyPr>
          <a:lstStyle/>
          <a:p>
            <a:r>
              <a:rPr sz="1050" b="0">
                <a:solidFill>
                  <a:srgbClr val="3C4A5A"/>
                </a:solidFill>
                <a:latin typeface="Calibri"/>
              </a:rPr>
              <a:t>Tabela de uma página da internet ou de um banco de dados.</a:t>
            </a:r>
          </a:p>
        </p:txBody>
      </p:sp>
      <p:sp>
        <p:nvSpPr>
          <p:cNvPr id="26" name="Rounded Rectangle 25"/>
          <p:cNvSpPr/>
          <p:nvPr/>
        </p:nvSpPr>
        <p:spPr>
          <a:xfrm>
            <a:off x="566928" y="4114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68096" y="4315968"/>
            <a:ext cx="2212848" cy="457200"/>
          </a:xfrm>
          <a:prstGeom prst="rect">
            <a:avLst/>
          </a:prstGeom>
          <a:noFill/>
        </p:spPr>
        <p:txBody>
          <a:bodyPr wrap="square" lIns="0" tIns="0" rIns="0" bIns="0" anchor="t">
            <a:spAutoFit/>
          </a:bodyPr>
          <a:lstStyle/>
          <a:p>
            <a:r>
              <a:rPr sz="1300" b="1">
                <a:solidFill>
                  <a:srgbClr val="023A78"/>
                </a:solidFill>
                <a:latin typeface="Calibri"/>
              </a:rPr>
              <a:t>Amostra e repetidos</a:t>
            </a:r>
          </a:p>
          <a:p>
            <a:pPr>
              <a:spcBef>
                <a:spcPts val="100"/>
              </a:spcBef>
            </a:pPr>
            <a:r>
              <a:rPr sz="1050" b="0">
                <a:solidFill>
                  <a:srgbClr val="9AA8B6"/>
                </a:solidFill>
                <a:latin typeface="Calibri"/>
              </a:rPr>
              <a:t>antes de ler à mão</a:t>
            </a:r>
          </a:p>
        </p:txBody>
      </p:sp>
      <p:sp>
        <p:nvSpPr>
          <p:cNvPr id="28" name="Rounded Rectangle 27"/>
          <p:cNvSpPr/>
          <p:nvPr/>
        </p:nvSpPr>
        <p:spPr>
          <a:xfrm>
            <a:off x="768096" y="4901184"/>
            <a:ext cx="2212848" cy="51206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9536" y="4956048"/>
            <a:ext cx="2029967" cy="420624"/>
          </a:xfrm>
          <a:prstGeom prst="rect">
            <a:avLst/>
          </a:prstGeom>
          <a:noFill/>
        </p:spPr>
        <p:txBody>
          <a:bodyPr wrap="square" lIns="0" tIns="0" rIns="0" bIns="0" anchor="t">
            <a:spAutoFit/>
          </a:bodyPr>
          <a:lstStyle/>
          <a:p>
            <a:r>
              <a:rPr sz="950" b="1">
                <a:solidFill>
                  <a:srgbClr val="023A78"/>
                </a:solidFill>
                <a:latin typeface="Courier New"/>
              </a:rPr>
              <a:t>processos.sample(20)</a:t>
            </a:r>
          </a:p>
          <a:p>
            <a:r>
              <a:rPr sz="950" b="1">
                <a:solidFill>
                  <a:srgbClr val="023A78"/>
                </a:solidFill>
                <a:latin typeface="Courier New"/>
              </a:rPr>
              <a:t>drop_duplicates()</a:t>
            </a:r>
          </a:p>
        </p:txBody>
      </p:sp>
      <p:sp>
        <p:nvSpPr>
          <p:cNvPr id="30" name="TextBox 29"/>
          <p:cNvSpPr txBox="1"/>
          <p:nvPr/>
        </p:nvSpPr>
        <p:spPr>
          <a:xfrm>
            <a:off x="768096" y="5577840"/>
            <a:ext cx="2212848" cy="731520"/>
          </a:xfrm>
          <a:prstGeom prst="rect">
            <a:avLst/>
          </a:prstGeom>
          <a:noFill/>
        </p:spPr>
        <p:txBody>
          <a:bodyPr wrap="square" lIns="0" tIns="0" rIns="0" bIns="0" anchor="t">
            <a:spAutoFit/>
          </a:bodyPr>
          <a:lstStyle/>
          <a:p>
            <a:r>
              <a:rPr sz="1050" b="0">
                <a:solidFill>
                  <a:srgbClr val="3C4A5A"/>
                </a:solidFill>
                <a:latin typeface="Calibri"/>
              </a:rPr>
              <a:t>Sortear sentenças para leitura manual; achar processo duplicado.</a:t>
            </a:r>
          </a:p>
        </p:txBody>
      </p:sp>
      <p:sp>
        <p:nvSpPr>
          <p:cNvPr id="31" name="Rounded Rectangle 30"/>
          <p:cNvSpPr/>
          <p:nvPr/>
        </p:nvSpPr>
        <p:spPr>
          <a:xfrm>
            <a:off x="3383280" y="4114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584448" y="4315968"/>
            <a:ext cx="2212848" cy="457200"/>
          </a:xfrm>
          <a:prstGeom prst="rect">
            <a:avLst/>
          </a:prstGeom>
          <a:noFill/>
        </p:spPr>
        <p:txBody>
          <a:bodyPr wrap="square" lIns="0" tIns="0" rIns="0" bIns="0" anchor="t">
            <a:spAutoFit/>
          </a:bodyPr>
          <a:lstStyle/>
          <a:p>
            <a:r>
              <a:rPr sz="1300" b="1">
                <a:solidFill>
                  <a:srgbClr val="023A78"/>
                </a:solidFill>
                <a:latin typeface="Calibri"/>
              </a:rPr>
              <a:t>Faixas</a:t>
            </a:r>
          </a:p>
          <a:p>
            <a:pPr>
              <a:spcBef>
                <a:spcPts val="100"/>
              </a:spcBef>
            </a:pPr>
            <a:r>
              <a:rPr sz="1050" b="0">
                <a:solidFill>
                  <a:srgbClr val="9AA8B6"/>
                </a:solidFill>
                <a:latin typeface="Calibri"/>
              </a:rPr>
              <a:t>número vira categoria</a:t>
            </a:r>
          </a:p>
        </p:txBody>
      </p:sp>
      <p:sp>
        <p:nvSpPr>
          <p:cNvPr id="33" name="Rounded Rectangle 32"/>
          <p:cNvSpPr/>
          <p:nvPr/>
        </p:nvSpPr>
        <p:spPr>
          <a:xfrm>
            <a:off x="3584448" y="4901184"/>
            <a:ext cx="2212848" cy="310896"/>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3675888" y="4956048"/>
            <a:ext cx="2029967" cy="219456"/>
          </a:xfrm>
          <a:prstGeom prst="rect">
            <a:avLst/>
          </a:prstGeom>
          <a:noFill/>
        </p:spPr>
        <p:txBody>
          <a:bodyPr wrap="square" lIns="0" tIns="0" rIns="0" bIns="0" anchor="t">
            <a:spAutoFit/>
          </a:bodyPr>
          <a:lstStyle/>
          <a:p>
            <a:r>
              <a:rPr sz="950" b="1">
                <a:solidFill>
                  <a:srgbClr val="023A78"/>
                </a:solidFill>
                <a:latin typeface="Courier New"/>
              </a:rPr>
              <a:t>pd.cut(valor, faixas)</a:t>
            </a:r>
          </a:p>
        </p:txBody>
      </p:sp>
      <p:sp>
        <p:nvSpPr>
          <p:cNvPr id="35" name="TextBox 34"/>
          <p:cNvSpPr txBox="1"/>
          <p:nvPr/>
        </p:nvSpPr>
        <p:spPr>
          <a:xfrm>
            <a:off x="3584448" y="5376672"/>
            <a:ext cx="2212848" cy="731520"/>
          </a:xfrm>
          <a:prstGeom prst="rect">
            <a:avLst/>
          </a:prstGeom>
          <a:noFill/>
        </p:spPr>
        <p:txBody>
          <a:bodyPr wrap="square" lIns="0" tIns="0" rIns="0" bIns="0" anchor="t">
            <a:spAutoFit/>
          </a:bodyPr>
          <a:lstStyle/>
          <a:p>
            <a:r>
              <a:rPr sz="1050" b="0">
                <a:solidFill>
                  <a:srgbClr val="3C4A5A"/>
                </a:solidFill>
                <a:latin typeface="Calibri"/>
              </a:rPr>
              <a:t>Condenação até 5 mil, de 5 a 20 mil, acima disso.</a:t>
            </a:r>
          </a:p>
        </p:txBody>
      </p:sp>
      <p:sp>
        <p:nvSpPr>
          <p:cNvPr id="36" name="Rounded Rectangle 35"/>
          <p:cNvSpPr/>
          <p:nvPr/>
        </p:nvSpPr>
        <p:spPr>
          <a:xfrm>
            <a:off x="6199632" y="4114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400800" y="4315968"/>
            <a:ext cx="2212848" cy="457200"/>
          </a:xfrm>
          <a:prstGeom prst="rect">
            <a:avLst/>
          </a:prstGeom>
          <a:noFill/>
        </p:spPr>
        <p:txBody>
          <a:bodyPr wrap="square" lIns="0" tIns="0" rIns="0" bIns="0" anchor="t">
            <a:spAutoFit/>
          </a:bodyPr>
          <a:lstStyle/>
          <a:p>
            <a:r>
              <a:rPr sz="1300" b="1">
                <a:solidFill>
                  <a:srgbClr val="023A78"/>
                </a:solidFill>
                <a:latin typeface="Calibri"/>
              </a:rPr>
              <a:t>Reformatar</a:t>
            </a:r>
          </a:p>
          <a:p>
            <a:pPr>
              <a:spcBef>
                <a:spcPts val="100"/>
              </a:spcBef>
            </a:pPr>
            <a:r>
              <a:rPr sz="1050" b="0">
                <a:solidFill>
                  <a:srgbClr val="9AA8B6"/>
                </a:solidFill>
                <a:latin typeface="Calibri"/>
              </a:rPr>
              <a:t>larga ou longa</a:t>
            </a:r>
          </a:p>
        </p:txBody>
      </p:sp>
      <p:sp>
        <p:nvSpPr>
          <p:cNvPr id="38" name="Rounded Rectangle 37"/>
          <p:cNvSpPr/>
          <p:nvPr/>
        </p:nvSpPr>
        <p:spPr>
          <a:xfrm>
            <a:off x="6400800" y="4901184"/>
            <a:ext cx="2212848" cy="310896"/>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92240" y="4956048"/>
            <a:ext cx="2029967" cy="219456"/>
          </a:xfrm>
          <a:prstGeom prst="rect">
            <a:avLst/>
          </a:prstGeom>
          <a:noFill/>
        </p:spPr>
        <p:txBody>
          <a:bodyPr wrap="square" lIns="0" tIns="0" rIns="0" bIns="0" anchor="t">
            <a:spAutoFit/>
          </a:bodyPr>
          <a:lstStyle/>
          <a:p>
            <a:r>
              <a:rPr sz="950" b="1">
                <a:solidFill>
                  <a:srgbClr val="023A78"/>
                </a:solidFill>
                <a:latin typeface="Courier New"/>
              </a:rPr>
              <a:t>pd.melt(processos)</a:t>
            </a:r>
          </a:p>
        </p:txBody>
      </p:sp>
      <p:sp>
        <p:nvSpPr>
          <p:cNvPr id="40" name="TextBox 39"/>
          <p:cNvSpPr txBox="1"/>
          <p:nvPr/>
        </p:nvSpPr>
        <p:spPr>
          <a:xfrm>
            <a:off x="6400800" y="5376672"/>
            <a:ext cx="2212848" cy="731520"/>
          </a:xfrm>
          <a:prstGeom prst="rect">
            <a:avLst/>
          </a:prstGeom>
          <a:noFill/>
        </p:spPr>
        <p:txBody>
          <a:bodyPr wrap="square" lIns="0" tIns="0" rIns="0" bIns="0" anchor="t">
            <a:spAutoFit/>
          </a:bodyPr>
          <a:lstStyle/>
          <a:p>
            <a:r>
              <a:rPr sz="1050" b="0">
                <a:solidFill>
                  <a:srgbClr val="3C4A5A"/>
                </a:solidFill>
                <a:latin typeface="Calibri"/>
              </a:rPr>
              <a:t>Muda o desenho da tabela sem mudar a informação.</a:t>
            </a:r>
          </a:p>
        </p:txBody>
      </p:sp>
      <p:sp>
        <p:nvSpPr>
          <p:cNvPr id="41" name="Rounded Rectangle 40"/>
          <p:cNvSpPr/>
          <p:nvPr/>
        </p:nvSpPr>
        <p:spPr>
          <a:xfrm>
            <a:off x="9015984" y="4114800"/>
            <a:ext cx="2615184" cy="201168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217152" y="4315968"/>
            <a:ext cx="2212848" cy="457200"/>
          </a:xfrm>
          <a:prstGeom prst="rect">
            <a:avLst/>
          </a:prstGeom>
          <a:noFill/>
        </p:spPr>
        <p:txBody>
          <a:bodyPr wrap="square" lIns="0" tIns="0" rIns="0" bIns="0" anchor="t">
            <a:spAutoFit/>
          </a:bodyPr>
          <a:lstStyle/>
          <a:p>
            <a:r>
              <a:rPr sz="1300" b="1">
                <a:solidFill>
                  <a:srgbClr val="023A78"/>
                </a:solidFill>
                <a:latin typeface="Calibri"/>
              </a:rPr>
              <a:t>Exportar formatado</a:t>
            </a:r>
          </a:p>
          <a:p>
            <a:pPr>
              <a:spcBef>
                <a:spcPts val="100"/>
              </a:spcBef>
            </a:pPr>
            <a:r>
              <a:rPr sz="1050" b="0">
                <a:solidFill>
                  <a:srgbClr val="9AA8B6"/>
                </a:solidFill>
                <a:latin typeface="Calibri"/>
              </a:rPr>
              <a:t>para o texto final</a:t>
            </a:r>
          </a:p>
        </p:txBody>
      </p:sp>
      <p:sp>
        <p:nvSpPr>
          <p:cNvPr id="43" name="Rounded Rectangle 42"/>
          <p:cNvSpPr/>
          <p:nvPr/>
        </p:nvSpPr>
        <p:spPr>
          <a:xfrm>
            <a:off x="9217152" y="4901184"/>
            <a:ext cx="2212848" cy="51206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308592" y="4956048"/>
            <a:ext cx="2029967" cy="420624"/>
          </a:xfrm>
          <a:prstGeom prst="rect">
            <a:avLst/>
          </a:prstGeom>
          <a:noFill/>
        </p:spPr>
        <p:txBody>
          <a:bodyPr wrap="square" lIns="0" tIns="0" rIns="0" bIns="0" anchor="t">
            <a:spAutoFit/>
          </a:bodyPr>
          <a:lstStyle/>
          <a:p>
            <a:r>
              <a:rPr sz="950" b="1">
                <a:solidFill>
                  <a:srgbClr val="023A78"/>
                </a:solidFill>
                <a:latin typeface="Courier New"/>
              </a:rPr>
              <a:t>processos.to_latex()</a:t>
            </a:r>
          </a:p>
          <a:p>
            <a:r>
              <a:rPr sz="950" b="1">
                <a:solidFill>
                  <a:srgbClr val="023A78"/>
                </a:solidFill>
                <a:latin typeface="Courier New"/>
              </a:rPr>
              <a:t>processos.style</a:t>
            </a:r>
          </a:p>
        </p:txBody>
      </p:sp>
      <p:sp>
        <p:nvSpPr>
          <p:cNvPr id="45" name="TextBox 44"/>
          <p:cNvSpPr txBox="1"/>
          <p:nvPr/>
        </p:nvSpPr>
        <p:spPr>
          <a:xfrm>
            <a:off x="9217152" y="5577840"/>
            <a:ext cx="2212848" cy="731520"/>
          </a:xfrm>
          <a:prstGeom prst="rect">
            <a:avLst/>
          </a:prstGeom>
          <a:noFill/>
        </p:spPr>
        <p:txBody>
          <a:bodyPr wrap="square" lIns="0" tIns="0" rIns="0" bIns="0" anchor="t">
            <a:spAutoFit/>
          </a:bodyPr>
          <a:lstStyle/>
          <a:p>
            <a:r>
              <a:rPr sz="1050" b="0">
                <a:solidFill>
                  <a:srgbClr val="3C4A5A"/>
                </a:solidFill>
                <a:latin typeface="Calibri"/>
              </a:rPr>
              <a:t>Tabela pronta para colar no artigo ou no relatório.</a:t>
            </a:r>
          </a:p>
        </p:txBody>
      </p:sp>
      <p:sp>
        <p:nvSpPr>
          <p:cNvPr id="46" name="Rounded Rectangle 45"/>
          <p:cNvSpPr/>
          <p:nvPr/>
        </p:nvSpPr>
        <p:spPr>
          <a:xfrm>
            <a:off x="475488" y="1737360"/>
            <a:ext cx="2798064" cy="2194560"/>
          </a:xfrm>
          <a:prstGeom prst="roundRect">
            <a:avLst>
              <a:gd name="adj" fmla="val 9000"/>
            </a:avLst>
          </a:prstGeom>
          <a:noFill/>
          <a:ln w="31750">
            <a:solidFill>
              <a:srgbClr val="C01C1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81C0B4-A6C6-EFE5-A6BB-44B7B89EE488}"/>
              </a:ext>
            </a:extLst>
          </p:cNvPr>
          <p:cNvSpPr txBox="1"/>
          <p:nvPr/>
        </p:nvSpPr>
        <p:spPr>
          <a:xfrm>
            <a:off x="604156" y="375557"/>
            <a:ext cx="9249527" cy="954107"/>
          </a:xfrm>
          <a:prstGeom prst="rect">
            <a:avLst/>
          </a:prstGeom>
          <a:noFill/>
        </p:spPr>
        <p:txBody>
          <a:bodyPr wrap="square" rtlCol="0">
            <a:spAutoFit/>
          </a:bodyPr>
          <a:lstStyle/>
          <a:p>
            <a:r>
              <a:rPr lang="pt-BR" sz="2800" b="1" noProof="0" dirty="0">
                <a:solidFill>
                  <a:srgbClr val="0070C0"/>
                </a:solidFill>
              </a:rPr>
              <a:t>Hoje vamos aprender 5 verbos que estão dentro do Dataframe pandas</a:t>
            </a:r>
          </a:p>
        </p:txBody>
      </p:sp>
      <p:pic>
        <p:nvPicPr>
          <p:cNvPr id="5" name="Picture 4">
            <a:extLst>
              <a:ext uri="{FF2B5EF4-FFF2-40B4-BE49-F238E27FC236}">
                <a16:creationId xmlns:a16="http://schemas.microsoft.com/office/drawing/2014/main" id="{D5E84B82-9170-6205-FECC-607BFA9C83BC}"/>
              </a:ext>
            </a:extLst>
          </p:cNvPr>
          <p:cNvPicPr>
            <a:picLocks noChangeAspect="1"/>
          </p:cNvPicPr>
          <p:nvPr/>
        </p:nvPicPr>
        <p:blipFill>
          <a:blip r:embed="rId2"/>
          <a:stretch>
            <a:fillRect/>
          </a:stretch>
        </p:blipFill>
        <p:spPr>
          <a:xfrm>
            <a:off x="1248530" y="1821396"/>
            <a:ext cx="8921475" cy="3583117"/>
          </a:xfrm>
          <a:prstGeom prst="rect">
            <a:avLst/>
          </a:prstGeom>
        </p:spPr>
      </p:pic>
    </p:spTree>
    <p:extLst>
      <p:ext uri="{BB962C8B-B14F-4D97-AF65-F5344CB8AC3E}">
        <p14:creationId xmlns:p14="http://schemas.microsoft.com/office/powerpoint/2010/main" val="145057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2B6057-6A2C-EB20-F896-95A8D3317EE8}"/>
              </a:ext>
            </a:extLst>
          </p:cNvPr>
          <p:cNvSpPr txBox="1"/>
          <p:nvPr/>
        </p:nvSpPr>
        <p:spPr>
          <a:xfrm>
            <a:off x="604156" y="375557"/>
            <a:ext cx="9249527" cy="523220"/>
          </a:xfrm>
          <a:prstGeom prst="rect">
            <a:avLst/>
          </a:prstGeom>
          <a:noFill/>
        </p:spPr>
        <p:txBody>
          <a:bodyPr wrap="square" rtlCol="0">
            <a:spAutoFit/>
          </a:bodyPr>
          <a:lstStyle/>
          <a:p>
            <a:r>
              <a:rPr lang="pt-BR" sz="2800" b="1" dirty="0">
                <a:solidFill>
                  <a:srgbClr val="FF0000"/>
                </a:solidFill>
              </a:rPr>
              <a:t>Por que?</a:t>
            </a:r>
            <a:endParaRPr lang="pt-BR" sz="2800" b="1" noProof="0" dirty="0">
              <a:solidFill>
                <a:srgbClr val="FF0000"/>
              </a:solidFill>
            </a:endParaRPr>
          </a:p>
        </p:txBody>
      </p:sp>
      <p:sp>
        <p:nvSpPr>
          <p:cNvPr id="2" name="TextBox 1">
            <a:extLst>
              <a:ext uri="{FF2B5EF4-FFF2-40B4-BE49-F238E27FC236}">
                <a16:creationId xmlns:a16="http://schemas.microsoft.com/office/drawing/2014/main" id="{D82694D5-46D0-A2FB-7E99-3E35045F7484}"/>
              </a:ext>
            </a:extLst>
          </p:cNvPr>
          <p:cNvSpPr txBox="1"/>
          <p:nvPr/>
        </p:nvSpPr>
        <p:spPr>
          <a:xfrm>
            <a:off x="914400" y="1589314"/>
            <a:ext cx="10368643" cy="369332"/>
          </a:xfrm>
          <a:prstGeom prst="rect">
            <a:avLst/>
          </a:prstGeom>
          <a:noFill/>
        </p:spPr>
        <p:txBody>
          <a:bodyPr wrap="square" rtlCol="0">
            <a:spAutoFit/>
          </a:bodyPr>
          <a:lstStyle/>
          <a:p>
            <a:pPr marL="285750" indent="-285750">
              <a:buFont typeface="Arial" panose="020B0604020202020204" pitchFamily="34" charset="0"/>
              <a:buChar char="•"/>
            </a:pPr>
            <a:r>
              <a:rPr lang="pt-BR" noProof="0" dirty="0"/>
              <a:t>É um pacote seguro e confiável, que ja foi testado por várias pesquisadoras</a:t>
            </a:r>
          </a:p>
        </p:txBody>
      </p:sp>
    </p:spTree>
    <p:extLst>
      <p:ext uri="{BB962C8B-B14F-4D97-AF65-F5344CB8AC3E}">
        <p14:creationId xmlns:p14="http://schemas.microsoft.com/office/powerpoint/2010/main" val="3833877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Hoje a base tem 7.000 sentenças</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9</a:t>
            </a:r>
            <a:endParaRPr lang="en-US" sz="900" dirty="0"/>
          </a:p>
        </p:txBody>
      </p:sp>
      <p:sp>
        <p:nvSpPr>
          <p:cNvPr id="6" name="Text 3"/>
          <p:cNvSpPr txBox="1"/>
          <p:nvPr/>
        </p:nvSpPr>
        <p:spPr>
          <a:xfrm>
            <a:off x="566928" y="1298448"/>
            <a:ext cx="11055096" cy="527558"/>
          </a:xfrm>
          <a:prstGeom prst="rect">
            <a:avLst/>
          </a:prstGeom>
          <a:noFill/>
          <a:ln/>
        </p:spPr>
        <p:txBody>
          <a:bodyPr wrap="square" lIns="0" tIns="0" rIns="0" bIns="0" rtlCol="0" anchor="t"/>
          <a:lstStyle/>
          <a:p>
            <a:pPr marL="0" indent="0">
              <a:buNone/>
            </a:pPr>
            <a:r>
              <a:rPr lang="en-US" sz="1550" dirty="0">
                <a:solidFill>
                  <a:srgbClr val="16202C"/>
                </a:solidFill>
                <a:latin typeface="Calibri" pitchFamily="34" charset="0"/>
                <a:ea typeface="Calibri" pitchFamily="34" charset="-122"/>
                <a:cs typeface="Calibri" pitchFamily="34" charset="-120"/>
              </a:rPr>
              <a:t>São sentenças de primeiro grau de 24 tribunais estaduais, reunidas em um projeto de pesquisa real.</a:t>
            </a:r>
            <a:endParaRPr lang="en-US" sz="1550" dirty="0"/>
          </a:p>
        </p:txBody>
      </p:sp>
      <p:sp>
        <p:nvSpPr>
          <p:cNvPr id="7" name="Shape 4"/>
          <p:cNvSpPr/>
          <p:nvPr/>
        </p:nvSpPr>
        <p:spPr>
          <a:xfrm>
            <a:off x="566928" y="2118614"/>
            <a:ext cx="3550920" cy="1434846"/>
          </a:xfrm>
          <a:prstGeom prst="roundRect">
            <a:avLst>
              <a:gd name="adj" fmla="val 3186"/>
            </a:avLst>
          </a:prstGeom>
          <a:solidFill>
            <a:srgbClr val="F4F6F9"/>
          </a:solidFill>
          <a:ln w="9525">
            <a:solidFill>
              <a:srgbClr val="E2E8F0"/>
            </a:solidFill>
            <a:prstDash val="solid"/>
          </a:ln>
        </p:spPr>
        <p:txBody>
          <a:bodyPr/>
          <a:lstStyle/>
          <a:p>
            <a:endParaRPr lang="en-US"/>
          </a:p>
        </p:txBody>
      </p:sp>
      <p:sp>
        <p:nvSpPr>
          <p:cNvPr id="8" name="Text 5"/>
          <p:cNvSpPr txBox="1"/>
          <p:nvPr/>
        </p:nvSpPr>
        <p:spPr>
          <a:xfrm>
            <a:off x="768096" y="2274062"/>
            <a:ext cx="3148584" cy="229743"/>
          </a:xfrm>
          <a:prstGeom prst="rect">
            <a:avLst/>
          </a:prstGeom>
          <a:noFill/>
          <a:ln/>
        </p:spPr>
        <p:txBody>
          <a:bodyPr wrap="square" lIns="0" tIns="0" rIns="0" bIns="0" rtlCol="0" anchor="t"/>
          <a:lstStyle/>
          <a:p>
            <a:pPr marL="0" indent="0">
              <a:buNone/>
            </a:pPr>
            <a:r>
              <a:rPr lang="en-US" sz="1350" b="1" dirty="0">
                <a:solidFill>
                  <a:srgbClr val="023A78"/>
                </a:solidFill>
                <a:latin typeface="Calibri" pitchFamily="34" charset="0"/>
                <a:ea typeface="Calibri" pitchFamily="34" charset="-122"/>
                <a:cs typeface="Calibri" pitchFamily="34" charset="-120"/>
              </a:rPr>
              <a:t>7.000 linhas</a:t>
            </a:r>
            <a:endParaRPr lang="en-US" sz="1350" dirty="0"/>
          </a:p>
        </p:txBody>
      </p:sp>
      <p:sp>
        <p:nvSpPr>
          <p:cNvPr id="9" name="Text 6"/>
          <p:cNvSpPr txBox="1"/>
          <p:nvPr/>
        </p:nvSpPr>
        <p:spPr>
          <a:xfrm>
            <a:off x="768096" y="2595245"/>
            <a:ext cx="3148584" cy="638175"/>
          </a:xfrm>
          <a:prstGeom prst="rect">
            <a:avLst/>
          </a:prstGeom>
          <a:noFill/>
          <a:ln/>
        </p:spPr>
        <p:txBody>
          <a:bodyPr wrap="square" lIns="0" tIns="0" rIns="0" bIns="0" rtlCol="0" anchor="t"/>
          <a:lstStyle/>
          <a:p>
            <a:pPr marL="0" indent="0">
              <a:buNone/>
            </a:pPr>
            <a:r>
              <a:rPr lang="en-US" sz="1250" dirty="0">
                <a:solidFill>
                  <a:srgbClr val="16202C"/>
                </a:solidFill>
                <a:latin typeface="Calibri" pitchFamily="34" charset="0"/>
                <a:ea typeface="Calibri" pitchFamily="34" charset="-122"/>
                <a:cs typeface="Calibri" pitchFamily="34" charset="-120"/>
              </a:rPr>
              <a:t> Uma por processo. Não cabem numa célula, não cabem na tela, não cabem na cabeça.</a:t>
            </a:r>
            <a:endParaRPr lang="en-US" sz="1250" dirty="0"/>
          </a:p>
        </p:txBody>
      </p:sp>
      <p:sp>
        <p:nvSpPr>
          <p:cNvPr id="10" name="Shape 7"/>
          <p:cNvSpPr/>
          <p:nvPr/>
        </p:nvSpPr>
        <p:spPr>
          <a:xfrm>
            <a:off x="4319016" y="2118614"/>
            <a:ext cx="3550920" cy="1434846"/>
          </a:xfrm>
          <a:prstGeom prst="roundRect">
            <a:avLst>
              <a:gd name="adj" fmla="val 3186"/>
            </a:avLst>
          </a:prstGeom>
          <a:solidFill>
            <a:srgbClr val="F4F6F9"/>
          </a:solidFill>
          <a:ln w="9525">
            <a:solidFill>
              <a:srgbClr val="E2E8F0"/>
            </a:solidFill>
            <a:prstDash val="solid"/>
          </a:ln>
        </p:spPr>
        <p:txBody>
          <a:bodyPr/>
          <a:lstStyle/>
          <a:p>
            <a:endParaRPr lang="en-US"/>
          </a:p>
        </p:txBody>
      </p:sp>
      <p:sp>
        <p:nvSpPr>
          <p:cNvPr id="11" name="Text 8"/>
          <p:cNvSpPr txBox="1"/>
          <p:nvPr/>
        </p:nvSpPr>
        <p:spPr>
          <a:xfrm>
            <a:off x="4520184" y="2274062"/>
            <a:ext cx="3148584" cy="229743"/>
          </a:xfrm>
          <a:prstGeom prst="rect">
            <a:avLst/>
          </a:prstGeom>
          <a:noFill/>
          <a:ln/>
        </p:spPr>
        <p:txBody>
          <a:bodyPr wrap="square" lIns="0" tIns="0" rIns="0" bIns="0" rtlCol="0" anchor="t"/>
          <a:lstStyle/>
          <a:p>
            <a:pPr marL="0" indent="0">
              <a:buNone/>
            </a:pPr>
            <a:r>
              <a:rPr lang="en-US" sz="1350" b="1" dirty="0">
                <a:solidFill>
                  <a:srgbClr val="023A78"/>
                </a:solidFill>
                <a:latin typeface="Calibri" pitchFamily="34" charset="0"/>
                <a:ea typeface="Calibri" pitchFamily="34" charset="-122"/>
                <a:cs typeface="Calibri" pitchFamily="34" charset="-120"/>
              </a:rPr>
              <a:t>11 colunas</a:t>
            </a:r>
            <a:endParaRPr lang="en-US" sz="1350" dirty="0"/>
          </a:p>
        </p:txBody>
      </p:sp>
      <p:sp>
        <p:nvSpPr>
          <p:cNvPr id="12" name="Text 9"/>
          <p:cNvSpPr txBox="1"/>
          <p:nvPr/>
        </p:nvSpPr>
        <p:spPr>
          <a:xfrm>
            <a:off x="4520184" y="2595245"/>
            <a:ext cx="3148584" cy="638175"/>
          </a:xfrm>
          <a:prstGeom prst="rect">
            <a:avLst/>
          </a:prstGeom>
          <a:noFill/>
          <a:ln/>
        </p:spPr>
        <p:txBody>
          <a:bodyPr wrap="square" lIns="0" tIns="0" rIns="0" bIns="0" rtlCol="0" anchor="t"/>
          <a:lstStyle/>
          <a:p>
            <a:pPr marL="0" indent="0">
              <a:buNone/>
            </a:pPr>
            <a:r>
              <a:rPr lang="en-US" sz="1250" dirty="0">
                <a:solidFill>
                  <a:srgbClr val="16202C"/>
                </a:solidFill>
                <a:latin typeface="Calibri" pitchFamily="34" charset="0"/>
                <a:ea typeface="Calibri" pitchFamily="34" charset="-122"/>
                <a:cs typeface="Calibri" pitchFamily="34" charset="-120"/>
              </a:rPr>
              <a:t> Tribunal, ano, comarca, tipo de autor, réu, setor econômico, resultado, valor da condenação.</a:t>
            </a:r>
            <a:endParaRPr lang="en-US" sz="1250" dirty="0"/>
          </a:p>
        </p:txBody>
      </p:sp>
      <p:sp>
        <p:nvSpPr>
          <p:cNvPr id="13" name="Shape 10"/>
          <p:cNvSpPr/>
          <p:nvPr/>
        </p:nvSpPr>
        <p:spPr>
          <a:xfrm>
            <a:off x="8071104" y="2118614"/>
            <a:ext cx="3550920" cy="1434846"/>
          </a:xfrm>
          <a:prstGeom prst="roundRect">
            <a:avLst>
              <a:gd name="adj" fmla="val 3186"/>
            </a:avLst>
          </a:prstGeom>
          <a:solidFill>
            <a:srgbClr val="F4F6F9"/>
          </a:solidFill>
          <a:ln w="9525">
            <a:solidFill>
              <a:srgbClr val="E2E8F0"/>
            </a:solidFill>
            <a:prstDash val="solid"/>
          </a:ln>
        </p:spPr>
        <p:txBody>
          <a:bodyPr/>
          <a:lstStyle/>
          <a:p>
            <a:endParaRPr lang="en-US"/>
          </a:p>
        </p:txBody>
      </p:sp>
      <p:sp>
        <p:nvSpPr>
          <p:cNvPr id="14" name="Text 11"/>
          <p:cNvSpPr txBox="1"/>
          <p:nvPr/>
        </p:nvSpPr>
        <p:spPr>
          <a:xfrm>
            <a:off x="8272272" y="2274062"/>
            <a:ext cx="3148584" cy="229743"/>
          </a:xfrm>
          <a:prstGeom prst="rect">
            <a:avLst/>
          </a:prstGeom>
          <a:noFill/>
          <a:ln/>
        </p:spPr>
        <p:txBody>
          <a:bodyPr wrap="square" lIns="0" tIns="0" rIns="0" bIns="0" rtlCol="0" anchor="t"/>
          <a:lstStyle/>
          <a:p>
            <a:pPr marL="0" indent="0">
              <a:buNone/>
            </a:pPr>
            <a:r>
              <a:rPr lang="en-US" sz="1350" b="1" dirty="0">
                <a:solidFill>
                  <a:srgbClr val="023A78"/>
                </a:solidFill>
                <a:latin typeface="Calibri" pitchFamily="34" charset="0"/>
                <a:ea typeface="Calibri" pitchFamily="34" charset="-122"/>
                <a:cs typeface="Calibri" pitchFamily="34" charset="-120"/>
              </a:rPr>
              <a:t>Perguntas de pesquisa</a:t>
            </a:r>
            <a:endParaRPr lang="en-US" sz="1350" dirty="0"/>
          </a:p>
        </p:txBody>
      </p:sp>
      <p:sp>
        <p:nvSpPr>
          <p:cNvPr id="15" name="Text 12"/>
          <p:cNvSpPr txBox="1"/>
          <p:nvPr/>
        </p:nvSpPr>
        <p:spPr>
          <a:xfrm>
            <a:off x="8272272" y="2595245"/>
            <a:ext cx="3148584" cy="638175"/>
          </a:xfrm>
          <a:prstGeom prst="rect">
            <a:avLst/>
          </a:prstGeom>
          <a:noFill/>
          <a:ln/>
        </p:spPr>
        <p:txBody>
          <a:bodyPr wrap="square" lIns="0" tIns="0" rIns="0" bIns="0" rtlCol="0" anchor="t"/>
          <a:lstStyle/>
          <a:p>
            <a:pPr marL="0" indent="0">
              <a:buNone/>
            </a:pPr>
            <a:r>
              <a:rPr lang="en-US" sz="1250" dirty="0">
                <a:solidFill>
                  <a:srgbClr val="16202C"/>
                </a:solidFill>
                <a:latin typeface="Calibri" pitchFamily="34" charset="0"/>
                <a:ea typeface="Calibri" pitchFamily="34" charset="-122"/>
                <a:cs typeface="Calibri" pitchFamily="34" charset="-120"/>
              </a:rPr>
              <a:t> Quem mais é processado? O autor ganha mais contra quem? O autor ganha mais quando é pessoa física ou empresa?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023A78"/>
        </a:solidFill>
        <a:effectLst/>
      </p:bgPr>
    </p:bg>
    <p:spTree>
      <p:nvGrpSpPr>
        <p:cNvPr id="1" name=""/>
        <p:cNvGrpSpPr/>
        <p:nvPr/>
      </p:nvGrpSpPr>
      <p:grpSpPr>
        <a:xfrm>
          <a:off x="0" y="0"/>
          <a:ext cx="0" cy="0"/>
          <a:chOff x="0" y="0"/>
          <a:chExt cx="0" cy="0"/>
        </a:xfrm>
      </p:grpSpPr>
      <p:sp>
        <p:nvSpPr>
          <p:cNvPr id="3" name="Text 0"/>
          <p:cNvSpPr txBox="1"/>
          <p:nvPr/>
        </p:nvSpPr>
        <p:spPr>
          <a:xfrm>
            <a:off x="822960" y="2057400"/>
            <a:ext cx="10543032" cy="128016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No notebook</a:t>
            </a:r>
            <a:endParaRPr lang="en-US" sz="3400" dirty="0"/>
          </a:p>
        </p:txBody>
      </p:sp>
      <p:sp>
        <p:nvSpPr>
          <p:cNvPr id="4" name="Shape 1"/>
          <p:cNvSpPr/>
          <p:nvPr/>
        </p:nvSpPr>
        <p:spPr>
          <a:xfrm>
            <a:off x="1796796" y="3611880"/>
            <a:ext cx="8595360" cy="1077468"/>
          </a:xfrm>
          <a:prstGeom prst="roundRect">
            <a:avLst>
              <a:gd name="adj" fmla="val 4243"/>
            </a:avLst>
          </a:prstGeom>
          <a:solidFill>
            <a:srgbClr val="FFFFFF">
              <a:alpha val="12000"/>
            </a:srgbClr>
          </a:solidFill>
          <a:ln w="12700">
            <a:solidFill>
              <a:srgbClr val="BCD2EA"/>
            </a:solidFill>
            <a:prstDash val="solid"/>
          </a:ln>
        </p:spPr>
        <p:txBody>
          <a:bodyPr/>
          <a:lstStyle/>
          <a:p>
            <a:endParaRPr lang="en-US"/>
          </a:p>
        </p:txBody>
      </p:sp>
      <p:sp>
        <p:nvSpPr>
          <p:cNvPr id="5" name="Text 2"/>
          <p:cNvSpPr txBox="1"/>
          <p:nvPr/>
        </p:nvSpPr>
        <p:spPr>
          <a:xfrm>
            <a:off x="2208276" y="3749040"/>
            <a:ext cx="7772400" cy="5105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Abra o notebook do Encontro 5 no Colab e suba a base: clique no ícone de pasta, à esquerda, e arraste processos.csv e dispositivos.csv para dentro.</a:t>
            </a:r>
            <a:endParaRPr lang="en-US" sz="1500" dirty="0"/>
          </a:p>
        </p:txBody>
      </p:sp>
      <p:sp>
        <p:nvSpPr>
          <p:cNvPr id="6"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No notebook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que vamos fazer lá</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10</a:t>
            </a:r>
            <a:endParaRPr lang="en-US" sz="900" dirty="0"/>
          </a:p>
        </p:txBody>
      </p:sp>
      <p:sp>
        <p:nvSpPr>
          <p:cNvPr id="6" name="Shape 3"/>
          <p:cNvSpPr/>
          <p:nvPr/>
        </p:nvSpPr>
        <p:spPr>
          <a:xfrm>
            <a:off x="566928" y="1298448"/>
            <a:ext cx="11055096" cy="696722"/>
          </a:xfrm>
          <a:prstGeom prst="roundRect">
            <a:avLst>
              <a:gd name="adj" fmla="val 5250"/>
            </a:avLst>
          </a:prstGeom>
          <a:solidFill>
            <a:srgbClr val="F4F6F9"/>
          </a:solidFill>
          <a:ln w="9525">
            <a:solidFill>
              <a:srgbClr val="E2E8F0"/>
            </a:solidFill>
            <a:prstDash val="solid"/>
          </a:ln>
        </p:spPr>
        <p:txBody>
          <a:bodyPr/>
          <a:lstStyle/>
          <a:p>
            <a:endParaRPr lang="en-US"/>
          </a:p>
        </p:txBody>
      </p:sp>
      <p:sp>
        <p:nvSpPr>
          <p:cNvPr id="7" name="Shape 4"/>
          <p:cNvSpPr/>
          <p:nvPr/>
        </p:nvSpPr>
        <p:spPr>
          <a:xfrm>
            <a:off x="768096" y="1481328"/>
            <a:ext cx="128016" cy="128016"/>
          </a:xfrm>
          <a:prstGeom prst="ellipse">
            <a:avLst/>
          </a:prstGeom>
          <a:solidFill>
            <a:srgbClr val="023A78"/>
          </a:solidFill>
          <a:ln w="12700">
            <a:solidFill>
              <a:srgbClr val="333333"/>
            </a:solidFill>
            <a:prstDash val="solid"/>
          </a:ln>
        </p:spPr>
        <p:txBody>
          <a:bodyPr/>
          <a:lstStyle/>
          <a:p>
            <a:endParaRPr lang="en-US"/>
          </a:p>
        </p:txBody>
      </p:sp>
      <p:sp>
        <p:nvSpPr>
          <p:cNvPr id="8" name="Text 5"/>
          <p:cNvSpPr txBox="1"/>
          <p:nvPr/>
        </p:nvSpPr>
        <p:spPr>
          <a:xfrm>
            <a:off x="1069848" y="1435608"/>
            <a:ext cx="10232136" cy="221234"/>
          </a:xfrm>
          <a:prstGeom prst="rect">
            <a:avLst/>
          </a:prstGeom>
          <a:noFill/>
          <a:ln/>
        </p:spPr>
        <p:txBody>
          <a:bodyPr wrap="square" lIns="0" tIns="0" rIns="0" bIns="0" rtlCol="0" anchor="t"/>
          <a:lstStyle/>
          <a:p>
            <a:pPr marL="0" indent="0">
              <a:buNone/>
            </a:pPr>
            <a:r>
              <a:rPr lang="en-US" sz="1300" b="1" dirty="0">
                <a:solidFill>
                  <a:srgbClr val="16202C"/>
                </a:solidFill>
                <a:latin typeface="Calibri" pitchFamily="34" charset="0"/>
                <a:ea typeface="Calibri" pitchFamily="34" charset="-122"/>
                <a:cs typeface="Calibri" pitchFamily="34" charset="-120"/>
              </a:rPr>
              <a:t>Conhecer a base.</a:t>
            </a:r>
            <a:r>
              <a:rPr lang="en-US" sz="1300" dirty="0">
                <a:solidFill>
                  <a:srgbClr val="16202C"/>
                </a:solidFill>
                <a:latin typeface="Calibri" pitchFamily="34" charset="0"/>
                <a:ea typeface="Calibri" pitchFamily="34" charset="-122"/>
                <a:cs typeface="Calibri" pitchFamily="34" charset="-120"/>
              </a:rPr>
              <a:t> A Seção 0 já vem pronta: shape, head, dtypes e o que está faltando em cada coluna.</a:t>
            </a:r>
            <a:endParaRPr lang="en-US" sz="1300" dirty="0"/>
          </a:p>
        </p:txBody>
      </p:sp>
      <p:sp>
        <p:nvSpPr>
          <p:cNvPr id="9" name="Shape 6"/>
          <p:cNvSpPr/>
          <p:nvPr/>
        </p:nvSpPr>
        <p:spPr>
          <a:xfrm>
            <a:off x="566928" y="2123186"/>
            <a:ext cx="11055096" cy="696722"/>
          </a:xfrm>
          <a:prstGeom prst="roundRect">
            <a:avLst>
              <a:gd name="adj" fmla="val 5250"/>
            </a:avLst>
          </a:prstGeom>
          <a:solidFill>
            <a:srgbClr val="F4F6F9"/>
          </a:solidFill>
          <a:ln w="9525">
            <a:solidFill>
              <a:srgbClr val="E2E8F0"/>
            </a:solidFill>
            <a:prstDash val="solid"/>
          </a:ln>
        </p:spPr>
        <p:txBody>
          <a:bodyPr/>
          <a:lstStyle/>
          <a:p>
            <a:endParaRPr lang="en-US"/>
          </a:p>
        </p:txBody>
      </p:sp>
      <p:sp>
        <p:nvSpPr>
          <p:cNvPr id="10" name="Shape 7"/>
          <p:cNvSpPr/>
          <p:nvPr/>
        </p:nvSpPr>
        <p:spPr>
          <a:xfrm>
            <a:off x="768096" y="2306066"/>
            <a:ext cx="128016" cy="128016"/>
          </a:xfrm>
          <a:prstGeom prst="ellipse">
            <a:avLst/>
          </a:prstGeom>
          <a:solidFill>
            <a:srgbClr val="023A78"/>
          </a:solidFill>
          <a:ln w="12700">
            <a:solidFill>
              <a:srgbClr val="333333"/>
            </a:solidFill>
            <a:prstDash val="solid"/>
          </a:ln>
        </p:spPr>
        <p:txBody>
          <a:bodyPr/>
          <a:lstStyle/>
          <a:p>
            <a:endParaRPr lang="en-US"/>
          </a:p>
        </p:txBody>
      </p:sp>
      <p:sp>
        <p:nvSpPr>
          <p:cNvPr id="11" name="Text 8"/>
          <p:cNvSpPr txBox="1"/>
          <p:nvPr/>
        </p:nvSpPr>
        <p:spPr>
          <a:xfrm>
            <a:off x="1069848" y="2260346"/>
            <a:ext cx="10232136" cy="221234"/>
          </a:xfrm>
          <a:prstGeom prst="rect">
            <a:avLst/>
          </a:prstGeom>
          <a:noFill/>
          <a:ln/>
        </p:spPr>
        <p:txBody>
          <a:bodyPr wrap="square" lIns="0" tIns="0" rIns="0" bIns="0" rtlCol="0" anchor="t"/>
          <a:lstStyle/>
          <a:p>
            <a:pPr marL="0" indent="0">
              <a:buNone/>
            </a:pPr>
            <a:r>
              <a:rPr lang="en-US" sz="1300" b="1" dirty="0">
                <a:solidFill>
                  <a:srgbClr val="16202C"/>
                </a:solidFill>
                <a:latin typeface="Calibri" pitchFamily="34" charset="0"/>
                <a:ea typeface="Calibri" pitchFamily="34" charset="-122"/>
                <a:cs typeface="Calibri" pitchFamily="34" charset="-120"/>
              </a:rPr>
              <a:t>Os cinco verbos.</a:t>
            </a:r>
            <a:r>
              <a:rPr lang="en-US" sz="1300" dirty="0">
                <a:solidFill>
                  <a:srgbClr val="16202C"/>
                </a:solidFill>
                <a:latin typeface="Calibri" pitchFamily="34" charset="0"/>
                <a:ea typeface="Calibri" pitchFamily="34" charset="-122"/>
                <a:cs typeface="Calibri" pitchFamily="34" charset="-120"/>
              </a:rPr>
              <a:t> Uma seção para cada um, do exercício mais simples ao mais completo. O código está no enunciado, e o resultado esperado também.</a:t>
            </a:r>
            <a:endParaRPr lang="en-US" sz="1300" dirty="0"/>
          </a:p>
        </p:txBody>
      </p:sp>
      <p:sp>
        <p:nvSpPr>
          <p:cNvPr id="12" name="Shape 9"/>
          <p:cNvSpPr/>
          <p:nvPr/>
        </p:nvSpPr>
        <p:spPr>
          <a:xfrm>
            <a:off x="566928" y="2947924"/>
            <a:ext cx="11055096" cy="696722"/>
          </a:xfrm>
          <a:prstGeom prst="roundRect">
            <a:avLst>
              <a:gd name="adj" fmla="val 5250"/>
            </a:avLst>
          </a:prstGeom>
          <a:solidFill>
            <a:srgbClr val="F4F6F9"/>
          </a:solidFill>
          <a:ln w="9525">
            <a:solidFill>
              <a:srgbClr val="E2E8F0"/>
            </a:solidFill>
            <a:prstDash val="solid"/>
          </a:ln>
        </p:spPr>
        <p:txBody>
          <a:bodyPr/>
          <a:lstStyle/>
          <a:p>
            <a:endParaRPr lang="en-US"/>
          </a:p>
        </p:txBody>
      </p:sp>
      <p:sp>
        <p:nvSpPr>
          <p:cNvPr id="13" name="Shape 10"/>
          <p:cNvSpPr/>
          <p:nvPr/>
        </p:nvSpPr>
        <p:spPr>
          <a:xfrm>
            <a:off x="768096" y="3130804"/>
            <a:ext cx="128016" cy="128016"/>
          </a:xfrm>
          <a:prstGeom prst="ellipse">
            <a:avLst/>
          </a:prstGeom>
          <a:solidFill>
            <a:srgbClr val="023A78"/>
          </a:solidFill>
          <a:ln w="12700">
            <a:solidFill>
              <a:srgbClr val="333333"/>
            </a:solidFill>
            <a:prstDash val="solid"/>
          </a:ln>
        </p:spPr>
        <p:txBody>
          <a:bodyPr/>
          <a:lstStyle/>
          <a:p>
            <a:endParaRPr lang="en-US"/>
          </a:p>
        </p:txBody>
      </p:sp>
      <p:sp>
        <p:nvSpPr>
          <p:cNvPr id="14" name="Text 11"/>
          <p:cNvSpPr txBox="1"/>
          <p:nvPr/>
        </p:nvSpPr>
        <p:spPr>
          <a:xfrm>
            <a:off x="1069848" y="3085084"/>
            <a:ext cx="10232136" cy="221234"/>
          </a:xfrm>
          <a:prstGeom prst="rect">
            <a:avLst/>
          </a:prstGeom>
          <a:noFill/>
          <a:ln/>
        </p:spPr>
        <p:txBody>
          <a:bodyPr wrap="square" lIns="0" tIns="0" rIns="0" bIns="0" rtlCol="0" anchor="t"/>
          <a:lstStyle/>
          <a:p>
            <a:pPr marL="0" indent="0">
              <a:buNone/>
            </a:pPr>
            <a:r>
              <a:rPr lang="en-US" sz="1300" b="1" dirty="0">
                <a:solidFill>
                  <a:srgbClr val="16202C"/>
                </a:solidFill>
                <a:latin typeface="Calibri" pitchFamily="34" charset="0"/>
                <a:ea typeface="Calibri" pitchFamily="34" charset="-122"/>
                <a:cs typeface="Calibri" pitchFamily="34" charset="-120"/>
              </a:rPr>
              <a:t>Juntar duas tabelas.</a:t>
            </a:r>
            <a:r>
              <a:rPr lang="en-US" sz="1300" dirty="0">
                <a:solidFill>
                  <a:srgbClr val="16202C"/>
                </a:solidFill>
                <a:latin typeface="Calibri" pitchFamily="34" charset="0"/>
                <a:ea typeface="Calibri" pitchFamily="34" charset="-122"/>
                <a:cs typeface="Calibri" pitchFamily="34" charset="-120"/>
              </a:rPr>
              <a:t> No fim, o join: colar a tabela dos dispositivos e conferir se não perdi linha nem ficou alguém sem par.</a:t>
            </a:r>
            <a:endParaRPr lang="en-US" sz="1300" dirty="0"/>
          </a:p>
        </p:txBody>
      </p:sp>
      <p:sp>
        <p:nvSpPr>
          <p:cNvPr id="15" name="Shape 12"/>
          <p:cNvSpPr/>
          <p:nvPr/>
        </p:nvSpPr>
        <p:spPr>
          <a:xfrm>
            <a:off x="566928" y="3772662"/>
            <a:ext cx="11055096" cy="917956"/>
          </a:xfrm>
          <a:prstGeom prst="roundRect">
            <a:avLst>
              <a:gd name="adj" fmla="val 3985"/>
            </a:avLst>
          </a:prstGeom>
          <a:solidFill>
            <a:srgbClr val="F4F6F9"/>
          </a:solidFill>
          <a:ln w="9525">
            <a:solidFill>
              <a:srgbClr val="E2E8F0"/>
            </a:solidFill>
            <a:prstDash val="solid"/>
          </a:ln>
        </p:spPr>
        <p:txBody>
          <a:bodyPr/>
          <a:lstStyle/>
          <a:p>
            <a:endParaRPr lang="en-US"/>
          </a:p>
        </p:txBody>
      </p:sp>
      <p:sp>
        <p:nvSpPr>
          <p:cNvPr id="16" name="Shape 13"/>
          <p:cNvSpPr/>
          <p:nvPr/>
        </p:nvSpPr>
        <p:spPr>
          <a:xfrm>
            <a:off x="768096" y="3955542"/>
            <a:ext cx="128016" cy="128016"/>
          </a:xfrm>
          <a:prstGeom prst="ellipse">
            <a:avLst/>
          </a:prstGeom>
          <a:solidFill>
            <a:srgbClr val="023A78"/>
          </a:solidFill>
          <a:ln w="12700">
            <a:solidFill>
              <a:srgbClr val="333333"/>
            </a:solidFill>
            <a:prstDash val="solid"/>
          </a:ln>
        </p:spPr>
        <p:txBody>
          <a:bodyPr/>
          <a:lstStyle/>
          <a:p>
            <a:endParaRPr lang="en-US"/>
          </a:p>
        </p:txBody>
      </p:sp>
      <p:sp>
        <p:nvSpPr>
          <p:cNvPr id="17" name="Text 14"/>
          <p:cNvSpPr txBox="1"/>
          <p:nvPr/>
        </p:nvSpPr>
        <p:spPr>
          <a:xfrm>
            <a:off x="1069848" y="3909822"/>
            <a:ext cx="10232136" cy="442468"/>
          </a:xfrm>
          <a:prstGeom prst="rect">
            <a:avLst/>
          </a:prstGeom>
          <a:noFill/>
          <a:ln/>
        </p:spPr>
        <p:txBody>
          <a:bodyPr wrap="square" lIns="0" tIns="0" rIns="0" bIns="0" rtlCol="0" anchor="t"/>
          <a:lstStyle/>
          <a:p>
            <a:pPr marL="0" indent="0">
              <a:buNone/>
            </a:pPr>
            <a:r>
              <a:rPr lang="en-US" sz="1300" b="1" dirty="0">
                <a:solidFill>
                  <a:srgbClr val="16202C"/>
                </a:solidFill>
                <a:latin typeface="Calibri" pitchFamily="34" charset="0"/>
                <a:ea typeface="Calibri" pitchFamily="34" charset="-122"/>
                <a:cs typeface="Calibri" pitchFamily="34" charset="-120"/>
              </a:rPr>
              <a:t>Responder três perguntas de pesquisa.</a:t>
            </a:r>
            <a:r>
              <a:rPr lang="en-US" sz="1300" dirty="0">
                <a:solidFill>
                  <a:srgbClr val="16202C"/>
                </a:solidFill>
                <a:latin typeface="Calibri" pitchFamily="34" charset="0"/>
                <a:ea typeface="Calibri" pitchFamily="34" charset="-122"/>
                <a:cs typeface="Calibri" pitchFamily="34" charset="-120"/>
              </a:rPr>
              <a:t> Quem é mais processado, contra quem se ganha mais, e se o autor ganha mais quando é pessoa física ou empresa.</a:t>
            </a:r>
            <a:endParaRPr lang="en-US" sz="1300" dirty="0"/>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No notebook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As cinco operações de hoje</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11</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2560320"/>
        </p:xfrm>
        <a:graphic>
          <a:graphicData uri="http://schemas.openxmlformats.org/drawingml/2006/table">
            <a:tbl>
              <a:tblPr/>
              <a:tblGrid>
                <a:gridCol w="3685032">
                  <a:extLst>
                    <a:ext uri="{9D8B030D-6E8A-4147-A177-3AD203B41FA5}">
                      <a16:colId xmlns:a16="http://schemas.microsoft.com/office/drawing/2014/main" val="20000"/>
                    </a:ext>
                  </a:extLst>
                </a:gridCol>
                <a:gridCol w="3685032">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31089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 que eu quero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 verbo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No pandas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extLst>
                  <a:ext uri="{0D108BD9-81ED-4DB2-BD59-A6C34878D82A}">
                    <a16:rowId xmlns:a16="http://schemas.microsoft.com/office/drawing/2014/main" val="10000"/>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Só algumas linhas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filter</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df.query("ano == 2022")</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Só algumas colunas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select</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df[["tribunal", "ano"]]</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Uma coluna nova</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mutate</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df.assign(nova = ...)</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Do maior para o menor</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arrange</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df.sort_values("valor_condenacao")</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Um número que resume</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summarise</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df.groupby("setor")["x"].mean()</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Juntar duas tabelas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join</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df.merge(dispositivos)</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
        <p:nvSpPr>
          <p:cNvPr id="22"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No notebook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23A78"/>
        </a:solidFill>
        <a:effectLst/>
      </p:bgPr>
    </p:bg>
    <p:spTree>
      <p:nvGrpSpPr>
        <p:cNvPr id="1" name=""/>
        <p:cNvGrpSpPr/>
        <p:nvPr/>
      </p:nvGrpSpPr>
      <p:grpSpPr>
        <a:xfrm>
          <a:off x="0" y="0"/>
          <a:ext cx="0" cy="0"/>
          <a:chOff x="0" y="0"/>
          <a:chExt cx="0" cy="0"/>
        </a:xfrm>
      </p:grpSpPr>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 gramática do pandas</a:t>
            </a:r>
            <a:endParaRPr lang="en-US" sz="3400" dirty="0"/>
          </a:p>
        </p:txBody>
      </p:sp>
      <p:sp>
        <p:nvSpPr>
          <p:cNvPr id="3"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Atributo ou método?</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12</a:t>
            </a:r>
            <a:endParaRPr lang="en-US" sz="900" dirty="0"/>
          </a:p>
        </p:txBody>
      </p:sp>
      <p:sp>
        <p:nvSpPr>
          <p:cNvPr id="6" name="Text 3"/>
          <p:cNvSpPr txBox="1"/>
          <p:nvPr/>
        </p:nvSpPr>
        <p:spPr>
          <a:xfrm>
            <a:off x="566928" y="1353312"/>
            <a:ext cx="11055096" cy="420624"/>
          </a:xfrm>
          <a:prstGeom prst="rect">
            <a:avLst/>
          </a:prstGeom>
          <a:noFill/>
          <a:ln/>
        </p:spPr>
        <p:txBody>
          <a:bodyPr wrap="square" lIns="0" tIns="0" rIns="0" bIns="0" rtlCol="0" anchor="ctr"/>
          <a:lstStyle/>
          <a:p>
            <a:pPr marL="0" indent="0" algn="ctr">
              <a:buNone/>
            </a:pPr>
            <a:r>
              <a:rPr lang="en-US" sz="2300" b="1" dirty="0">
                <a:solidFill>
                  <a:srgbClr val="023A78"/>
                </a:solidFill>
                <a:latin typeface="Courier New" pitchFamily="34" charset="0"/>
                <a:ea typeface="Courier New" pitchFamily="34" charset="-122"/>
                <a:cs typeface="Courier New" pitchFamily="34" charset="-120"/>
              </a:rPr>
              <a:t>processos</a:t>
            </a:r>
            <a:r>
              <a:rPr lang="en-US" sz="2300" b="1" dirty="0">
                <a:solidFill>
                  <a:srgbClr val="B3261E"/>
                </a:solidFill>
                <a:latin typeface="Courier New" pitchFamily="34" charset="0"/>
                <a:ea typeface="Courier New" pitchFamily="34" charset="-122"/>
                <a:cs typeface="Courier New" pitchFamily="34" charset="-120"/>
              </a:rPr>
              <a:t>.</a:t>
            </a:r>
            <a:r>
              <a:rPr lang="en-US" sz="2300" b="1" dirty="0">
                <a:solidFill>
                  <a:srgbClr val="16202C"/>
                </a:solidFill>
                <a:latin typeface="Courier New" pitchFamily="34" charset="0"/>
                <a:ea typeface="Courier New" pitchFamily="34" charset="-122"/>
                <a:cs typeface="Courier New" pitchFamily="34" charset="-120"/>
              </a:rPr>
              <a:t>shape</a:t>
            </a:r>
            <a:endParaRPr lang="en-US" sz="2300" dirty="0"/>
          </a:p>
        </p:txBody>
      </p:sp>
      <p:sp>
        <p:nvSpPr>
          <p:cNvPr id="7" name="Text 4"/>
          <p:cNvSpPr txBox="1"/>
          <p:nvPr/>
        </p:nvSpPr>
        <p:spPr>
          <a:xfrm>
            <a:off x="1481328" y="1755648"/>
            <a:ext cx="9226296" cy="276098"/>
          </a:xfrm>
          <a:prstGeom prst="rect">
            <a:avLst/>
          </a:prstGeom>
          <a:noFill/>
          <a:ln/>
        </p:spPr>
        <p:txBody>
          <a:bodyPr wrap="square" lIns="0" tIns="0" rIns="0" bIns="0" rtlCol="0" anchor="t"/>
          <a:lstStyle/>
          <a:p>
            <a:pPr marL="0" indent="0" algn="ctr">
              <a:buNone/>
            </a:pPr>
            <a:r>
              <a:rPr lang="en-US" sz="1300" b="1" dirty="0">
                <a:solidFill>
                  <a:srgbClr val="5A6B7D"/>
                </a:solidFill>
                <a:latin typeface="Calibri" pitchFamily="34" charset="0"/>
                <a:ea typeface="Calibri" pitchFamily="34" charset="-122"/>
                <a:cs typeface="Calibri" pitchFamily="34" charset="-120"/>
              </a:rPr>
              <a:t>Atributo.</a:t>
            </a:r>
            <a:r>
              <a:rPr lang="en-US" sz="1300" dirty="0">
                <a:solidFill>
                  <a:srgbClr val="5A6B7D"/>
                </a:solidFill>
                <a:latin typeface="Calibri" pitchFamily="34" charset="0"/>
                <a:ea typeface="Calibri" pitchFamily="34" charset="-122"/>
                <a:cs typeface="Calibri" pitchFamily="34" charset="-120"/>
              </a:rPr>
              <a:t> Sem parênteses. Um dado que o objeto já guarda: </a:t>
            </a:r>
            <a:r>
              <a:rPr lang="en-US" sz="1196" dirty="0">
                <a:solidFill>
                  <a:srgbClr val="0B3D6B"/>
                </a:solidFill>
                <a:latin typeface="Courier New" pitchFamily="34" charset="0"/>
                <a:ea typeface="Courier New" pitchFamily="34" charset="-122"/>
                <a:cs typeface="Courier New" pitchFamily="34" charset="-120"/>
              </a:rPr>
              <a:t>(7000, 11)</a:t>
            </a:r>
            <a:r>
              <a:rPr lang="en-US" sz="1300" dirty="0">
                <a:solidFill>
                  <a:srgbClr val="5A6B7D"/>
                </a:solidFill>
                <a:latin typeface="Calibri" pitchFamily="34" charset="0"/>
                <a:ea typeface="Calibri" pitchFamily="34" charset="-122"/>
                <a:cs typeface="Calibri" pitchFamily="34" charset="-120"/>
              </a:rPr>
              <a:t>.</a:t>
            </a:r>
            <a:endParaRPr lang="en-US" sz="1300" dirty="0"/>
          </a:p>
        </p:txBody>
      </p:sp>
      <p:sp>
        <p:nvSpPr>
          <p:cNvPr id="8" name="Text 5"/>
          <p:cNvSpPr txBox="1"/>
          <p:nvPr/>
        </p:nvSpPr>
        <p:spPr>
          <a:xfrm>
            <a:off x="566928" y="2324354"/>
            <a:ext cx="11055096" cy="420624"/>
          </a:xfrm>
          <a:prstGeom prst="rect">
            <a:avLst/>
          </a:prstGeom>
          <a:noFill/>
          <a:ln/>
        </p:spPr>
        <p:txBody>
          <a:bodyPr wrap="square" lIns="0" tIns="0" rIns="0" bIns="0" rtlCol="0" anchor="ctr"/>
          <a:lstStyle/>
          <a:p>
            <a:pPr marL="0" indent="0" algn="ctr">
              <a:buNone/>
            </a:pPr>
            <a:r>
              <a:rPr lang="en-US" sz="2300" b="1" dirty="0">
                <a:solidFill>
                  <a:srgbClr val="023A78"/>
                </a:solidFill>
                <a:latin typeface="Courier New" pitchFamily="34" charset="0"/>
                <a:ea typeface="Courier New" pitchFamily="34" charset="-122"/>
                <a:cs typeface="Courier New" pitchFamily="34" charset="-120"/>
              </a:rPr>
              <a:t>processos</a:t>
            </a:r>
            <a:r>
              <a:rPr lang="en-US" sz="2300" b="1" dirty="0">
                <a:solidFill>
                  <a:srgbClr val="B3261E"/>
                </a:solidFill>
                <a:latin typeface="Courier New" pitchFamily="34" charset="0"/>
                <a:ea typeface="Courier New" pitchFamily="34" charset="-122"/>
                <a:cs typeface="Courier New" pitchFamily="34" charset="-120"/>
              </a:rPr>
              <a:t>.</a:t>
            </a:r>
            <a:r>
              <a:rPr lang="en-US" sz="2300" b="1" dirty="0">
                <a:solidFill>
                  <a:srgbClr val="16202C"/>
                </a:solidFill>
                <a:latin typeface="Courier New" pitchFamily="34" charset="0"/>
                <a:ea typeface="Courier New" pitchFamily="34" charset="-122"/>
                <a:cs typeface="Courier New" pitchFamily="34" charset="-120"/>
              </a:rPr>
              <a:t>head</a:t>
            </a:r>
            <a:r>
              <a:rPr lang="en-US" sz="2300" b="1" dirty="0">
                <a:solidFill>
                  <a:srgbClr val="B3261E"/>
                </a:solidFill>
                <a:latin typeface="Courier New" pitchFamily="34" charset="0"/>
                <a:ea typeface="Courier New" pitchFamily="34" charset="-122"/>
                <a:cs typeface="Courier New" pitchFamily="34" charset="-120"/>
              </a:rPr>
              <a:t>()</a:t>
            </a:r>
            <a:endParaRPr lang="en-US" sz="2300" dirty="0"/>
          </a:p>
        </p:txBody>
      </p:sp>
      <p:sp>
        <p:nvSpPr>
          <p:cNvPr id="9" name="Text 6"/>
          <p:cNvSpPr txBox="1"/>
          <p:nvPr/>
        </p:nvSpPr>
        <p:spPr>
          <a:xfrm>
            <a:off x="1481328" y="2726690"/>
            <a:ext cx="9226296" cy="276098"/>
          </a:xfrm>
          <a:prstGeom prst="rect">
            <a:avLst/>
          </a:prstGeom>
          <a:noFill/>
          <a:ln/>
        </p:spPr>
        <p:txBody>
          <a:bodyPr wrap="square" lIns="0" tIns="0" rIns="0" bIns="0" rtlCol="0" anchor="t"/>
          <a:lstStyle/>
          <a:p>
            <a:pPr marL="0" indent="0" algn="ctr">
              <a:buNone/>
            </a:pPr>
            <a:r>
              <a:rPr lang="en-US" sz="1300" b="1" dirty="0">
                <a:solidFill>
                  <a:srgbClr val="5A6B7D"/>
                </a:solidFill>
                <a:latin typeface="Calibri" pitchFamily="34" charset="0"/>
                <a:ea typeface="Calibri" pitchFamily="34" charset="-122"/>
                <a:cs typeface="Calibri" pitchFamily="34" charset="-120"/>
              </a:rPr>
              <a:t>Método.</a:t>
            </a:r>
            <a:r>
              <a:rPr lang="en-US" sz="1300" dirty="0">
                <a:solidFill>
                  <a:srgbClr val="5A6B7D"/>
                </a:solidFill>
                <a:latin typeface="Calibri" pitchFamily="34" charset="0"/>
                <a:ea typeface="Calibri" pitchFamily="34" charset="-122"/>
                <a:cs typeface="Calibri" pitchFamily="34" charset="-120"/>
              </a:rPr>
              <a:t> Com parênteses. Uma ação que o objeto executa quando você pede.</a:t>
            </a:r>
            <a:endParaRPr lang="en-US" sz="1300" dirty="0"/>
          </a:p>
        </p:txBody>
      </p:sp>
      <p:sp>
        <p:nvSpPr>
          <p:cNvPr id="10" name="Shape 7"/>
          <p:cNvSpPr/>
          <p:nvPr/>
        </p:nvSpPr>
        <p:spPr>
          <a:xfrm>
            <a:off x="566928" y="3240532"/>
            <a:ext cx="5426964" cy="1247648"/>
          </a:xfrm>
          <a:prstGeom prst="roundRect">
            <a:avLst>
              <a:gd name="adj" fmla="val 3664"/>
            </a:avLst>
          </a:prstGeom>
          <a:solidFill>
            <a:srgbClr val="F4F6F9"/>
          </a:solidFill>
          <a:ln w="9525">
            <a:solidFill>
              <a:srgbClr val="E2E8F0"/>
            </a:solidFill>
            <a:prstDash val="solid"/>
          </a:ln>
        </p:spPr>
        <p:txBody>
          <a:bodyPr/>
          <a:lstStyle/>
          <a:p>
            <a:endParaRPr lang="en-US"/>
          </a:p>
        </p:txBody>
      </p:sp>
      <p:sp>
        <p:nvSpPr>
          <p:cNvPr id="11" name="Text 8"/>
          <p:cNvSpPr txBox="1"/>
          <p:nvPr/>
        </p:nvSpPr>
        <p:spPr>
          <a:xfrm>
            <a:off x="768096" y="3395980"/>
            <a:ext cx="5024628" cy="238252"/>
          </a:xfrm>
          <a:prstGeom prst="rect">
            <a:avLst/>
          </a:prstGeom>
          <a:noFill/>
          <a:ln/>
        </p:spPr>
        <p:txBody>
          <a:bodyPr wrap="square" lIns="0" tIns="0" rIns="0" bIns="0" rtlCol="0" anchor="t"/>
          <a:lstStyle/>
          <a:p>
            <a:pPr marL="0" indent="0">
              <a:buNone/>
            </a:pPr>
            <a:r>
              <a:rPr lang="en-US" sz="1288" b="1" dirty="0">
                <a:solidFill>
                  <a:srgbClr val="0B3D6B"/>
                </a:solidFill>
                <a:latin typeface="Courier New" pitchFamily="34" charset="0"/>
                <a:ea typeface="Courier New" pitchFamily="34" charset="-122"/>
                <a:cs typeface="Courier New" pitchFamily="34" charset="-120"/>
              </a:rPr>
              <a:t>processos.shape()</a:t>
            </a:r>
            <a:endParaRPr lang="en-US" sz="1288" dirty="0"/>
          </a:p>
        </p:txBody>
      </p:sp>
      <p:sp>
        <p:nvSpPr>
          <p:cNvPr id="12" name="Text 9"/>
          <p:cNvSpPr txBox="1"/>
          <p:nvPr/>
        </p:nvSpPr>
        <p:spPr>
          <a:xfrm>
            <a:off x="768096" y="3725672"/>
            <a:ext cx="5024628"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a:t>
            </a:r>
            <a:r>
              <a:rPr lang="en-US" sz="1196" dirty="0">
                <a:solidFill>
                  <a:srgbClr val="0B3D6B"/>
                </a:solidFill>
                <a:latin typeface="Courier New" pitchFamily="34" charset="0"/>
                <a:ea typeface="Courier New" pitchFamily="34" charset="-122"/>
                <a:cs typeface="Courier New" pitchFamily="34" charset="-120"/>
              </a:rPr>
              <a:t>TypeError: 'tuple' object is not callable</a:t>
            </a:r>
            <a:r>
              <a:rPr lang="en-US" sz="1300" dirty="0">
                <a:solidFill>
                  <a:srgbClr val="16202C"/>
                </a:solidFill>
                <a:latin typeface="Calibri" pitchFamily="34" charset="0"/>
                <a:ea typeface="Calibri" pitchFamily="34" charset="-122"/>
                <a:cs typeface="Calibri" pitchFamily="34" charset="-120"/>
              </a:rPr>
              <a:t>. Você pôs parênteses num atributo: pediu para executar um dado.</a:t>
            </a:r>
            <a:endParaRPr lang="en-US" sz="1300" dirty="0"/>
          </a:p>
        </p:txBody>
      </p:sp>
      <p:sp>
        <p:nvSpPr>
          <p:cNvPr id="13" name="Shape 10"/>
          <p:cNvSpPr/>
          <p:nvPr/>
        </p:nvSpPr>
        <p:spPr>
          <a:xfrm>
            <a:off x="6195060" y="3240532"/>
            <a:ext cx="5426964" cy="1247648"/>
          </a:xfrm>
          <a:prstGeom prst="roundRect">
            <a:avLst>
              <a:gd name="adj" fmla="val 3664"/>
            </a:avLst>
          </a:prstGeom>
          <a:solidFill>
            <a:srgbClr val="F4F6F9"/>
          </a:solidFill>
          <a:ln w="9525">
            <a:solidFill>
              <a:srgbClr val="E2E8F0"/>
            </a:solidFill>
            <a:prstDash val="solid"/>
          </a:ln>
        </p:spPr>
        <p:txBody>
          <a:bodyPr/>
          <a:lstStyle/>
          <a:p>
            <a:endParaRPr lang="en-US"/>
          </a:p>
        </p:txBody>
      </p:sp>
      <p:sp>
        <p:nvSpPr>
          <p:cNvPr id="14" name="Text 11"/>
          <p:cNvSpPr txBox="1"/>
          <p:nvPr/>
        </p:nvSpPr>
        <p:spPr>
          <a:xfrm>
            <a:off x="6396228" y="3395980"/>
            <a:ext cx="5024628" cy="238252"/>
          </a:xfrm>
          <a:prstGeom prst="rect">
            <a:avLst/>
          </a:prstGeom>
          <a:noFill/>
          <a:ln/>
        </p:spPr>
        <p:txBody>
          <a:bodyPr wrap="square" lIns="0" tIns="0" rIns="0" bIns="0" rtlCol="0" anchor="t"/>
          <a:lstStyle/>
          <a:p>
            <a:pPr marL="0" indent="0">
              <a:buNone/>
            </a:pPr>
            <a:r>
              <a:rPr lang="en-US" sz="1288" b="1" dirty="0">
                <a:solidFill>
                  <a:srgbClr val="0B3D6B"/>
                </a:solidFill>
                <a:latin typeface="Courier New" pitchFamily="34" charset="0"/>
                <a:ea typeface="Courier New" pitchFamily="34" charset="-122"/>
                <a:cs typeface="Courier New" pitchFamily="34" charset="-120"/>
              </a:rPr>
              <a:t>processos.str.lower()</a:t>
            </a:r>
            <a:endParaRPr lang="en-US" sz="1288" dirty="0"/>
          </a:p>
        </p:txBody>
      </p:sp>
      <p:sp>
        <p:nvSpPr>
          <p:cNvPr id="15" name="Text 12"/>
          <p:cNvSpPr txBox="1"/>
          <p:nvPr/>
        </p:nvSpPr>
        <p:spPr>
          <a:xfrm>
            <a:off x="6396228" y="3725672"/>
            <a:ext cx="5024628"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a:t>
            </a:r>
            <a:r>
              <a:rPr lang="en-US" sz="1196" dirty="0">
                <a:solidFill>
                  <a:srgbClr val="0B3D6B"/>
                </a:solidFill>
                <a:latin typeface="Courier New" pitchFamily="34" charset="0"/>
                <a:ea typeface="Courier New" pitchFamily="34" charset="-122"/>
                <a:cs typeface="Courier New" pitchFamily="34" charset="-120"/>
              </a:rPr>
              <a:t>AttributeError</a:t>
            </a:r>
            <a:r>
              <a:rPr lang="en-US" sz="1300" dirty="0">
                <a:solidFill>
                  <a:srgbClr val="16202C"/>
                </a:solidFill>
                <a:latin typeface="Calibri" pitchFamily="34" charset="0"/>
                <a:ea typeface="Calibri" pitchFamily="34" charset="-122"/>
                <a:cs typeface="Calibri" pitchFamily="34" charset="-120"/>
              </a:rPr>
              <a:t>. O </a:t>
            </a:r>
            <a:r>
              <a:rPr lang="en-US" sz="1196" dirty="0">
                <a:solidFill>
                  <a:srgbClr val="0B3D6B"/>
                </a:solidFill>
                <a:latin typeface="Courier New" pitchFamily="34" charset="0"/>
                <a:ea typeface="Courier New" pitchFamily="34" charset="-122"/>
                <a:cs typeface="Courier New" pitchFamily="34" charset="-120"/>
              </a:rPr>
              <a:t>DataFrame</a:t>
            </a:r>
            <a:r>
              <a:rPr lang="en-US" sz="1300" dirty="0">
                <a:solidFill>
                  <a:srgbClr val="16202C"/>
                </a:solidFill>
                <a:latin typeface="Calibri" pitchFamily="34" charset="0"/>
                <a:ea typeface="Calibri" pitchFamily="34" charset="-122"/>
                <a:cs typeface="Calibri" pitchFamily="34" charset="-120"/>
              </a:rPr>
              <a:t> não tem </a:t>
            </a:r>
            <a:r>
              <a:rPr lang="en-US" sz="1300" b="1" dirty="0">
                <a:solidFill>
                  <a:srgbClr val="16202C"/>
                </a:solidFill>
                <a:latin typeface="Calibri" pitchFamily="34" charset="0"/>
                <a:ea typeface="Calibri" pitchFamily="34" charset="-122"/>
                <a:cs typeface="Calibri" pitchFamily="34" charset="-120"/>
              </a:rPr>
              <a:t>.str</a:t>
            </a:r>
            <a:r>
              <a:rPr lang="en-US" sz="1300" dirty="0">
                <a:solidFill>
                  <a:srgbClr val="16202C"/>
                </a:solidFill>
                <a:latin typeface="Calibri" pitchFamily="34" charset="0"/>
                <a:ea typeface="Calibri" pitchFamily="34" charset="-122"/>
                <a:cs typeface="Calibri" pitchFamily="34" charset="-120"/>
              </a:rPr>
              <a:t> — quem tem é a coluna: </a:t>
            </a:r>
            <a:r>
              <a:rPr lang="en-US" sz="1196" dirty="0">
                <a:solidFill>
                  <a:srgbClr val="0B3D6B"/>
                </a:solidFill>
                <a:latin typeface="Courier New" pitchFamily="34" charset="0"/>
                <a:ea typeface="Courier New" pitchFamily="34" charset="-122"/>
                <a:cs typeface="Courier New" pitchFamily="34" charset="-120"/>
              </a:rPr>
              <a:t>processos["reu"].str.lower()</a:t>
            </a:r>
            <a:r>
              <a:rPr lang="en-US" sz="1300" dirty="0">
                <a:solidFill>
                  <a:srgbClr val="16202C"/>
                </a:solidFill>
                <a:latin typeface="Calibri" pitchFamily="34" charset="0"/>
                <a:ea typeface="Calibri" pitchFamily="34" charset="-122"/>
                <a:cs typeface="Calibri" pitchFamily="34" charset="-120"/>
              </a:rPr>
              <a:t>.</a:t>
            </a:r>
            <a:endParaRPr lang="en-US" sz="1300" dirty="0"/>
          </a:p>
        </p:txBody>
      </p:sp>
      <p:sp>
        <p:nvSpPr>
          <p:cNvPr id="16"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023A78"/>
        </a:solidFill>
        <a:effectLst/>
      </p:bgPr>
    </p:bg>
    <p:spTree>
      <p:nvGrpSpPr>
        <p:cNvPr id="1" name=""/>
        <p:cNvGrpSpPr/>
        <p:nvPr/>
      </p:nvGrpSpPr>
      <p:grpSpPr>
        <a:xfrm>
          <a:off x="0" y="0"/>
          <a:ext cx="0" cy="0"/>
          <a:chOff x="0" y="0"/>
          <a:chExt cx="0" cy="0"/>
        </a:xfrm>
      </p:grpSpPr>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Conceitos de banco de dados</a:t>
            </a:r>
            <a:endParaRPr lang="en-US" sz="3400" dirty="0"/>
          </a:p>
        </p:txBody>
      </p:sp>
      <p:sp>
        <p:nvSpPr>
          <p:cNvPr id="3"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 tabela: linhas e colunas</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13</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5" cy="1168400"/>
        </p:xfrm>
        <a:graphic>
          <a:graphicData uri="http://schemas.openxmlformats.org/drawingml/2006/table">
            <a:tbl>
              <a:tblPr/>
              <a:tblGrid>
                <a:gridCol w="2211019">
                  <a:extLst>
                    <a:ext uri="{9D8B030D-6E8A-4147-A177-3AD203B41FA5}">
                      <a16:colId xmlns:a16="http://schemas.microsoft.com/office/drawing/2014/main" val="20000"/>
                    </a:ext>
                  </a:extLst>
                </a:gridCol>
                <a:gridCol w="2211019">
                  <a:extLst>
                    <a:ext uri="{9D8B030D-6E8A-4147-A177-3AD203B41FA5}">
                      <a16:colId xmlns:a16="http://schemas.microsoft.com/office/drawing/2014/main" val="20001"/>
                    </a:ext>
                  </a:extLst>
                </a:gridCol>
                <a:gridCol w="2211019">
                  <a:extLst>
                    <a:ext uri="{9D8B030D-6E8A-4147-A177-3AD203B41FA5}">
                      <a16:colId xmlns:a16="http://schemas.microsoft.com/office/drawing/2014/main" val="20002"/>
                    </a:ext>
                  </a:extLst>
                </a:gridCol>
                <a:gridCol w="2211019">
                  <a:extLst>
                    <a:ext uri="{9D8B030D-6E8A-4147-A177-3AD203B41FA5}">
                      <a16:colId xmlns:a16="http://schemas.microsoft.com/office/drawing/2014/main" val="20003"/>
                    </a:ext>
                  </a:extLst>
                </a:gridCol>
                <a:gridCol w="2211019">
                  <a:extLst>
                    <a:ext uri="{9D8B030D-6E8A-4147-A177-3AD203B41FA5}">
                      <a16:colId xmlns:a16="http://schemas.microsoft.com/office/drawing/2014/main" val="20004"/>
                    </a:ext>
                  </a:extLst>
                </a:gridCol>
              </a:tblGrid>
              <a:tr h="25603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processo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tribunal</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resultado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valor_condenacao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extLst>
                  <a:ext uri="{0D108BD9-81ED-4DB2-BD59-A6C34878D82A}">
                    <a16:rowId xmlns:a16="http://schemas.microsoft.com/office/drawing/2014/main" val="10000"/>
                  </a:ext>
                </a:extLst>
              </a:tr>
              <a:tr h="256032">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0800312-51.2021.8.19.0011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TJRJ</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PROCEDENTE</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3000.00</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0801277-92.2022.8.15.0131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2022</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TJPB</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IMPROCEDENTE</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56032">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5007371-63.2021.8.08.0011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TJES</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ACORDO HOMOLOGADO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566928" y="270662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2" name="Text 4"/>
          <p:cNvSpPr txBox="1"/>
          <p:nvPr/>
        </p:nvSpPr>
        <p:spPr>
          <a:xfrm>
            <a:off x="768096" y="286207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A linha é um caso</a:t>
            </a:r>
            <a:endParaRPr lang="en-US" sz="1400" dirty="0"/>
          </a:p>
        </p:txBody>
      </p:sp>
      <p:sp>
        <p:nvSpPr>
          <p:cNvPr id="9" name="Text 5"/>
          <p:cNvSpPr txBox="1"/>
          <p:nvPr/>
        </p:nvSpPr>
        <p:spPr>
          <a:xfrm>
            <a:off x="768096" y="3191764"/>
            <a:ext cx="5024628" cy="663702"/>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Uma linha, um processo. Tudo o que se sabe sobre aquele processo está naquela linha, e nada do que está ali é sobre outro processo.</a:t>
            </a:r>
            <a:endParaRPr lang="en-US" sz="1300" dirty="0"/>
          </a:p>
        </p:txBody>
      </p:sp>
      <p:sp>
        <p:nvSpPr>
          <p:cNvPr id="10" name="Shape 6"/>
          <p:cNvSpPr/>
          <p:nvPr/>
        </p:nvSpPr>
        <p:spPr>
          <a:xfrm>
            <a:off x="6195060" y="270662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11" name="Text 7"/>
          <p:cNvSpPr txBox="1"/>
          <p:nvPr/>
        </p:nvSpPr>
        <p:spPr>
          <a:xfrm>
            <a:off x="6396228" y="286207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A coluna é uma variável</a:t>
            </a:r>
            <a:endParaRPr lang="en-US" sz="1400" dirty="0"/>
          </a:p>
        </p:txBody>
      </p:sp>
      <p:sp>
        <p:nvSpPr>
          <p:cNvPr id="12" name="Text 8"/>
          <p:cNvSpPr txBox="1"/>
          <p:nvPr/>
        </p:nvSpPr>
        <p:spPr>
          <a:xfrm>
            <a:off x="6396228" y="3191764"/>
            <a:ext cx="5024628"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Uma coluna, uma pergunta feita a todos os casos. </a:t>
            </a:r>
            <a:r>
              <a:rPr lang="en-US" sz="1196" dirty="0">
                <a:solidFill>
                  <a:srgbClr val="0B3D6B"/>
                </a:solidFill>
                <a:latin typeface="Courier New" pitchFamily="34" charset="0"/>
                <a:ea typeface="Courier New" pitchFamily="34" charset="-122"/>
                <a:cs typeface="Courier New" pitchFamily="34" charset="-120"/>
              </a:rPr>
              <a:t>ano</a:t>
            </a:r>
            <a:r>
              <a:rPr lang="en-US" sz="1300" dirty="0">
                <a:solidFill>
                  <a:srgbClr val="16202C"/>
                </a:solidFill>
                <a:latin typeface="Calibri" pitchFamily="34" charset="0"/>
                <a:ea typeface="Calibri" pitchFamily="34" charset="-122"/>
                <a:cs typeface="Calibri" pitchFamily="34" charset="-120"/>
              </a:rPr>
              <a:t> é a mesma pergunta, respondida 7.000 vezes.</a:t>
            </a:r>
            <a:endParaRPr lang="en-US" sz="1300" dirty="0"/>
          </a:p>
        </p:txBody>
      </p:sp>
      <p:sp>
        <p:nvSpPr>
          <p:cNvPr id="13"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 unidade de observação</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14</a:t>
            </a:r>
            <a:endParaRPr lang="en-US" sz="900" dirty="0"/>
          </a:p>
        </p:txBody>
      </p:sp>
      <p:sp>
        <p:nvSpPr>
          <p:cNvPr id="6" name="Text 3"/>
          <p:cNvSpPr txBox="1"/>
          <p:nvPr/>
        </p:nvSpPr>
        <p:spPr>
          <a:xfrm>
            <a:off x="566928" y="1298448"/>
            <a:ext cx="11055096" cy="263779"/>
          </a:xfrm>
          <a:prstGeom prst="rect">
            <a:avLst/>
          </a:prstGeom>
          <a:noFill/>
          <a:ln/>
        </p:spPr>
        <p:txBody>
          <a:bodyPr wrap="square" lIns="0" tIns="0" rIns="0" bIns="0" rtlCol="0" anchor="t"/>
          <a:lstStyle/>
          <a:p>
            <a:pPr marL="0" indent="0">
              <a:buNone/>
            </a:pPr>
            <a:r>
              <a:rPr lang="en-US" sz="1550" dirty="0">
                <a:solidFill>
                  <a:srgbClr val="16202C"/>
                </a:solidFill>
                <a:latin typeface="Calibri" pitchFamily="34" charset="0"/>
                <a:ea typeface="Calibri" pitchFamily="34" charset="-122"/>
                <a:cs typeface="Calibri" pitchFamily="34" charset="-120"/>
              </a:rPr>
              <a:t>Antes de montar qualquer base, uma decisão: </a:t>
            </a:r>
            <a:r>
              <a:rPr lang="en-US" sz="1550" b="1" dirty="0">
                <a:solidFill>
                  <a:srgbClr val="16202C"/>
                </a:solidFill>
                <a:latin typeface="Calibri" pitchFamily="34" charset="0"/>
                <a:ea typeface="Calibri" pitchFamily="34" charset="-122"/>
                <a:cs typeface="Calibri" pitchFamily="34" charset="-120"/>
              </a:rPr>
              <a:t>o que é uma linha?</a:t>
            </a:r>
            <a:endParaRPr lang="en-US" sz="1550" dirty="0"/>
          </a:p>
        </p:txBody>
      </p:sp>
      <p:sp>
        <p:nvSpPr>
          <p:cNvPr id="7" name="Shape 4"/>
          <p:cNvSpPr/>
          <p:nvPr/>
        </p:nvSpPr>
        <p:spPr>
          <a:xfrm>
            <a:off x="566928" y="1854835"/>
            <a:ext cx="3550920" cy="1434846"/>
          </a:xfrm>
          <a:prstGeom prst="roundRect">
            <a:avLst>
              <a:gd name="adj" fmla="val 3186"/>
            </a:avLst>
          </a:prstGeom>
          <a:solidFill>
            <a:srgbClr val="F4F6F9"/>
          </a:solidFill>
          <a:ln w="9525">
            <a:solidFill>
              <a:srgbClr val="E2E8F0"/>
            </a:solidFill>
            <a:prstDash val="solid"/>
          </a:ln>
        </p:spPr>
        <p:txBody>
          <a:bodyPr/>
          <a:lstStyle/>
          <a:p>
            <a:endParaRPr lang="en-US"/>
          </a:p>
        </p:txBody>
      </p:sp>
      <p:sp>
        <p:nvSpPr>
          <p:cNvPr id="8" name="Text 5"/>
          <p:cNvSpPr txBox="1"/>
          <p:nvPr/>
        </p:nvSpPr>
        <p:spPr>
          <a:xfrm>
            <a:off x="768096" y="2010283"/>
            <a:ext cx="3148584" cy="229743"/>
          </a:xfrm>
          <a:prstGeom prst="rect">
            <a:avLst/>
          </a:prstGeom>
          <a:noFill/>
          <a:ln/>
        </p:spPr>
        <p:txBody>
          <a:bodyPr wrap="square" lIns="0" tIns="0" rIns="0" bIns="0" rtlCol="0" anchor="t"/>
          <a:lstStyle/>
          <a:p>
            <a:pPr marL="0" indent="0">
              <a:buNone/>
            </a:pPr>
            <a:r>
              <a:rPr lang="en-US" sz="1350" b="1" dirty="0">
                <a:solidFill>
                  <a:srgbClr val="023A78"/>
                </a:solidFill>
                <a:latin typeface="Calibri" pitchFamily="34" charset="0"/>
                <a:ea typeface="Calibri" pitchFamily="34" charset="-122"/>
                <a:cs typeface="Calibri" pitchFamily="34" charset="-120"/>
              </a:rPr>
              <a:t>Um processo</a:t>
            </a:r>
            <a:endParaRPr lang="en-US" sz="1350" dirty="0"/>
          </a:p>
        </p:txBody>
      </p:sp>
      <p:sp>
        <p:nvSpPr>
          <p:cNvPr id="9" name="Text 6"/>
          <p:cNvSpPr txBox="1"/>
          <p:nvPr/>
        </p:nvSpPr>
        <p:spPr>
          <a:xfrm>
            <a:off x="768096" y="2331466"/>
            <a:ext cx="3148584" cy="638175"/>
          </a:xfrm>
          <a:prstGeom prst="rect">
            <a:avLst/>
          </a:prstGeom>
          <a:noFill/>
          <a:ln/>
        </p:spPr>
        <p:txBody>
          <a:bodyPr wrap="square" lIns="0" tIns="0" rIns="0" bIns="0" rtlCol="0" anchor="t"/>
          <a:lstStyle/>
          <a:p>
            <a:pPr marL="0" indent="0">
              <a:buNone/>
            </a:pPr>
            <a:r>
              <a:rPr lang="en-US" sz="1250" dirty="0">
                <a:solidFill>
                  <a:srgbClr val="16202C"/>
                </a:solidFill>
                <a:latin typeface="Calibri" pitchFamily="34" charset="0"/>
                <a:ea typeface="Calibri" pitchFamily="34" charset="-122"/>
                <a:cs typeface="Calibri" pitchFamily="34" charset="-120"/>
              </a:rPr>
              <a:t> 7.000 linhas. É a base de hoje. Serve para "quantos processos por tribunal".</a:t>
            </a:r>
            <a:endParaRPr lang="en-US" sz="1250" dirty="0"/>
          </a:p>
        </p:txBody>
      </p:sp>
      <p:sp>
        <p:nvSpPr>
          <p:cNvPr id="10" name="Shape 7"/>
          <p:cNvSpPr/>
          <p:nvPr/>
        </p:nvSpPr>
        <p:spPr>
          <a:xfrm>
            <a:off x="4319016" y="1854835"/>
            <a:ext cx="3550920" cy="1434846"/>
          </a:xfrm>
          <a:prstGeom prst="roundRect">
            <a:avLst>
              <a:gd name="adj" fmla="val 3186"/>
            </a:avLst>
          </a:prstGeom>
          <a:solidFill>
            <a:srgbClr val="F4F6F9"/>
          </a:solidFill>
          <a:ln w="9525">
            <a:solidFill>
              <a:srgbClr val="E2E8F0"/>
            </a:solidFill>
            <a:prstDash val="solid"/>
          </a:ln>
        </p:spPr>
        <p:txBody>
          <a:bodyPr/>
          <a:lstStyle/>
          <a:p>
            <a:endParaRPr lang="en-US"/>
          </a:p>
        </p:txBody>
      </p:sp>
      <p:sp>
        <p:nvSpPr>
          <p:cNvPr id="11" name="Text 8"/>
          <p:cNvSpPr txBox="1"/>
          <p:nvPr/>
        </p:nvSpPr>
        <p:spPr>
          <a:xfrm>
            <a:off x="4520184" y="2010283"/>
            <a:ext cx="3148584" cy="229743"/>
          </a:xfrm>
          <a:prstGeom prst="rect">
            <a:avLst/>
          </a:prstGeom>
          <a:noFill/>
          <a:ln/>
        </p:spPr>
        <p:txBody>
          <a:bodyPr wrap="square" lIns="0" tIns="0" rIns="0" bIns="0" rtlCol="0" anchor="t"/>
          <a:lstStyle/>
          <a:p>
            <a:pPr marL="0" indent="0">
              <a:buNone/>
            </a:pPr>
            <a:r>
              <a:rPr lang="en-US" sz="1350" b="1" dirty="0">
                <a:solidFill>
                  <a:srgbClr val="023A78"/>
                </a:solidFill>
                <a:latin typeface="Calibri" pitchFamily="34" charset="0"/>
                <a:ea typeface="Calibri" pitchFamily="34" charset="-122"/>
                <a:cs typeface="Calibri" pitchFamily="34" charset="-120"/>
              </a:rPr>
              <a:t>Uma parte</a:t>
            </a:r>
            <a:endParaRPr lang="en-US" sz="1350" dirty="0"/>
          </a:p>
        </p:txBody>
      </p:sp>
      <p:sp>
        <p:nvSpPr>
          <p:cNvPr id="12" name="Text 9"/>
          <p:cNvSpPr txBox="1"/>
          <p:nvPr/>
        </p:nvSpPr>
        <p:spPr>
          <a:xfrm>
            <a:off x="4520184" y="2331466"/>
            <a:ext cx="3148584" cy="638175"/>
          </a:xfrm>
          <a:prstGeom prst="rect">
            <a:avLst/>
          </a:prstGeom>
          <a:noFill/>
          <a:ln/>
        </p:spPr>
        <p:txBody>
          <a:bodyPr wrap="square" lIns="0" tIns="0" rIns="0" bIns="0" rtlCol="0" anchor="t"/>
          <a:lstStyle/>
          <a:p>
            <a:pPr marL="0" indent="0">
              <a:buNone/>
            </a:pPr>
            <a:r>
              <a:rPr lang="en-US" sz="1250" dirty="0">
                <a:solidFill>
                  <a:srgbClr val="16202C"/>
                </a:solidFill>
                <a:latin typeface="Calibri" pitchFamily="34" charset="0"/>
                <a:ea typeface="Calibri" pitchFamily="34" charset="-122"/>
                <a:cs typeface="Calibri" pitchFamily="34" charset="-120"/>
              </a:rPr>
              <a:t> Um processo com três réus vira três linhas. Serve para "quantas vezes o Bradesco foi réu".</a:t>
            </a:r>
            <a:endParaRPr lang="en-US" sz="1250" dirty="0"/>
          </a:p>
        </p:txBody>
      </p:sp>
      <p:sp>
        <p:nvSpPr>
          <p:cNvPr id="13" name="Shape 10"/>
          <p:cNvSpPr/>
          <p:nvPr/>
        </p:nvSpPr>
        <p:spPr>
          <a:xfrm>
            <a:off x="8071104" y="1854835"/>
            <a:ext cx="3550920" cy="1434846"/>
          </a:xfrm>
          <a:prstGeom prst="roundRect">
            <a:avLst>
              <a:gd name="adj" fmla="val 3186"/>
            </a:avLst>
          </a:prstGeom>
          <a:solidFill>
            <a:srgbClr val="F4F6F9"/>
          </a:solidFill>
          <a:ln w="9525">
            <a:solidFill>
              <a:srgbClr val="E2E8F0"/>
            </a:solidFill>
            <a:prstDash val="solid"/>
          </a:ln>
        </p:spPr>
        <p:txBody>
          <a:bodyPr/>
          <a:lstStyle/>
          <a:p>
            <a:endParaRPr lang="en-US"/>
          </a:p>
        </p:txBody>
      </p:sp>
      <p:sp>
        <p:nvSpPr>
          <p:cNvPr id="14" name="Text 11"/>
          <p:cNvSpPr txBox="1"/>
          <p:nvPr/>
        </p:nvSpPr>
        <p:spPr>
          <a:xfrm>
            <a:off x="8272272" y="2010283"/>
            <a:ext cx="3148584" cy="229743"/>
          </a:xfrm>
          <a:prstGeom prst="rect">
            <a:avLst/>
          </a:prstGeom>
          <a:noFill/>
          <a:ln/>
        </p:spPr>
        <p:txBody>
          <a:bodyPr wrap="square" lIns="0" tIns="0" rIns="0" bIns="0" rtlCol="0" anchor="t"/>
          <a:lstStyle/>
          <a:p>
            <a:pPr marL="0" indent="0">
              <a:buNone/>
            </a:pPr>
            <a:r>
              <a:rPr lang="en-US" sz="1350" b="1" dirty="0">
                <a:solidFill>
                  <a:srgbClr val="023A78"/>
                </a:solidFill>
                <a:latin typeface="Calibri" pitchFamily="34" charset="0"/>
                <a:ea typeface="Calibri" pitchFamily="34" charset="-122"/>
                <a:cs typeface="Calibri" pitchFamily="34" charset="-120"/>
              </a:rPr>
              <a:t>Uma movimentação</a:t>
            </a:r>
            <a:endParaRPr lang="en-US" sz="1350" dirty="0"/>
          </a:p>
        </p:txBody>
      </p:sp>
      <p:sp>
        <p:nvSpPr>
          <p:cNvPr id="15" name="Text 12"/>
          <p:cNvSpPr txBox="1"/>
          <p:nvPr/>
        </p:nvSpPr>
        <p:spPr>
          <a:xfrm>
            <a:off x="8272272" y="2331466"/>
            <a:ext cx="3148584" cy="638175"/>
          </a:xfrm>
          <a:prstGeom prst="rect">
            <a:avLst/>
          </a:prstGeom>
          <a:noFill/>
          <a:ln/>
        </p:spPr>
        <p:txBody>
          <a:bodyPr wrap="square" lIns="0" tIns="0" rIns="0" bIns="0" rtlCol="0" anchor="t"/>
          <a:lstStyle/>
          <a:p>
            <a:pPr marL="0" indent="0">
              <a:buNone/>
            </a:pPr>
            <a:r>
              <a:rPr lang="en-US" sz="1250" dirty="0">
                <a:solidFill>
                  <a:srgbClr val="16202C"/>
                </a:solidFill>
                <a:latin typeface="Calibri" pitchFamily="34" charset="0"/>
                <a:ea typeface="Calibri" pitchFamily="34" charset="-122"/>
                <a:cs typeface="Calibri" pitchFamily="34" charset="-120"/>
              </a:rPr>
              <a:t> Centenas de milhares de linhas. Serve para "quanto tempo entre citação e sentença".</a:t>
            </a:r>
            <a:endParaRPr lang="en-US" sz="1250" dirty="0"/>
          </a:p>
        </p:txBody>
      </p:sp>
      <p:sp>
        <p:nvSpPr>
          <p:cNvPr id="16" name="Text 13"/>
          <p:cNvSpPr txBox="1"/>
          <p:nvPr/>
        </p:nvSpPr>
        <p:spPr>
          <a:xfrm>
            <a:off x="1298448" y="3728593"/>
            <a:ext cx="9592056" cy="704088"/>
          </a:xfrm>
          <a:prstGeom prst="rect">
            <a:avLst/>
          </a:prstGeom>
          <a:noFill/>
          <a:ln/>
        </p:spPr>
        <p:txBody>
          <a:bodyPr wrap="square" lIns="0" tIns="0" rIns="0" bIns="0" rtlCol="0" anchor="ctr"/>
          <a:lstStyle/>
          <a:p>
            <a:pPr marL="0" indent="0" algn="ctr">
              <a:buNone/>
            </a:pPr>
            <a:r>
              <a:rPr lang="en-US" sz="1800" b="1" dirty="0">
                <a:solidFill>
                  <a:srgbClr val="023A78"/>
                </a:solidFill>
                <a:latin typeface="Calibri" pitchFamily="34" charset="0"/>
                <a:ea typeface="Calibri" pitchFamily="34" charset="-122"/>
                <a:cs typeface="Calibri" pitchFamily="34" charset="-120"/>
              </a:rPr>
              <a:t>A mesma pesquisa pode precisar das três. E </a:t>
            </a:r>
            <a:r>
              <a:rPr lang="en-US" sz="1656" b="1" dirty="0">
                <a:solidFill>
                  <a:srgbClr val="023A78"/>
                </a:solidFill>
                <a:latin typeface="Courier New" pitchFamily="34" charset="0"/>
                <a:ea typeface="Courier New" pitchFamily="34" charset="-122"/>
                <a:cs typeface="Courier New" pitchFamily="34" charset="-120"/>
              </a:rPr>
              <a:t>len(df)</a:t>
            </a:r>
            <a:r>
              <a:rPr lang="en-US" sz="1800" b="1" dirty="0">
                <a:solidFill>
                  <a:srgbClr val="023A78"/>
                </a:solidFill>
                <a:latin typeface="Calibri" pitchFamily="34" charset="0"/>
                <a:ea typeface="Calibri" pitchFamily="34" charset="-122"/>
                <a:cs typeface="Calibri" pitchFamily="34" charset="-120"/>
              </a:rPr>
              <a:t> significa coisas diferentes em cada uma.</a:t>
            </a:r>
            <a:endParaRPr lang="en-US" sz="1800" dirty="0"/>
          </a:p>
        </p:txBody>
      </p:sp>
      <p:sp>
        <p:nvSpPr>
          <p:cNvPr id="17"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tipo é da coluna inteira</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15</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1145540"/>
        </p:xfrm>
        <a:graphic>
          <a:graphicData uri="http://schemas.openxmlformats.org/drawingml/2006/table">
            <a:tbl>
              <a:tblPr/>
              <a:tblGrid>
                <a:gridCol w="2763774">
                  <a:extLst>
                    <a:ext uri="{9D8B030D-6E8A-4147-A177-3AD203B41FA5}">
                      <a16:colId xmlns:a16="http://schemas.microsoft.com/office/drawing/2014/main" val="20000"/>
                    </a:ext>
                  </a:extLst>
                </a:gridCol>
                <a:gridCol w="2763774">
                  <a:extLst>
                    <a:ext uri="{9D8B030D-6E8A-4147-A177-3AD203B41FA5}">
                      <a16:colId xmlns:a16="http://schemas.microsoft.com/office/drawing/2014/main" val="20001"/>
                    </a:ext>
                  </a:extLst>
                </a:gridCol>
                <a:gridCol w="2763774">
                  <a:extLst>
                    <a:ext uri="{9D8B030D-6E8A-4147-A177-3AD203B41FA5}">
                      <a16:colId xmlns:a16="http://schemas.microsoft.com/office/drawing/2014/main" val="20002"/>
                    </a:ext>
                  </a:extLst>
                </a:gridCol>
                <a:gridCol w="2763774">
                  <a:extLst>
                    <a:ext uri="{9D8B030D-6E8A-4147-A177-3AD203B41FA5}">
                      <a16:colId xmlns:a16="http://schemas.microsoft.com/office/drawing/2014/main" val="20003"/>
                    </a:ext>
                  </a:extLst>
                </a:gridCol>
              </a:tblGrid>
              <a:tr h="25603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processo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valor_condenacao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resultado</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extLst>
                  <a:ext uri="{0D108BD9-81ED-4DB2-BD59-A6C34878D82A}">
                    <a16:rowId xmlns:a16="http://schemas.microsoft.com/office/drawing/2014/main" val="10000"/>
                  </a:ext>
                </a:extLst>
              </a:tr>
              <a:tr h="256032">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0800312-51.2021.8.19.0011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2021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3000.00</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PROCEDENTE</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0801277-92.2022.8.15.0131</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2022</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1500.00</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16202C"/>
                          </a:solidFill>
                          <a:latin typeface="Calibri" pitchFamily="34" charset="0"/>
                          <a:ea typeface="Calibri" pitchFamily="34" charset="-122"/>
                          <a:cs typeface="Calibri" pitchFamily="34" charset="-120"/>
                        </a:rPr>
                        <a:t>IMPROCEDENTE</a:t>
                      </a:r>
                      <a:endParaRPr lang="en-US" sz="1250" dirty="0">
                        <a:latin typeface="Calibri" charset="0"/>
                        <a:ea typeface="Calibri" charset="0"/>
                        <a:cs typeface="Calibri"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256032">
                <a:tc>
                  <a:txBody>
                    <a:bodyPr/>
                    <a:lstStyle/>
                    <a:p>
                      <a:pPr marL="0" indent="0">
                        <a:buNone/>
                      </a:pPr>
                      <a:r>
                        <a:rPr lang="en-US" sz="1100" dirty="0">
                          <a:solidFill>
                            <a:srgbClr val="0B3D6B"/>
                          </a:solidFill>
                          <a:latin typeface="Courier New" pitchFamily="34" charset="0"/>
                          <a:ea typeface="Courier New" pitchFamily="34" charset="-122"/>
                          <a:cs typeface="Courier New" pitchFamily="34" charset="-120"/>
                        </a:rPr>
                        <a:t>str</a:t>
                      </a:r>
                      <a:endParaRPr lang="en-US" sz="1100" dirty="0">
                        <a:latin typeface="Courier New" charset="0"/>
                        <a:ea typeface="Courier New" charset="0"/>
                        <a:cs typeface="Courier New"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100" dirty="0">
                          <a:solidFill>
                            <a:srgbClr val="0B3D6B"/>
                          </a:solidFill>
                          <a:latin typeface="Courier New" pitchFamily="34" charset="0"/>
                          <a:ea typeface="Courier New" pitchFamily="34" charset="-122"/>
                          <a:cs typeface="Courier New" pitchFamily="34" charset="-120"/>
                        </a:rPr>
                        <a:t>int64</a:t>
                      </a:r>
                      <a:endParaRPr lang="en-US" sz="1100" dirty="0">
                        <a:latin typeface="Courier New" charset="0"/>
                        <a:ea typeface="Courier New" charset="0"/>
                        <a:cs typeface="Courier New"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100" dirty="0">
                          <a:solidFill>
                            <a:srgbClr val="0B3D6B"/>
                          </a:solidFill>
                          <a:latin typeface="Courier New" pitchFamily="34" charset="0"/>
                          <a:ea typeface="Courier New" pitchFamily="34" charset="-122"/>
                          <a:cs typeface="Courier New" pitchFamily="34" charset="-120"/>
                        </a:rPr>
                        <a:t>float64</a:t>
                      </a:r>
                      <a:endParaRPr lang="en-US" sz="1100" dirty="0">
                        <a:latin typeface="Courier New" charset="0"/>
                        <a:ea typeface="Courier New" charset="0"/>
                        <a:cs typeface="Courier New"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100" dirty="0">
                          <a:solidFill>
                            <a:srgbClr val="0B3D6B"/>
                          </a:solidFill>
                          <a:latin typeface="Courier New" pitchFamily="34" charset="0"/>
                          <a:ea typeface="Courier New" pitchFamily="34" charset="-122"/>
                          <a:cs typeface="Courier New" pitchFamily="34" charset="-120"/>
                        </a:rPr>
                        <a:t>str</a:t>
                      </a:r>
                      <a:endParaRPr lang="en-US" sz="1100" dirty="0">
                        <a:latin typeface="Courier New" charset="0"/>
                        <a:ea typeface="Courier New" charset="0"/>
                        <a:cs typeface="Courier New" charset="0"/>
                      </a:endParaRPr>
                    </a:p>
                  </a:txBody>
                  <a:tcPr marL="50800" marR="50800" marT="50800" marB="508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566928" y="270662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8" name="Text 4"/>
          <p:cNvSpPr txBox="1"/>
          <p:nvPr/>
        </p:nvSpPr>
        <p:spPr>
          <a:xfrm>
            <a:off x="768096" y="286207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No dicionário, o tipo era de cada valor</a:t>
            </a:r>
            <a:endParaRPr lang="en-US" sz="1400" dirty="0"/>
          </a:p>
        </p:txBody>
      </p:sp>
      <p:sp>
        <p:nvSpPr>
          <p:cNvPr id="9" name="Text 5"/>
          <p:cNvSpPr txBox="1"/>
          <p:nvPr/>
        </p:nvSpPr>
        <p:spPr>
          <a:xfrm>
            <a:off x="768096" y="3191764"/>
            <a:ext cx="5024628"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Nada impedia </a:t>
            </a:r>
            <a:r>
              <a:rPr lang="en-US" sz="1196" dirty="0">
                <a:solidFill>
                  <a:srgbClr val="0B3D6B"/>
                </a:solidFill>
                <a:latin typeface="Courier New" pitchFamily="34" charset="0"/>
                <a:ea typeface="Courier New" pitchFamily="34" charset="-122"/>
                <a:cs typeface="Courier New" pitchFamily="34" charset="-120"/>
              </a:rPr>
              <a:t>valor_causa</a:t>
            </a:r>
            <a:r>
              <a:rPr lang="en-US" sz="1300" dirty="0">
                <a:solidFill>
                  <a:srgbClr val="16202C"/>
                </a:solidFill>
                <a:latin typeface="Calibri" pitchFamily="34" charset="0"/>
                <a:ea typeface="Calibri" pitchFamily="34" charset="-122"/>
                <a:cs typeface="Calibri" pitchFamily="34" charset="-120"/>
              </a:rPr>
              <a:t> ser </a:t>
            </a:r>
            <a:r>
              <a:rPr lang="en-US" sz="1196" dirty="0">
                <a:solidFill>
                  <a:srgbClr val="0B3D6B"/>
                </a:solidFill>
                <a:latin typeface="Courier New" pitchFamily="34" charset="0"/>
                <a:ea typeface="Courier New" pitchFamily="34" charset="-122"/>
                <a:cs typeface="Courier New" pitchFamily="34" charset="-120"/>
              </a:rPr>
              <a:t>float</a:t>
            </a:r>
            <a:r>
              <a:rPr lang="en-US" sz="1300" dirty="0">
                <a:solidFill>
                  <a:srgbClr val="16202C"/>
                </a:solidFill>
                <a:latin typeface="Calibri" pitchFamily="34" charset="0"/>
                <a:ea typeface="Calibri" pitchFamily="34" charset="-122"/>
                <a:cs typeface="Calibri" pitchFamily="34" charset="-120"/>
              </a:rPr>
              <a:t> numa decisão e </a:t>
            </a:r>
            <a:r>
              <a:rPr lang="en-US" sz="1196" dirty="0">
                <a:solidFill>
                  <a:srgbClr val="0B3D6B"/>
                </a:solidFill>
                <a:latin typeface="Courier New" pitchFamily="34" charset="0"/>
                <a:ea typeface="Courier New" pitchFamily="34" charset="-122"/>
                <a:cs typeface="Courier New" pitchFamily="34" charset="-120"/>
              </a:rPr>
              <a:t>str</a:t>
            </a:r>
            <a:r>
              <a:rPr lang="en-US" sz="1300" dirty="0">
                <a:solidFill>
                  <a:srgbClr val="16202C"/>
                </a:solidFill>
                <a:latin typeface="Calibri" pitchFamily="34" charset="0"/>
                <a:ea typeface="Calibri" pitchFamily="34" charset="-122"/>
                <a:cs typeface="Calibri" pitchFamily="34" charset="-120"/>
              </a:rPr>
              <a:t> em outra. O loop quebrava lá na frente.</a:t>
            </a:r>
            <a:endParaRPr lang="en-US" sz="1300" dirty="0"/>
          </a:p>
        </p:txBody>
      </p:sp>
      <p:sp>
        <p:nvSpPr>
          <p:cNvPr id="2" name="Shape 6"/>
          <p:cNvSpPr/>
          <p:nvPr/>
        </p:nvSpPr>
        <p:spPr>
          <a:xfrm>
            <a:off x="6195060" y="270662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11" name="Text 7"/>
          <p:cNvSpPr txBox="1"/>
          <p:nvPr/>
        </p:nvSpPr>
        <p:spPr>
          <a:xfrm>
            <a:off x="6396228" y="286207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Na tabela, o tipo é da coluna</a:t>
            </a:r>
            <a:endParaRPr lang="en-US" sz="1400" dirty="0"/>
          </a:p>
        </p:txBody>
      </p:sp>
      <p:sp>
        <p:nvSpPr>
          <p:cNvPr id="12" name="Text 8"/>
          <p:cNvSpPr txBox="1"/>
          <p:nvPr/>
        </p:nvSpPr>
        <p:spPr>
          <a:xfrm>
            <a:off x="6396228" y="3191764"/>
            <a:ext cx="5024628" cy="663702"/>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A coluna inteira é </a:t>
            </a:r>
            <a:r>
              <a:rPr lang="en-US" sz="1196" dirty="0">
                <a:solidFill>
                  <a:srgbClr val="0B3D6B"/>
                </a:solidFill>
                <a:latin typeface="Courier New" pitchFamily="34" charset="0"/>
                <a:ea typeface="Courier New" pitchFamily="34" charset="-122"/>
                <a:cs typeface="Courier New" pitchFamily="34" charset="-120"/>
              </a:rPr>
              <a:t>float64</a:t>
            </a:r>
            <a:r>
              <a:rPr lang="en-US" sz="1300" dirty="0">
                <a:solidFill>
                  <a:srgbClr val="16202C"/>
                </a:solidFill>
                <a:latin typeface="Calibri" pitchFamily="34" charset="0"/>
                <a:ea typeface="Calibri" pitchFamily="34" charset="-122"/>
                <a:cs typeface="Calibri" pitchFamily="34" charset="-120"/>
              </a:rPr>
              <a:t>, ou nenhuma delas é. Isso é uma garantia, e é o que permite somar 7.000 valores de uma vez.</a:t>
            </a:r>
            <a:endParaRPr lang="en-US" sz="1300" dirty="0"/>
          </a:p>
        </p:txBody>
      </p:sp>
      <p:sp>
        <p:nvSpPr>
          <p:cNvPr id="13"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esquema, que é o codebook</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16</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2194560"/>
        </p:xfrm>
        <a:graphic>
          <a:graphicData uri="http://schemas.openxmlformats.org/drawingml/2006/table">
            <a:tbl>
              <a:tblPr/>
              <a:tblGrid>
                <a:gridCol w="3685032">
                  <a:extLst>
                    <a:ext uri="{9D8B030D-6E8A-4147-A177-3AD203B41FA5}">
                      <a16:colId xmlns:a16="http://schemas.microsoft.com/office/drawing/2014/main" val="20000"/>
                    </a:ext>
                  </a:extLst>
                </a:gridCol>
                <a:gridCol w="3685032">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31089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Coluna</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Tipo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 que é</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extLst>
                  <a:ext uri="{0D108BD9-81ED-4DB2-BD59-A6C34878D82A}">
                    <a16:rowId xmlns:a16="http://schemas.microsoft.com/office/drawing/2014/main" val="10000"/>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processo</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str</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número CNJ, identificador único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ano</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int</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ano do ajuizamento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tribunal</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str</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sigla, conjunto fechado de 24</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resultado</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str</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conjunto fechado de 5</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valor_condenacao</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float</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reais, ausente quando não houve</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txBox="1"/>
          <p:nvPr/>
        </p:nvSpPr>
        <p:spPr>
          <a:xfrm>
            <a:off x="566928" y="3584448"/>
            <a:ext cx="11055096" cy="527558"/>
          </a:xfrm>
          <a:prstGeom prst="rect">
            <a:avLst/>
          </a:prstGeom>
          <a:noFill/>
          <a:ln/>
        </p:spPr>
        <p:txBody>
          <a:bodyPr wrap="square" lIns="0" tIns="0" rIns="0" bIns="0" rtlCol="0" anchor="t"/>
          <a:lstStyle/>
          <a:p>
            <a:pPr marL="0" indent="0">
              <a:buNone/>
            </a:pPr>
            <a:r>
              <a:rPr lang="en-US" sz="1550" dirty="0">
                <a:solidFill>
                  <a:srgbClr val="16202C"/>
                </a:solidFill>
                <a:latin typeface="Calibri" pitchFamily="34" charset="0"/>
                <a:ea typeface="Calibri" pitchFamily="34" charset="-122"/>
                <a:cs typeface="Calibri" pitchFamily="34" charset="-120"/>
              </a:rPr>
              <a:t>O </a:t>
            </a:r>
            <a:r>
              <a:rPr lang="en-US" sz="1550" b="1" dirty="0">
                <a:solidFill>
                  <a:srgbClr val="16202C"/>
                </a:solidFill>
                <a:latin typeface="Calibri" pitchFamily="34" charset="0"/>
                <a:ea typeface="Calibri" pitchFamily="34" charset="-122"/>
                <a:cs typeface="Calibri" pitchFamily="34" charset="-120"/>
              </a:rPr>
              <a:t>esquema</a:t>
            </a:r>
            <a:r>
              <a:rPr lang="en-US" sz="1550" dirty="0">
                <a:solidFill>
                  <a:srgbClr val="16202C"/>
                </a:solidFill>
                <a:latin typeface="Calibri" pitchFamily="34" charset="0"/>
                <a:ea typeface="Calibri" pitchFamily="34" charset="-122"/>
                <a:cs typeface="Calibri" pitchFamily="34" charset="-120"/>
              </a:rPr>
              <a:t> é o contrato da tabela: quais colunas existem, de que tipo, e o que cada uma significa. </a:t>
            </a:r>
            <a:endParaRPr lang="en-US" sz="1550" dirty="0"/>
          </a:p>
        </p:txBody>
      </p:sp>
      <p:sp>
        <p:nvSpPr>
          <p:cNvPr id="12"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0A06-30C8-02A1-824B-82163F74A3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84A42D-98F8-1D01-BA77-005AF862BB9A}"/>
              </a:ext>
            </a:extLst>
          </p:cNvPr>
          <p:cNvSpPr txBox="1"/>
          <p:nvPr/>
        </p:nvSpPr>
        <p:spPr>
          <a:xfrm>
            <a:off x="604156" y="375557"/>
            <a:ext cx="9249527" cy="523220"/>
          </a:xfrm>
          <a:prstGeom prst="rect">
            <a:avLst/>
          </a:prstGeom>
          <a:noFill/>
        </p:spPr>
        <p:txBody>
          <a:bodyPr wrap="square" rtlCol="0">
            <a:spAutoFit/>
          </a:bodyPr>
          <a:lstStyle/>
          <a:p>
            <a:r>
              <a:rPr lang="pt-BR" sz="2800" b="1" dirty="0">
                <a:solidFill>
                  <a:srgbClr val="FF0000"/>
                </a:solidFill>
              </a:rPr>
              <a:t>Por que?</a:t>
            </a:r>
            <a:endParaRPr lang="pt-BR" sz="2800" b="1" noProof="0" dirty="0">
              <a:solidFill>
                <a:srgbClr val="FF0000"/>
              </a:solidFill>
            </a:endParaRPr>
          </a:p>
        </p:txBody>
      </p:sp>
      <p:sp>
        <p:nvSpPr>
          <p:cNvPr id="2" name="TextBox 1">
            <a:extLst>
              <a:ext uri="{FF2B5EF4-FFF2-40B4-BE49-F238E27FC236}">
                <a16:creationId xmlns:a16="http://schemas.microsoft.com/office/drawing/2014/main" id="{5C864796-AA53-C2A5-5D70-76ABD84CBE98}"/>
              </a:ext>
            </a:extLst>
          </p:cNvPr>
          <p:cNvSpPr txBox="1"/>
          <p:nvPr/>
        </p:nvSpPr>
        <p:spPr>
          <a:xfrm>
            <a:off x="914400" y="1589314"/>
            <a:ext cx="10368643" cy="1200329"/>
          </a:xfrm>
          <a:prstGeom prst="rect">
            <a:avLst/>
          </a:prstGeom>
          <a:noFill/>
        </p:spPr>
        <p:txBody>
          <a:bodyPr wrap="square" rtlCol="0">
            <a:spAutoFit/>
          </a:bodyPr>
          <a:lstStyle/>
          <a:p>
            <a:pPr marL="285750" indent="-285750">
              <a:buFont typeface="Arial" panose="020B0604020202020204" pitchFamily="34" charset="0"/>
              <a:buChar char="•"/>
            </a:pPr>
            <a:r>
              <a:rPr lang="pt-BR" noProof="0" dirty="0"/>
              <a:t>É um pacote seguro e confiável, que ja foi testado por várias pesquisadoras</a:t>
            </a:r>
          </a:p>
          <a:p>
            <a:endParaRPr lang="pt-BR" noProof="0" dirty="0"/>
          </a:p>
          <a:p>
            <a:pPr marL="285750" indent="-285750">
              <a:buFont typeface="Arial" panose="020B0604020202020204" pitchFamily="34" charset="0"/>
              <a:buChar char="•"/>
            </a:pPr>
            <a:r>
              <a:rPr lang="pt-BR" dirty="0"/>
              <a:t>Estrutura de df, na qual as variáveis de cada observação/linha seguem o mesmo esquema de tipos, permite manipulações mais eficientes dos dados</a:t>
            </a:r>
            <a:endParaRPr lang="pt-BR" noProof="0" dirty="0"/>
          </a:p>
        </p:txBody>
      </p:sp>
      <p:sp>
        <p:nvSpPr>
          <p:cNvPr id="4"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extLst>
      <p:ext uri="{BB962C8B-B14F-4D97-AF65-F5344CB8AC3E}">
        <p14:creationId xmlns:p14="http://schemas.microsoft.com/office/powerpoint/2010/main" val="2376073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 chave primária</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17</a:t>
            </a:r>
            <a:endParaRPr lang="en-US" sz="900" dirty="0"/>
          </a:p>
        </p:txBody>
      </p:sp>
      <p:sp>
        <p:nvSpPr>
          <p:cNvPr id="6" name="Shape 3"/>
          <p:cNvSpPr/>
          <p:nvPr/>
        </p:nvSpPr>
        <p:spPr>
          <a:xfrm>
            <a:off x="566928" y="1298448"/>
            <a:ext cx="11055096" cy="549148"/>
          </a:xfrm>
          <a:prstGeom prst="roundRect">
            <a:avLst>
              <a:gd name="adj" fmla="val 6660"/>
            </a:avLst>
          </a:prstGeom>
          <a:solidFill>
            <a:srgbClr val="F4F6F9"/>
          </a:solidFill>
          <a:ln w="9525">
            <a:solidFill>
              <a:srgbClr val="E2E8F0"/>
            </a:solidFill>
            <a:prstDash val="solid"/>
          </a:ln>
        </p:spPr>
        <p:txBody>
          <a:bodyPr/>
          <a:lstStyle/>
          <a:p>
            <a:endParaRPr lang="en-US"/>
          </a:p>
        </p:txBody>
      </p:sp>
      <p:sp>
        <p:nvSpPr>
          <p:cNvPr id="7" name="Text 4"/>
          <p:cNvSpPr txBox="1"/>
          <p:nvPr/>
        </p:nvSpPr>
        <p:spPr>
          <a:xfrm>
            <a:off x="841248" y="1453896"/>
            <a:ext cx="10506456" cy="238252"/>
          </a:xfrm>
          <a:prstGeom prst="rect">
            <a:avLst/>
          </a:prstGeom>
          <a:noFill/>
          <a:ln/>
        </p:spPr>
        <p:txBody>
          <a:bodyPr wrap="square" lIns="0" tIns="0" rIns="0" bIns="0" rtlCol="0" anchor="t"/>
          <a:lstStyle/>
          <a:p>
            <a:pPr marL="0" indent="0">
              <a:buNone/>
            </a:pPr>
            <a:r>
              <a:rPr lang="en-US" sz="1400" dirty="0">
                <a:solidFill>
                  <a:srgbClr val="16202C"/>
                </a:solidFill>
                <a:latin typeface="Courier New" pitchFamily="34" charset="0"/>
                <a:ea typeface="Courier New" pitchFamily="34" charset="-122"/>
                <a:cs typeface="Courier New" pitchFamily="34" charset="-120"/>
              </a:rPr>
              <a:t>processos["processo"].duplicated().sum()     # 0</a:t>
            </a:r>
            <a:endParaRPr lang="en-US" sz="1400" dirty="0"/>
          </a:p>
        </p:txBody>
      </p:sp>
      <p:sp>
        <p:nvSpPr>
          <p:cNvPr id="8" name="Shape 5"/>
          <p:cNvSpPr/>
          <p:nvPr/>
        </p:nvSpPr>
        <p:spPr>
          <a:xfrm>
            <a:off x="566928" y="214020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9" name="Text 6"/>
          <p:cNvSpPr txBox="1"/>
          <p:nvPr/>
        </p:nvSpPr>
        <p:spPr>
          <a:xfrm>
            <a:off x="768096" y="229565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O que é</a:t>
            </a:r>
            <a:endParaRPr lang="en-US" sz="1400" dirty="0"/>
          </a:p>
        </p:txBody>
      </p:sp>
      <p:sp>
        <p:nvSpPr>
          <p:cNvPr id="10" name="Text 7"/>
          <p:cNvSpPr txBox="1"/>
          <p:nvPr/>
        </p:nvSpPr>
        <p:spPr>
          <a:xfrm>
            <a:off x="768096" y="2625344"/>
            <a:ext cx="5024628" cy="663702"/>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A coluna que identifica a linha sem ambiguidade. Aqui, o número CNJ: cada um aparece uma única vez, e não existe linha sem ele.</a:t>
            </a:r>
            <a:endParaRPr lang="en-US" sz="1300" dirty="0"/>
          </a:p>
        </p:txBody>
      </p:sp>
      <p:sp>
        <p:nvSpPr>
          <p:cNvPr id="11" name="Shape 8"/>
          <p:cNvSpPr/>
          <p:nvPr/>
        </p:nvSpPr>
        <p:spPr>
          <a:xfrm>
            <a:off x="6195060" y="214020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12" name="Text 9"/>
          <p:cNvSpPr txBox="1"/>
          <p:nvPr/>
        </p:nvSpPr>
        <p:spPr>
          <a:xfrm>
            <a:off x="6396228" y="229565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Para que serve</a:t>
            </a:r>
            <a:endParaRPr lang="en-US" sz="1400" dirty="0"/>
          </a:p>
        </p:txBody>
      </p:sp>
      <p:sp>
        <p:nvSpPr>
          <p:cNvPr id="13" name="Text 10"/>
          <p:cNvSpPr txBox="1"/>
          <p:nvPr/>
        </p:nvSpPr>
        <p:spPr>
          <a:xfrm>
            <a:off x="6396228" y="2625344"/>
            <a:ext cx="5024628"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Para não contar o mesmo processo duas vezes, e para ligar esta tabela a outra que fale dos mesmos processos.</a:t>
            </a:r>
            <a:endParaRPr lang="en-US" sz="1300" dirty="0"/>
          </a:p>
        </p:txBody>
      </p:sp>
      <p:sp>
        <p:nvSpPr>
          <p:cNvPr id="14" name="Text 11"/>
          <p:cNvSpPr txBox="1"/>
          <p:nvPr/>
        </p:nvSpPr>
        <p:spPr>
          <a:xfrm>
            <a:off x="566928" y="3938270"/>
            <a:ext cx="11055096" cy="527558"/>
          </a:xfrm>
          <a:prstGeom prst="rect">
            <a:avLst/>
          </a:prstGeom>
          <a:noFill/>
          <a:ln/>
        </p:spPr>
        <p:txBody>
          <a:bodyPr wrap="square" lIns="0" tIns="0" rIns="0" bIns="0" rtlCol="0" anchor="t"/>
          <a:lstStyle/>
          <a:p>
            <a:pPr marL="0" indent="0">
              <a:buNone/>
            </a:pPr>
            <a:r>
              <a:rPr lang="en-US" sz="1550" dirty="0">
                <a:solidFill>
                  <a:srgbClr val="16202C"/>
                </a:solidFill>
                <a:latin typeface="Calibri" pitchFamily="34" charset="0"/>
                <a:ea typeface="Calibri" pitchFamily="34" charset="-122"/>
                <a:cs typeface="Calibri" pitchFamily="34" charset="-120"/>
              </a:rPr>
              <a:t>Nome não serve como chave: existe mais de uma Maria Silva, e a mesma empresa aparece como </a:t>
            </a:r>
            <a:r>
              <a:rPr lang="en-US" sz="1426" dirty="0">
                <a:solidFill>
                  <a:srgbClr val="0B3D6B"/>
                </a:solidFill>
                <a:latin typeface="Courier New" pitchFamily="34" charset="0"/>
                <a:ea typeface="Courier New" pitchFamily="34" charset="-122"/>
                <a:cs typeface="Courier New" pitchFamily="34" charset="-120"/>
              </a:rPr>
              <a:t>BANCO BRADESCO S.A.</a:t>
            </a:r>
            <a:r>
              <a:rPr lang="en-US" sz="1550" dirty="0">
                <a:solidFill>
                  <a:srgbClr val="16202C"/>
                </a:solidFill>
                <a:latin typeface="Calibri" pitchFamily="34" charset="0"/>
                <a:ea typeface="Calibri" pitchFamily="34" charset="-122"/>
                <a:cs typeface="Calibri" pitchFamily="34" charset="-120"/>
              </a:rPr>
              <a:t>, </a:t>
            </a:r>
            <a:r>
              <a:rPr lang="en-US" sz="1426" dirty="0">
                <a:solidFill>
                  <a:srgbClr val="0B3D6B"/>
                </a:solidFill>
                <a:latin typeface="Courier New" pitchFamily="34" charset="0"/>
                <a:ea typeface="Courier New" pitchFamily="34" charset="-122"/>
                <a:cs typeface="Courier New" pitchFamily="34" charset="-120"/>
              </a:rPr>
              <a:t>BANCO BRADESCO SA</a:t>
            </a:r>
            <a:r>
              <a:rPr lang="en-US" sz="1550" dirty="0">
                <a:solidFill>
                  <a:srgbClr val="16202C"/>
                </a:solidFill>
                <a:latin typeface="Calibri" pitchFamily="34" charset="0"/>
                <a:ea typeface="Calibri" pitchFamily="34" charset="-122"/>
                <a:cs typeface="Calibri" pitchFamily="34" charset="-120"/>
              </a:rPr>
              <a:t> e </a:t>
            </a:r>
            <a:r>
              <a:rPr lang="en-US" sz="1426" dirty="0">
                <a:solidFill>
                  <a:srgbClr val="0B3D6B"/>
                </a:solidFill>
                <a:latin typeface="Courier New" pitchFamily="34" charset="0"/>
                <a:ea typeface="Courier New" pitchFamily="34" charset="-122"/>
                <a:cs typeface="Courier New" pitchFamily="34" charset="-120"/>
              </a:rPr>
              <a:t>BANCO BRADESCO S/A</a:t>
            </a:r>
            <a:r>
              <a:rPr lang="en-US" sz="1550" dirty="0">
                <a:solidFill>
                  <a:srgbClr val="16202C"/>
                </a:solidFill>
                <a:latin typeface="Calibri" pitchFamily="34" charset="0"/>
                <a:ea typeface="Calibri" pitchFamily="34" charset="-122"/>
                <a:cs typeface="Calibri" pitchFamily="34" charset="-120"/>
              </a:rPr>
              <a:t>.</a:t>
            </a:r>
            <a:endParaRPr lang="en-US" sz="1550" dirty="0"/>
          </a:p>
        </p:txBody>
      </p:sp>
      <p:sp>
        <p:nvSpPr>
          <p:cNvPr id="15"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índice</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18</a:t>
            </a:r>
            <a:endParaRPr lang="en-US" sz="900" dirty="0"/>
          </a:p>
        </p:txBody>
      </p:sp>
      <p:sp>
        <p:nvSpPr>
          <p:cNvPr id="6" name="Shape 3"/>
          <p:cNvSpPr/>
          <p:nvPr/>
        </p:nvSpPr>
        <p:spPr>
          <a:xfrm>
            <a:off x="566928" y="1298448"/>
            <a:ext cx="11055096" cy="549148"/>
          </a:xfrm>
          <a:prstGeom prst="roundRect">
            <a:avLst>
              <a:gd name="adj" fmla="val 6660"/>
            </a:avLst>
          </a:prstGeom>
          <a:solidFill>
            <a:srgbClr val="F4F6F9"/>
          </a:solidFill>
          <a:ln w="9525">
            <a:solidFill>
              <a:srgbClr val="E2E8F0"/>
            </a:solidFill>
            <a:prstDash val="solid"/>
          </a:ln>
        </p:spPr>
        <p:txBody>
          <a:bodyPr/>
          <a:lstStyle/>
          <a:p>
            <a:endParaRPr lang="en-US"/>
          </a:p>
        </p:txBody>
      </p:sp>
      <p:sp>
        <p:nvSpPr>
          <p:cNvPr id="7" name="Text 4"/>
          <p:cNvSpPr txBox="1"/>
          <p:nvPr/>
        </p:nvSpPr>
        <p:spPr>
          <a:xfrm>
            <a:off x="841248" y="1453896"/>
            <a:ext cx="10506456" cy="238252"/>
          </a:xfrm>
          <a:prstGeom prst="rect">
            <a:avLst/>
          </a:prstGeom>
          <a:noFill/>
          <a:ln/>
        </p:spPr>
        <p:txBody>
          <a:bodyPr wrap="square" lIns="0" tIns="0" rIns="0" bIns="0" rtlCol="0" anchor="t"/>
          <a:lstStyle/>
          <a:p>
            <a:pPr marL="0" indent="0">
              <a:buNone/>
            </a:pPr>
            <a:r>
              <a:rPr lang="en-US" sz="1400" dirty="0">
                <a:solidFill>
                  <a:srgbClr val="16202C"/>
                </a:solidFill>
                <a:latin typeface="Courier New" pitchFamily="34" charset="0"/>
                <a:ea typeface="Courier New" pitchFamily="34" charset="-122"/>
                <a:cs typeface="Courier New" pitchFamily="34" charset="-120"/>
              </a:rPr>
              <a:t>processos.loc[0]        # a primeira linha, pelo rótulo</a:t>
            </a:r>
            <a:endParaRPr lang="en-US" sz="1400" dirty="0"/>
          </a:p>
        </p:txBody>
      </p:sp>
      <p:sp>
        <p:nvSpPr>
          <p:cNvPr id="8" name="Shape 5"/>
          <p:cNvSpPr/>
          <p:nvPr/>
        </p:nvSpPr>
        <p:spPr>
          <a:xfrm>
            <a:off x="566928" y="214020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9" name="Text 6"/>
          <p:cNvSpPr txBox="1"/>
          <p:nvPr/>
        </p:nvSpPr>
        <p:spPr>
          <a:xfrm>
            <a:off x="768096" y="229565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O </a:t>
            </a:r>
            <a:r>
              <a:rPr lang="en-US" sz="1400" b="1" dirty="0" err="1">
                <a:solidFill>
                  <a:srgbClr val="023A78"/>
                </a:solidFill>
                <a:latin typeface="Calibri" pitchFamily="34" charset="0"/>
                <a:ea typeface="Calibri" pitchFamily="34" charset="-122"/>
                <a:cs typeface="Calibri" pitchFamily="34" charset="-120"/>
              </a:rPr>
              <a:t>que</a:t>
            </a:r>
            <a:r>
              <a:rPr lang="en-US" sz="1400" b="1" dirty="0">
                <a:solidFill>
                  <a:srgbClr val="023A78"/>
                </a:solidFill>
                <a:latin typeface="Calibri" pitchFamily="34" charset="0"/>
                <a:ea typeface="Calibri" pitchFamily="34" charset="-122"/>
                <a:cs typeface="Calibri" pitchFamily="34" charset="-120"/>
              </a:rPr>
              <a:t> é </a:t>
            </a:r>
            <a:r>
              <a:rPr lang="en-US" sz="1400" b="1" dirty="0" err="1">
                <a:solidFill>
                  <a:srgbClr val="023A78"/>
                </a:solidFill>
                <a:latin typeface="Calibri" pitchFamily="34" charset="0"/>
                <a:ea typeface="Calibri" pitchFamily="34" charset="-122"/>
                <a:cs typeface="Calibri" pitchFamily="34" charset="-120"/>
              </a:rPr>
              <a:t>índice</a:t>
            </a:r>
            <a:r>
              <a:rPr lang="en-US" sz="1400" b="1" dirty="0">
                <a:solidFill>
                  <a:srgbClr val="023A78"/>
                </a:solidFill>
                <a:latin typeface="Calibri" pitchFamily="34" charset="0"/>
                <a:ea typeface="Calibri" pitchFamily="34" charset="-122"/>
                <a:cs typeface="Calibri" pitchFamily="34" charset="-120"/>
              </a:rPr>
              <a:t> no </a:t>
            </a:r>
            <a:r>
              <a:rPr lang="en-US" sz="1400" b="1" dirty="0">
                <a:solidFill>
                  <a:srgbClr val="FF0000"/>
                </a:solidFill>
                <a:latin typeface="Calibri" pitchFamily="34" charset="0"/>
                <a:ea typeface="Calibri" pitchFamily="34" charset="-122"/>
                <a:cs typeface="Calibri" pitchFamily="34" charset="-120"/>
              </a:rPr>
              <a:t>Pandas?</a:t>
            </a:r>
            <a:endParaRPr lang="en-US" sz="1400" dirty="0">
              <a:solidFill>
                <a:srgbClr val="FF0000"/>
              </a:solidFill>
            </a:endParaRPr>
          </a:p>
        </p:txBody>
      </p:sp>
      <p:sp>
        <p:nvSpPr>
          <p:cNvPr id="10" name="Text 7"/>
          <p:cNvSpPr txBox="1"/>
          <p:nvPr/>
        </p:nvSpPr>
        <p:spPr>
          <a:xfrm>
            <a:off x="768096" y="2625344"/>
            <a:ext cx="5024628" cy="663702"/>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O rótulo de cada linha. Por padrão, 0, 1, 2, 3... É o que aparece na coluna sem nome, à esquerda, quando você dá </a:t>
            </a:r>
            <a:r>
              <a:rPr lang="en-US" sz="1196" dirty="0">
                <a:solidFill>
                  <a:srgbClr val="0B3D6B"/>
                </a:solidFill>
                <a:latin typeface="Courier New" pitchFamily="34" charset="0"/>
                <a:ea typeface="Courier New" pitchFamily="34" charset="-122"/>
                <a:cs typeface="Courier New" pitchFamily="34" charset="-120"/>
              </a:rPr>
              <a:t>head()</a:t>
            </a:r>
            <a:r>
              <a:rPr lang="en-US" sz="1300" dirty="0">
                <a:solidFill>
                  <a:srgbClr val="16202C"/>
                </a:solidFill>
                <a:latin typeface="Calibri" pitchFamily="34" charset="0"/>
                <a:ea typeface="Calibri" pitchFamily="34" charset="-122"/>
                <a:cs typeface="Calibri" pitchFamily="34" charset="-120"/>
              </a:rPr>
              <a:t>.</a:t>
            </a:r>
            <a:endParaRPr lang="en-US" sz="1300" dirty="0"/>
          </a:p>
        </p:txBody>
      </p:sp>
      <p:sp>
        <p:nvSpPr>
          <p:cNvPr id="11" name="Shape 8"/>
          <p:cNvSpPr/>
          <p:nvPr/>
        </p:nvSpPr>
        <p:spPr>
          <a:xfrm>
            <a:off x="6195060" y="2140204"/>
            <a:ext cx="5426964" cy="1468882"/>
          </a:xfrm>
          <a:prstGeom prst="roundRect">
            <a:avLst>
              <a:gd name="adj" fmla="val 3113"/>
            </a:avLst>
          </a:prstGeom>
          <a:solidFill>
            <a:srgbClr val="F4F6F9"/>
          </a:solidFill>
          <a:ln w="9525">
            <a:solidFill>
              <a:srgbClr val="E2E8F0"/>
            </a:solidFill>
            <a:prstDash val="solid"/>
          </a:ln>
        </p:spPr>
        <p:txBody>
          <a:bodyPr/>
          <a:lstStyle/>
          <a:p>
            <a:endParaRPr lang="en-US"/>
          </a:p>
        </p:txBody>
      </p:sp>
      <p:sp>
        <p:nvSpPr>
          <p:cNvPr id="12" name="Text 9"/>
          <p:cNvSpPr txBox="1"/>
          <p:nvPr/>
        </p:nvSpPr>
        <p:spPr>
          <a:xfrm>
            <a:off x="6396228" y="2295652"/>
            <a:ext cx="5024628"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O que ele não é</a:t>
            </a:r>
            <a:endParaRPr lang="en-US" sz="1400" dirty="0"/>
          </a:p>
        </p:txBody>
      </p:sp>
      <p:sp>
        <p:nvSpPr>
          <p:cNvPr id="13" name="Text 10"/>
          <p:cNvSpPr txBox="1"/>
          <p:nvPr/>
        </p:nvSpPr>
        <p:spPr>
          <a:xfrm>
            <a:off x="6396228" y="2625344"/>
            <a:ext cx="5024628" cy="663702"/>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 Não é uma coluna. </a:t>
            </a:r>
            <a:r>
              <a:rPr lang="en-US" sz="1196" dirty="0">
                <a:solidFill>
                  <a:srgbClr val="0B3D6B"/>
                </a:solidFill>
                <a:latin typeface="Courier New" pitchFamily="34" charset="0"/>
                <a:ea typeface="Courier New" pitchFamily="34" charset="-122"/>
                <a:cs typeface="Courier New" pitchFamily="34" charset="-120"/>
              </a:rPr>
              <a:t>processos["ano"]</a:t>
            </a:r>
            <a:r>
              <a:rPr lang="en-US" sz="1300" dirty="0">
                <a:solidFill>
                  <a:srgbClr val="16202C"/>
                </a:solidFill>
                <a:latin typeface="Calibri" pitchFamily="34" charset="0"/>
                <a:ea typeface="Calibri" pitchFamily="34" charset="-122"/>
                <a:cs typeface="Calibri" pitchFamily="34" charset="-120"/>
              </a:rPr>
              <a:t> funciona; </a:t>
            </a:r>
            <a:r>
              <a:rPr lang="en-US" sz="1196" dirty="0">
                <a:solidFill>
                  <a:srgbClr val="0B3D6B"/>
                </a:solidFill>
                <a:latin typeface="Courier New" pitchFamily="34" charset="0"/>
                <a:ea typeface="Courier New" pitchFamily="34" charset="-122"/>
                <a:cs typeface="Courier New" pitchFamily="34" charset="-120"/>
              </a:rPr>
              <a:t>processos[0]</a:t>
            </a:r>
            <a:r>
              <a:rPr lang="en-US" sz="1300" dirty="0">
                <a:solidFill>
                  <a:srgbClr val="16202C"/>
                </a:solidFill>
                <a:latin typeface="Calibri" pitchFamily="34" charset="0"/>
                <a:ea typeface="Calibri" pitchFamily="34" charset="-122"/>
                <a:cs typeface="Calibri" pitchFamily="34" charset="-120"/>
              </a:rPr>
              <a:t> não. Quando você filtra linhas, o índice </a:t>
            </a:r>
            <a:r>
              <a:rPr lang="en-US" sz="1300" b="1" dirty="0">
                <a:solidFill>
                  <a:srgbClr val="16202C"/>
                </a:solidFill>
                <a:latin typeface="Calibri" pitchFamily="34" charset="0"/>
                <a:ea typeface="Calibri" pitchFamily="34" charset="-122"/>
                <a:cs typeface="Calibri" pitchFamily="34" charset="-120"/>
              </a:rPr>
              <a:t>vem junto</a:t>
            </a:r>
            <a:r>
              <a:rPr lang="en-US" sz="1300" dirty="0">
                <a:solidFill>
                  <a:srgbClr val="16202C"/>
                </a:solidFill>
                <a:latin typeface="Calibri" pitchFamily="34" charset="0"/>
                <a:ea typeface="Calibri" pitchFamily="34" charset="-122"/>
                <a:cs typeface="Calibri" pitchFamily="34" charset="-120"/>
              </a:rPr>
              <a:t> e fica com buracos.</a:t>
            </a:r>
            <a:endParaRPr lang="en-US" sz="1300" dirty="0"/>
          </a:p>
        </p:txBody>
      </p:sp>
      <p:sp>
        <p:nvSpPr>
          <p:cNvPr id="14" name="Text 11"/>
          <p:cNvSpPr txBox="1"/>
          <p:nvPr/>
        </p:nvSpPr>
        <p:spPr>
          <a:xfrm>
            <a:off x="566928" y="3938270"/>
            <a:ext cx="11055096" cy="527558"/>
          </a:xfrm>
          <a:prstGeom prst="rect">
            <a:avLst/>
          </a:prstGeom>
          <a:noFill/>
          <a:ln/>
        </p:spPr>
        <p:txBody>
          <a:bodyPr wrap="square" lIns="0" tIns="0" rIns="0" bIns="0" rtlCol="0" anchor="t"/>
          <a:lstStyle/>
          <a:p>
            <a:pPr marL="0" indent="0">
              <a:buNone/>
            </a:pPr>
            <a:r>
              <a:rPr lang="en-US" sz="1550" dirty="0">
                <a:solidFill>
                  <a:srgbClr val="16202C"/>
                </a:solidFill>
                <a:latin typeface="Calibri" pitchFamily="34" charset="0"/>
                <a:ea typeface="Calibri" pitchFamily="34" charset="-122"/>
                <a:cs typeface="Calibri" pitchFamily="34" charset="-120"/>
              </a:rPr>
              <a:t>Em </a:t>
            </a:r>
            <a:r>
              <a:rPr lang="en-US" sz="1550" b="1" dirty="0">
                <a:solidFill>
                  <a:srgbClr val="FF0000"/>
                </a:solidFill>
                <a:latin typeface="Calibri" pitchFamily="34" charset="0"/>
                <a:ea typeface="Calibri" pitchFamily="34" charset="-122"/>
                <a:cs typeface="Calibri" pitchFamily="34" charset="-120"/>
              </a:rPr>
              <a:t>banco de dados</a:t>
            </a:r>
            <a:r>
              <a:rPr lang="en-US" sz="1550" dirty="0">
                <a:solidFill>
                  <a:srgbClr val="16202C"/>
                </a:solidFill>
                <a:latin typeface="Calibri" pitchFamily="34" charset="0"/>
                <a:ea typeface="Calibri" pitchFamily="34" charset="-122"/>
                <a:cs typeface="Calibri" pitchFamily="34" charset="-120"/>
              </a:rPr>
              <a:t>, "índice" é outra coisa: uma estrutura que torna a busca rápida, como o índice remissivo de um livro. Guardem os dois sentidos.</a:t>
            </a:r>
            <a:endParaRPr lang="en-US" sz="1550" dirty="0"/>
          </a:p>
        </p:txBody>
      </p:sp>
      <p:sp>
        <p:nvSpPr>
          <p:cNvPr id="16" name="Usos"/>
          <p:cNvSpPr/>
          <p:nvPr/>
        </p:nvSpPr>
        <p:spPr>
          <a:xfrm>
            <a:off x="566928" y="4617720"/>
            <a:ext cx="11055096" cy="1481328"/>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Usos txt"/>
          <p:cNvSpPr txBox="1"/>
          <p:nvPr/>
        </p:nvSpPr>
        <p:spPr>
          <a:xfrm>
            <a:off x="822960" y="4791456"/>
            <a:ext cx="10515600" cy="1188720"/>
          </a:xfrm>
          <a:prstGeom prst="rect">
            <a:avLst/>
          </a:prstGeom>
          <a:noFill/>
        </p:spPr>
        <p:txBody>
          <a:bodyPr wrap="square" lIns="0" tIns="0" rIns="0" bIns="0">
            <a:spAutoFit/>
          </a:bodyPr>
          <a:lstStyle/>
          <a:p>
            <a:r>
              <a:rPr sz="1300" b="1">
                <a:solidFill>
                  <a:srgbClr val="023A78"/>
                </a:solidFill>
                <a:latin typeface="Calibri"/>
              </a:rPr>
              <a:t>Para que serve</a:t>
            </a:r>
          </a:p>
          <a:p>
            <a:pPr>
              <a:spcBef>
                <a:spcPts val="200"/>
              </a:spcBef>
            </a:pPr>
            <a:r>
              <a:rPr sz="1150" b="1">
                <a:solidFill>
                  <a:srgbClr val="023A78"/>
                </a:solidFill>
                <a:latin typeface="Calibri"/>
              </a:rPr>
              <a:t>·  Pedir uma linha pelo rótulo</a:t>
            </a:r>
            <a:r>
              <a:rPr sz="1100">
                <a:solidFill>
                  <a:srgbClr val="023A78"/>
                </a:solidFill>
                <a:latin typeface="Courier New"/>
              </a:rPr>
              <a:t>  processos.loc[0]</a:t>
            </a:r>
          </a:p>
          <a:p>
            <a:pPr>
              <a:spcBef>
                <a:spcPts val="200"/>
              </a:spcBef>
            </a:pPr>
            <a:r>
              <a:rPr sz="1150" b="1">
                <a:solidFill>
                  <a:srgbClr val="023A78"/>
                </a:solidFill>
                <a:latin typeface="Calibri"/>
              </a:rPr>
              <a:t>·  Ver o que sobrou de um filtro</a:t>
            </a:r>
            <a:r>
              <a:rPr sz="1150">
                <a:solidFill>
                  <a:srgbClr val="3C4A5A"/>
                </a:solidFill>
                <a:latin typeface="Calibri"/>
              </a:rPr>
              <a:t> — o índice vem com buracos: 759, 761, 768…</a:t>
            </a:r>
          </a:p>
          <a:p>
            <a:pPr>
              <a:spcBef>
                <a:spcPts val="200"/>
              </a:spcBef>
            </a:pPr>
            <a:r>
              <a:rPr sz="1150" b="1">
                <a:solidFill>
                  <a:srgbClr val="023A78"/>
                </a:solidFill>
                <a:latin typeface="Calibri"/>
              </a:rPr>
              <a:t>·  Guardar os grupos do groupby</a:t>
            </a:r>
            <a:r>
              <a:rPr sz="1150">
                <a:solidFill>
                  <a:srgbClr val="3C4A5A"/>
                </a:solidFill>
                <a:latin typeface="Calibri"/>
              </a:rPr>
              <a:t> — os setores viram o índice do resultado</a:t>
            </a:r>
          </a:p>
          <a:p>
            <a:pPr>
              <a:spcBef>
                <a:spcPts val="200"/>
              </a:spcBef>
            </a:pPr>
            <a:r>
              <a:rPr sz="1150" b="1">
                <a:solidFill>
                  <a:srgbClr val="023A78"/>
                </a:solidFill>
                <a:latin typeface="Calibri"/>
              </a:rPr>
              <a:t>·  Alinhar duas tabelas</a:t>
            </a:r>
            <a:r>
              <a:rPr sz="1150">
                <a:solidFill>
                  <a:srgbClr val="3C4A5A"/>
                </a:solidFill>
                <a:latin typeface="Calibri"/>
              </a:rPr>
              <a:t> — o pandas casa linha com linha pelo rótulo, não pela ordem</a:t>
            </a:r>
          </a:p>
          <a:p>
            <a:pPr>
              <a:spcBef>
                <a:spcPts val="200"/>
              </a:spcBef>
            </a:pPr>
            <a:r>
              <a:rPr sz="1150" b="1">
                <a:solidFill>
                  <a:srgbClr val="023A78"/>
                </a:solidFill>
                <a:latin typeface="Calibri"/>
              </a:rPr>
              <a:t>·  Virar coluna de novo</a:t>
            </a:r>
            <a:r>
              <a:rPr sz="1100">
                <a:solidFill>
                  <a:srgbClr val="023A78"/>
                </a:solidFill>
                <a:latin typeface="Courier New"/>
              </a:rPr>
              <a:t>  reset_index()</a:t>
            </a:r>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Onde o dado mora</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19</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2042160"/>
        </p:xfrm>
        <a:graphic>
          <a:graphicData uri="http://schemas.openxmlformats.org/drawingml/2006/table">
            <a:tbl>
              <a:tblPr/>
              <a:tblGrid>
                <a:gridCol w="3685032">
                  <a:extLst>
                    <a:ext uri="{9D8B030D-6E8A-4147-A177-3AD203B41FA5}">
                      <a16:colId xmlns:a16="http://schemas.microsoft.com/office/drawing/2014/main" val="20000"/>
                    </a:ext>
                  </a:extLst>
                </a:gridCol>
                <a:gridCol w="3685032">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31089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Formato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 que é</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Quando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023A78"/>
                    </a:solidFill>
                  </a:tcPr>
                </a:tc>
                <a:extLst>
                  <a:ext uri="{0D108BD9-81ED-4DB2-BD59-A6C34878D82A}">
                    <a16:rowId xmlns:a16="http://schemas.microsoft.com/office/drawing/2014/main" val="10000"/>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.csv</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texto puro, uma linha por linha, vírgulas entre colunas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troca, publicação, aula</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.xlsx</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planilha do Excel, com fórmulas e formatação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quando veio assim</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0896">
                <a:tc>
                  <a:txBody>
                    <a:bodyPr/>
                    <a:lstStyle/>
                    <a:p>
                      <a:pPr marL="0" indent="0">
                        <a:buNone/>
                      </a:pPr>
                      <a:r>
                        <a:rPr lang="en-US" sz="1250" dirty="0">
                          <a:solidFill>
                            <a:srgbClr val="0B3D6B"/>
                          </a:solidFill>
                          <a:latin typeface="Courier New" pitchFamily="34" charset="0"/>
                          <a:ea typeface="Courier New" pitchFamily="34" charset="-122"/>
                          <a:cs typeface="Courier New" pitchFamily="34" charset="-120"/>
                        </a:rPr>
                        <a:t>.parquet</a:t>
                      </a:r>
                      <a:endParaRPr lang="en-US" sz="1250" dirty="0">
                        <a:latin typeface="Courier New" charset="0"/>
                        <a:ea typeface="Courier New" charset="0"/>
                        <a:cs typeface="Courier New"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binário, comprimido, guarda os tipos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bases grandes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banco SQL</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servidor que responde a consultas</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tc>
                  <a:txBody>
                    <a:bodyPr/>
                    <a:lstStyle/>
                    <a:p>
                      <a:pPr marL="0" indent="0">
                        <a:buNone/>
                      </a:pPr>
                      <a:r>
                        <a:rPr lang="en-US" sz="1400" dirty="0">
                          <a:solidFill>
                            <a:srgbClr val="16202C"/>
                          </a:solidFill>
                          <a:latin typeface="Calibri" pitchFamily="34" charset="0"/>
                          <a:ea typeface="Calibri" pitchFamily="34" charset="-122"/>
                          <a:cs typeface="Calibri" pitchFamily="34" charset="-120"/>
                        </a:rPr>
                        <a:t>muita gente ao mesmo tempo</a:t>
                      </a:r>
                      <a:endParaRPr lang="en-US" sz="1400" dirty="0">
                        <a:latin typeface="Calibri" charset="0"/>
                        <a:ea typeface="Calibri" charset="0"/>
                        <a:cs typeface="Calibri" charset="0"/>
                      </a:endParaRPr>
                    </a:p>
                  </a:txBody>
                  <a:tcPr marL="76200" marR="76200" marT="76200" marB="76200" anchor="ctr">
                    <a:lnL w="6350" cap="flat" cmpd="sng" algn="ctr">
                      <a:solidFill>
                        <a:srgbClr val="DDE4EC"/>
                      </a:solidFill>
                      <a:prstDash val="solid"/>
                      <a:round/>
                      <a:headEnd type="none" w="med" len="med"/>
                      <a:tailEnd type="none" w="med" len="med"/>
                    </a:lnL>
                    <a:lnR w="6350" cap="flat" cmpd="sng" algn="ctr">
                      <a:solidFill>
                        <a:srgbClr val="DDE4EC"/>
                      </a:solidFill>
                      <a:prstDash val="solid"/>
                      <a:round/>
                      <a:headEnd type="none" w="med" len="med"/>
                      <a:tailEnd type="none" w="med" len="med"/>
                    </a:lnR>
                    <a:lnT w="6350" cap="flat" cmpd="sng" algn="ctr">
                      <a:solidFill>
                        <a:srgbClr val="DDE4EC"/>
                      </a:solidFill>
                      <a:prstDash val="solid"/>
                      <a:round/>
                      <a:headEnd type="none" w="med" len="med"/>
                      <a:tailEnd type="none" w="med" len="med"/>
                    </a:lnT>
                    <a:lnB w="6350" cap="flat" cmpd="sng" algn="ctr">
                      <a:solidFill>
                        <a:srgbClr val="DDE4EC"/>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bl>
          </a:graphicData>
        </a:graphic>
      </p:graphicFrame>
      <p:sp>
        <p:nvSpPr>
          <p:cNvPr id="7" name="Text 3"/>
          <p:cNvSpPr txBox="1"/>
          <p:nvPr/>
        </p:nvSpPr>
        <p:spPr>
          <a:xfrm>
            <a:off x="566928" y="3745122"/>
            <a:ext cx="11055096" cy="263779"/>
          </a:xfrm>
          <a:prstGeom prst="rect">
            <a:avLst/>
          </a:prstGeom>
          <a:noFill/>
          <a:ln/>
        </p:spPr>
        <p:txBody>
          <a:bodyPr wrap="square" lIns="0" tIns="0" rIns="0" bIns="0" rtlCol="0" anchor="t"/>
          <a:lstStyle/>
          <a:p>
            <a:pPr marL="0" indent="0">
              <a:buNone/>
            </a:pPr>
            <a:r>
              <a:rPr lang="en-US" sz="1550" dirty="0">
                <a:solidFill>
                  <a:srgbClr val="16202C"/>
                </a:solidFill>
                <a:latin typeface="Calibri" pitchFamily="34" charset="0"/>
                <a:ea typeface="Calibri" pitchFamily="34" charset="-122"/>
                <a:cs typeface="Calibri" pitchFamily="34" charset="-120"/>
              </a:rPr>
              <a:t>Hoje: </a:t>
            </a:r>
            <a:r>
              <a:rPr lang="en-US" sz="1426" dirty="0">
                <a:solidFill>
                  <a:srgbClr val="0B3D6B"/>
                </a:solidFill>
                <a:latin typeface="Courier New" pitchFamily="34" charset="0"/>
                <a:ea typeface="Courier New" pitchFamily="34" charset="-122"/>
                <a:cs typeface="Courier New" pitchFamily="34" charset="-120"/>
              </a:rPr>
              <a:t>.csv</a:t>
            </a:r>
            <a:r>
              <a:rPr lang="en-US" sz="1550" dirty="0">
                <a:solidFill>
                  <a:srgbClr val="16202C"/>
                </a:solidFill>
                <a:latin typeface="Calibri" pitchFamily="34" charset="0"/>
                <a:ea typeface="Calibri" pitchFamily="34" charset="-122"/>
                <a:cs typeface="Calibri" pitchFamily="34" charset="-120"/>
              </a:rPr>
              <a:t>, lido em uma linha do arquivo que vocês sobem para o Colab.</a:t>
            </a:r>
            <a:endParaRPr lang="en-US" sz="1550" dirty="0"/>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0 · conhecer a base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3439B-1A4F-34B3-BB2D-B944FFEE74F5}"/>
            </a:ext>
          </a:extLst>
        </p:cNvPr>
        <p:cNvGrpSpPr/>
        <p:nvPr/>
      </p:nvGrpSpPr>
      <p:grpSpPr>
        <a:xfrm>
          <a:off x="0" y="0"/>
          <a:ext cx="0" cy="0"/>
          <a:chOff x="0" y="0"/>
          <a:chExt cx="0" cy="0"/>
        </a:xfrm>
      </p:grpSpPr>
      <p:sp>
        <p:nvSpPr>
          <p:cNvPr id="4" name="Fundo"/>
          <p:cNvSpPr/>
          <p:nvPr/>
        </p:nvSpPr>
        <p:spPr>
          <a:xfrm>
            <a:off x="0" y="0"/>
            <a:ext cx="12192000" cy="6858000"/>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a:extLst>
              <a:ext uri="{FF2B5EF4-FFF2-40B4-BE49-F238E27FC236}">
                <a16:creationId xmlns:a16="http://schemas.microsoft.com/office/drawing/2014/main" id="{D6613F69-2B5E-4C04-CE40-FAE448BF2FA1}"/>
              </a:ext>
            </a:extLst>
          </p:cNvPr>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000" b="1" dirty="0" err="1">
                <a:solidFill>
                  <a:srgbClr val="FFFFFF"/>
                </a:solidFill>
                <a:latin typeface="Calibri" pitchFamily="34" charset="0"/>
                <a:ea typeface="Calibri" pitchFamily="34" charset="-122"/>
                <a:cs typeface="Calibri" pitchFamily="34" charset="-120"/>
              </a:rPr>
              <a:t>Filtrar linhas</a:t>
            </a:r>
            <a:endParaRPr lang="en-US" sz="3400" dirty="0"/>
          </a:p>
        </p:txBody>
      </p:sp>
      <p:sp>
        <p:nvSpPr>
          <p:cNvPr id="3" name="Etiqueta"/>
          <p:cNvSpPr/>
          <p:nvPr/>
        </p:nvSpPr>
        <p:spPr>
          <a:xfrm>
            <a:off x="8549640" y="256032"/>
            <a:ext cx="3072384" cy="32918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1 · filtrar linhas</a:t>
            </a:r>
          </a:p>
        </p:txBody>
      </p:sp>
    </p:spTree>
    <p:extLst>
      <p:ext uri="{BB962C8B-B14F-4D97-AF65-F5344CB8AC3E}">
        <p14:creationId xmlns:p14="http://schemas.microsoft.com/office/powerpoint/2010/main" val="2143428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Escolher linhas</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20</a:t>
            </a:r>
            <a:endParaRPr lang="en-US" sz="900" dirty="0"/>
          </a:p>
        </p:txBody>
      </p:sp>
      <p:sp>
        <p:nvSpPr>
          <p:cNvPr id="6" name="TextBox 5"/>
          <p:cNvSpPr txBox="1"/>
          <p:nvPr/>
        </p:nvSpPr>
        <p:spPr>
          <a:xfrm>
            <a:off x="566928" y="1298448"/>
            <a:ext cx="8686800" cy="265176"/>
          </a:xfrm>
          <a:prstGeom prst="rect">
            <a:avLst/>
          </a:prstGeom>
          <a:noFill/>
        </p:spPr>
        <p:txBody>
          <a:bodyPr wrap="square" lIns="0" tIns="0" rIns="0" bIns="0" anchor="t">
            <a:spAutoFit/>
          </a:bodyPr>
          <a:lstStyle/>
          <a:p>
            <a:pPr algn="l"/>
            <a:r>
              <a:rPr sz="1550" b="0">
                <a:solidFill>
                  <a:srgbClr val="16202C"/>
                </a:solidFill>
                <a:latin typeface="Calibri"/>
              </a:rPr>
              <a:t>Duas formas de escrever a mesma coisa. A segunda lê melhor, e é a que a gente vai usar.</a:t>
            </a:r>
          </a:p>
        </p:txBody>
      </p:sp>
      <p:sp>
        <p:nvSpPr>
          <p:cNvPr id="7" name="Rounded Rectangle 6"/>
          <p:cNvSpPr/>
          <p:nvPr/>
        </p:nvSpPr>
        <p:spPr>
          <a:xfrm>
            <a:off x="566928"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4672"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O colchete com a condição</a:t>
            </a:r>
          </a:p>
        </p:txBody>
      </p:sp>
      <p:sp>
        <p:nvSpPr>
          <p:cNvPr id="9" name="Rounded Rectangle 8"/>
          <p:cNvSpPr/>
          <p:nvPr/>
        </p:nvSpPr>
        <p:spPr>
          <a:xfrm>
            <a:off x="804672"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14400"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processos[processos["ano"] == 2022]</a:t>
            </a:r>
          </a:p>
        </p:txBody>
      </p:sp>
      <p:sp>
        <p:nvSpPr>
          <p:cNvPr id="11" name="TextBox 10"/>
          <p:cNvSpPr txBox="1"/>
          <p:nvPr/>
        </p:nvSpPr>
        <p:spPr>
          <a:xfrm>
            <a:off x="804672"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A condição devolve uma coluna de verdadeiro/falso, e o colchete fica só com as linhas verdadeiras.</a:t>
            </a:r>
          </a:p>
        </p:txBody>
      </p:sp>
      <p:sp>
        <p:nvSpPr>
          <p:cNvPr id="12" name="Rounded Rectangle 11"/>
          <p:cNvSpPr/>
          <p:nvPr/>
        </p:nvSpPr>
        <p:spPr>
          <a:xfrm>
            <a:off x="6199632"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37376"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O método query</a:t>
            </a:r>
          </a:p>
        </p:txBody>
      </p:sp>
      <p:sp>
        <p:nvSpPr>
          <p:cNvPr id="14" name="Rounded Rectangle 13"/>
          <p:cNvSpPr/>
          <p:nvPr/>
        </p:nvSpPr>
        <p:spPr>
          <a:xfrm>
            <a:off x="6437376"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47104"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processos.query('ano == 2022')</a:t>
            </a:r>
          </a:p>
        </p:txBody>
      </p:sp>
      <p:sp>
        <p:nvSpPr>
          <p:cNvPr id="16" name="TextBox 15"/>
          <p:cNvSpPr txBox="1"/>
          <p:nvPr/>
        </p:nvSpPr>
        <p:spPr>
          <a:xfrm>
            <a:off x="6437376"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Dentro das aspas, o nome da coluna vai solto. Texto entre aspas duplas, número sem nada.</a:t>
            </a:r>
          </a:p>
        </p:txBody>
      </p:sp>
      <p:sp>
        <p:nvSpPr>
          <p:cNvPr id="17" name="TextBox 16"/>
          <p:cNvSpPr txBox="1"/>
          <p:nvPr/>
        </p:nvSpPr>
        <p:spPr>
          <a:xfrm>
            <a:off x="566928" y="4297680"/>
            <a:ext cx="11055096" cy="292608"/>
          </a:xfrm>
          <a:prstGeom prst="rect">
            <a:avLst/>
          </a:prstGeom>
          <a:noFill/>
        </p:spPr>
        <p:txBody>
          <a:bodyPr wrap="square" lIns="0" tIns="0" rIns="0" bIns="0" anchor="t">
            <a:spAutoFit/>
          </a:bodyPr>
          <a:lstStyle/>
          <a:p>
            <a:pPr algn="l"/>
            <a:r>
              <a:rPr sz="1500" b="1">
                <a:solidFill>
                  <a:srgbClr val="023A78"/>
                </a:solidFill>
                <a:latin typeface="Calibri"/>
              </a:rPr>
              <a:t>A tabela sai com menos linhas e as mesmas colunas.</a:t>
            </a:r>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1 · filtrar linhas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6">
    <p:bg>
      <p:bgPr>
        <a:solidFill>
          <a:srgbClr val="023A78"/>
        </a:solidFill>
        <a:effectLst/>
      </p:bgPr>
    </p:bg>
    <p:spTree>
      <p:nvGrpSpPr>
        <p:cNvPr id="1" name=""/>
        <p:cNvGrpSpPr/>
        <p:nvPr/>
      </p:nvGrpSpPr>
      <p:grpSpPr>
        <a:xfrm>
          <a:off x="0" y="0"/>
          <a:ext cx="0" cy="0"/>
          <a:chOff x="0" y="0"/>
          <a:chExt cx="0" cy="0"/>
        </a:xfrm>
      </p:grpSpPr>
      <p:sp>
        <p:nvSpPr>
          <p:cNvPr id="4" name="Fundo"/>
          <p:cNvSpPr/>
          <p:nvPr/>
        </p:nvSpPr>
        <p:spPr>
          <a:xfrm>
            <a:off x="0" y="0"/>
            <a:ext cx="12192000" cy="6858000"/>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Selecionar colunas</a:t>
            </a:r>
            <a:endParaRPr lang="en-US" sz="3400" dirty="0"/>
          </a:p>
        </p:txBody>
      </p:sp>
      <p:sp>
        <p:nvSpPr>
          <p:cNvPr id="3" name="Etiqueta"/>
          <p:cNvSpPr/>
          <p:nvPr/>
        </p:nvSpPr>
        <p:spPr>
          <a:xfrm>
            <a:off x="8549640" y="256032"/>
            <a:ext cx="3072384" cy="32918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2 · selecionar colunas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Um colchete, dois colchetes</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21</a:t>
            </a:r>
            <a:endParaRPr lang="en-US" sz="900" dirty="0"/>
          </a:p>
        </p:txBody>
      </p:sp>
      <p:sp>
        <p:nvSpPr>
          <p:cNvPr id="6" name="Shape 3"/>
          <p:cNvSpPr/>
          <p:nvPr/>
        </p:nvSpPr>
        <p:spPr>
          <a:xfrm>
            <a:off x="566928" y="1298448"/>
            <a:ext cx="5408676" cy="1912112"/>
          </a:xfrm>
          <a:prstGeom prst="roundRect">
            <a:avLst>
              <a:gd name="adj" fmla="val 2391"/>
            </a:avLst>
          </a:prstGeom>
          <a:solidFill>
            <a:srgbClr val="EEF5ED"/>
          </a:solidFill>
          <a:ln w="9525">
            <a:solidFill>
              <a:srgbClr val="CADFC8"/>
            </a:solidFill>
            <a:prstDash val="solid"/>
          </a:ln>
        </p:spPr>
        <p:txBody>
          <a:bodyPr/>
          <a:lstStyle/>
          <a:p>
            <a:endParaRPr lang="en-US"/>
          </a:p>
        </p:txBody>
      </p:sp>
      <p:sp>
        <p:nvSpPr>
          <p:cNvPr id="7" name="Text 4"/>
          <p:cNvSpPr txBox="1"/>
          <p:nvPr/>
        </p:nvSpPr>
        <p:spPr>
          <a:xfrm>
            <a:off x="777240" y="1453896"/>
            <a:ext cx="4988052" cy="238252"/>
          </a:xfrm>
          <a:prstGeom prst="rect">
            <a:avLst/>
          </a:prstGeom>
          <a:noFill/>
          <a:ln/>
        </p:spPr>
        <p:txBody>
          <a:bodyPr wrap="square" lIns="0" tIns="0" rIns="0" bIns="0" rtlCol="0" anchor="t"/>
          <a:lstStyle/>
          <a:p>
            <a:pPr marL="0" indent="0">
              <a:buNone/>
            </a:pPr>
            <a:r>
              <a:rPr lang="en-US" sz="1288" b="1" dirty="0">
                <a:solidFill>
                  <a:srgbClr val="0B3D6B"/>
                </a:solidFill>
                <a:latin typeface="Courier New" pitchFamily="34" charset="0"/>
                <a:ea typeface="Courier New" pitchFamily="34" charset="-122"/>
                <a:cs typeface="Courier New" pitchFamily="34" charset="-120"/>
              </a:rPr>
              <a:t>processos["setor"]</a:t>
            </a:r>
            <a:endParaRPr lang="en-US" sz="1288" dirty="0"/>
          </a:p>
        </p:txBody>
      </p:sp>
      <p:sp>
        <p:nvSpPr>
          <p:cNvPr id="8" name="Text 5"/>
          <p:cNvSpPr txBox="1"/>
          <p:nvPr/>
        </p:nvSpPr>
        <p:spPr>
          <a:xfrm>
            <a:off x="777240" y="1783588"/>
            <a:ext cx="4988052" cy="221234"/>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Devolve uma </a:t>
            </a:r>
            <a:r>
              <a:rPr lang="en-US" sz="1196" b="1" dirty="0">
                <a:solidFill>
                  <a:srgbClr val="0B3D6B"/>
                </a:solidFill>
                <a:latin typeface="Courier New" pitchFamily="34" charset="0"/>
                <a:ea typeface="Courier New" pitchFamily="34" charset="-122"/>
                <a:cs typeface="Courier New" pitchFamily="34" charset="-120"/>
              </a:rPr>
              <a:t>Series</a:t>
            </a:r>
            <a:r>
              <a:rPr lang="en-US" sz="1300" dirty="0">
                <a:solidFill>
                  <a:srgbClr val="16202C"/>
                </a:solidFill>
                <a:latin typeface="Calibri" pitchFamily="34" charset="0"/>
                <a:ea typeface="Calibri" pitchFamily="34" charset="-122"/>
                <a:cs typeface="Calibri" pitchFamily="34" charset="-120"/>
              </a:rPr>
              <a:t>: a coluna sozinha.</a:t>
            </a:r>
            <a:endParaRPr lang="en-US" sz="1300" dirty="0"/>
          </a:p>
        </p:txBody>
      </p:sp>
      <p:sp>
        <p:nvSpPr>
          <p:cNvPr id="9" name="Shape 6"/>
          <p:cNvSpPr/>
          <p:nvPr/>
        </p:nvSpPr>
        <p:spPr>
          <a:xfrm>
            <a:off x="685800" y="2032254"/>
            <a:ext cx="5170932" cy="333502"/>
          </a:xfrm>
          <a:prstGeom prst="roundRect">
            <a:avLst>
              <a:gd name="adj" fmla="val 8225"/>
            </a:avLst>
          </a:prstGeom>
          <a:solidFill>
            <a:srgbClr val="FFFFFF"/>
          </a:solidFill>
          <a:ln w="9525">
            <a:solidFill>
              <a:srgbClr val="DDE4EC"/>
            </a:solidFill>
            <a:prstDash val="solid"/>
          </a:ln>
        </p:spPr>
        <p:txBody>
          <a:bodyPr/>
          <a:lstStyle/>
          <a:p>
            <a:endParaRPr lang="en-US"/>
          </a:p>
        </p:txBody>
      </p:sp>
      <p:sp>
        <p:nvSpPr>
          <p:cNvPr id="10" name="Text 7"/>
          <p:cNvSpPr txBox="1"/>
          <p:nvPr/>
        </p:nvSpPr>
        <p:spPr>
          <a:xfrm>
            <a:off x="777240" y="2096262"/>
            <a:ext cx="4988052" cy="187198"/>
          </a:xfrm>
          <a:prstGeom prst="rect">
            <a:avLst/>
          </a:prstGeom>
          <a:noFill/>
          <a:ln/>
        </p:spPr>
        <p:txBody>
          <a:bodyPr wrap="square" lIns="0" tIns="0" rIns="0" bIns="0" rtlCol="0" anchor="t"/>
          <a:lstStyle/>
          <a:p>
            <a:pPr marL="0" indent="0">
              <a:buNone/>
            </a:pPr>
            <a:r>
              <a:rPr lang="en-US" sz="1100" dirty="0">
                <a:solidFill>
                  <a:srgbClr val="16202C"/>
                </a:solidFill>
                <a:latin typeface="Courier New" pitchFamily="34" charset="0"/>
                <a:ea typeface="Courier New" pitchFamily="34" charset="-122"/>
                <a:cs typeface="Courier New" pitchFamily="34" charset="-120"/>
              </a:rPr>
              <a:t>processos["setor"].value_counts()</a:t>
            </a:r>
            <a:endParaRPr lang="en-US" sz="1100" dirty="0"/>
          </a:p>
        </p:txBody>
      </p:sp>
      <p:sp>
        <p:nvSpPr>
          <p:cNvPr id="11" name="Text 8"/>
          <p:cNvSpPr txBox="1"/>
          <p:nvPr/>
        </p:nvSpPr>
        <p:spPr>
          <a:xfrm>
            <a:off x="777240" y="2448052"/>
            <a:ext cx="4988052" cy="221234"/>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É onde moram </a:t>
            </a:r>
            <a:r>
              <a:rPr lang="en-US" sz="1196" dirty="0">
                <a:solidFill>
                  <a:srgbClr val="0B3D6B"/>
                </a:solidFill>
                <a:latin typeface="Courier New" pitchFamily="34" charset="0"/>
                <a:ea typeface="Courier New" pitchFamily="34" charset="-122"/>
                <a:cs typeface="Courier New" pitchFamily="34" charset="-120"/>
              </a:rPr>
              <a:t>value_counts</a:t>
            </a:r>
            <a:r>
              <a:rPr lang="en-US" sz="1300" dirty="0">
                <a:solidFill>
                  <a:srgbClr val="16202C"/>
                </a:solidFill>
                <a:latin typeface="Calibri" pitchFamily="34" charset="0"/>
                <a:ea typeface="Calibri" pitchFamily="34" charset="-122"/>
                <a:cs typeface="Calibri" pitchFamily="34" charset="-120"/>
              </a:rPr>
              <a:t>, </a:t>
            </a:r>
            <a:r>
              <a:rPr lang="en-US" sz="1196" dirty="0">
                <a:solidFill>
                  <a:srgbClr val="0B3D6B"/>
                </a:solidFill>
                <a:latin typeface="Courier New" pitchFamily="34" charset="0"/>
                <a:ea typeface="Courier New" pitchFamily="34" charset="-122"/>
                <a:cs typeface="Courier New" pitchFamily="34" charset="-120"/>
              </a:rPr>
              <a:t>mean</a:t>
            </a:r>
            <a:r>
              <a:rPr lang="en-US" sz="1300" dirty="0">
                <a:solidFill>
                  <a:srgbClr val="16202C"/>
                </a:solidFill>
                <a:latin typeface="Calibri" pitchFamily="34" charset="0"/>
                <a:ea typeface="Calibri" pitchFamily="34" charset="-122"/>
                <a:cs typeface="Calibri" pitchFamily="34" charset="-120"/>
              </a:rPr>
              <a:t>, </a:t>
            </a:r>
            <a:r>
              <a:rPr lang="en-US" sz="1196" dirty="0">
                <a:solidFill>
                  <a:srgbClr val="0B3D6B"/>
                </a:solidFill>
                <a:latin typeface="Courier New" pitchFamily="34" charset="0"/>
                <a:ea typeface="Courier New" pitchFamily="34" charset="-122"/>
                <a:cs typeface="Courier New" pitchFamily="34" charset="-120"/>
              </a:rPr>
              <a:t>str.contains</a:t>
            </a:r>
            <a:r>
              <a:rPr lang="en-US" sz="1300" dirty="0">
                <a:solidFill>
                  <a:srgbClr val="16202C"/>
                </a:solidFill>
                <a:latin typeface="Calibri" pitchFamily="34" charset="0"/>
                <a:ea typeface="Calibri" pitchFamily="34" charset="-122"/>
                <a:cs typeface="Calibri" pitchFamily="34" charset="-120"/>
              </a:rPr>
              <a:t>.</a:t>
            </a:r>
            <a:endParaRPr lang="en-US" sz="1300" dirty="0"/>
          </a:p>
        </p:txBody>
      </p:sp>
      <p:sp>
        <p:nvSpPr>
          <p:cNvPr id="12" name="Shape 9"/>
          <p:cNvSpPr/>
          <p:nvPr/>
        </p:nvSpPr>
        <p:spPr>
          <a:xfrm>
            <a:off x="6213348" y="1298448"/>
            <a:ext cx="5408676" cy="1912112"/>
          </a:xfrm>
          <a:prstGeom prst="roundRect">
            <a:avLst>
              <a:gd name="adj" fmla="val 2391"/>
            </a:avLst>
          </a:prstGeom>
          <a:solidFill>
            <a:srgbClr val="EEF5ED"/>
          </a:solidFill>
          <a:ln w="9525">
            <a:solidFill>
              <a:srgbClr val="CADFC8"/>
            </a:solidFill>
            <a:prstDash val="solid"/>
          </a:ln>
        </p:spPr>
        <p:txBody>
          <a:bodyPr/>
          <a:lstStyle/>
          <a:p>
            <a:endParaRPr lang="en-US"/>
          </a:p>
        </p:txBody>
      </p:sp>
      <p:sp>
        <p:nvSpPr>
          <p:cNvPr id="13" name="Text 10"/>
          <p:cNvSpPr txBox="1"/>
          <p:nvPr/>
        </p:nvSpPr>
        <p:spPr>
          <a:xfrm>
            <a:off x="6423660" y="1453896"/>
            <a:ext cx="4988052" cy="238252"/>
          </a:xfrm>
          <a:prstGeom prst="rect">
            <a:avLst/>
          </a:prstGeom>
          <a:noFill/>
          <a:ln/>
        </p:spPr>
        <p:txBody>
          <a:bodyPr wrap="square" lIns="0" tIns="0" rIns="0" bIns="0" rtlCol="0" anchor="t"/>
          <a:lstStyle/>
          <a:p>
            <a:pPr marL="0" indent="0">
              <a:buNone/>
            </a:pPr>
            <a:r>
              <a:rPr lang="en-US" sz="1288" b="1" dirty="0">
                <a:solidFill>
                  <a:srgbClr val="0B3D6B"/>
                </a:solidFill>
                <a:latin typeface="Courier New" pitchFamily="34" charset="0"/>
                <a:ea typeface="Courier New" pitchFamily="34" charset="-122"/>
                <a:cs typeface="Courier New" pitchFamily="34" charset="-120"/>
              </a:rPr>
              <a:t>processos[["setor", "ano"]]</a:t>
            </a:r>
            <a:endParaRPr lang="en-US" sz="1288" dirty="0"/>
          </a:p>
        </p:txBody>
      </p:sp>
      <p:sp>
        <p:nvSpPr>
          <p:cNvPr id="14" name="Text 11"/>
          <p:cNvSpPr txBox="1"/>
          <p:nvPr/>
        </p:nvSpPr>
        <p:spPr>
          <a:xfrm>
            <a:off x="6423660" y="1783588"/>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Devolve um </a:t>
            </a:r>
            <a:r>
              <a:rPr lang="en-US" sz="1196" b="1" dirty="0">
                <a:solidFill>
                  <a:srgbClr val="0B3D6B"/>
                </a:solidFill>
                <a:latin typeface="Courier New" pitchFamily="34" charset="0"/>
                <a:ea typeface="Courier New" pitchFamily="34" charset="-122"/>
                <a:cs typeface="Courier New" pitchFamily="34" charset="-120"/>
              </a:rPr>
              <a:t>DataFrame</a:t>
            </a:r>
            <a:r>
              <a:rPr lang="en-US" sz="1300" dirty="0">
                <a:solidFill>
                  <a:srgbClr val="16202C"/>
                </a:solidFill>
                <a:latin typeface="Calibri" pitchFamily="34" charset="0"/>
                <a:ea typeface="Calibri" pitchFamily="34" charset="-122"/>
                <a:cs typeface="Calibri" pitchFamily="34" charset="-120"/>
              </a:rPr>
              <a:t>: uma tabela, ainda que com uma coluna.</a:t>
            </a:r>
            <a:endParaRPr lang="en-US" sz="1300" dirty="0"/>
          </a:p>
        </p:txBody>
      </p:sp>
      <p:sp>
        <p:nvSpPr>
          <p:cNvPr id="15" name="Shape 12"/>
          <p:cNvSpPr/>
          <p:nvPr/>
        </p:nvSpPr>
        <p:spPr>
          <a:xfrm>
            <a:off x="6332220" y="2253488"/>
            <a:ext cx="5170932" cy="333502"/>
          </a:xfrm>
          <a:prstGeom prst="roundRect">
            <a:avLst>
              <a:gd name="adj" fmla="val 8225"/>
            </a:avLst>
          </a:prstGeom>
          <a:solidFill>
            <a:srgbClr val="FFFFFF"/>
          </a:solidFill>
          <a:ln w="9525">
            <a:solidFill>
              <a:srgbClr val="DDE4EC"/>
            </a:solidFill>
            <a:prstDash val="solid"/>
          </a:ln>
        </p:spPr>
        <p:txBody>
          <a:bodyPr/>
          <a:lstStyle/>
          <a:p>
            <a:endParaRPr lang="en-US"/>
          </a:p>
        </p:txBody>
      </p:sp>
      <p:sp>
        <p:nvSpPr>
          <p:cNvPr id="16" name="Text 13"/>
          <p:cNvSpPr txBox="1"/>
          <p:nvPr/>
        </p:nvSpPr>
        <p:spPr>
          <a:xfrm>
            <a:off x="6423660" y="2317496"/>
            <a:ext cx="4988052" cy="187198"/>
          </a:xfrm>
          <a:prstGeom prst="rect">
            <a:avLst/>
          </a:prstGeom>
          <a:noFill/>
          <a:ln/>
        </p:spPr>
        <p:txBody>
          <a:bodyPr wrap="square" lIns="0" tIns="0" rIns="0" bIns="0" rtlCol="0" anchor="t"/>
          <a:lstStyle/>
          <a:p>
            <a:pPr marL="0" indent="0">
              <a:buNone/>
            </a:pPr>
            <a:r>
              <a:rPr lang="en-US" sz="1100" dirty="0">
                <a:solidFill>
                  <a:srgbClr val="16202C"/>
                </a:solidFill>
                <a:latin typeface="Courier New" pitchFamily="34" charset="0"/>
                <a:ea typeface="Courier New" pitchFamily="34" charset="-122"/>
                <a:cs typeface="Courier New" pitchFamily="34" charset="-120"/>
              </a:rPr>
              <a:t>processos[["setor", "ano"]].head()</a:t>
            </a:r>
            <a:endParaRPr lang="en-US" sz="1100" dirty="0"/>
          </a:p>
        </p:txBody>
      </p:sp>
      <p:sp>
        <p:nvSpPr>
          <p:cNvPr id="17" name="Text 14"/>
          <p:cNvSpPr txBox="1"/>
          <p:nvPr/>
        </p:nvSpPr>
        <p:spPr>
          <a:xfrm>
            <a:off x="6423660" y="2669286"/>
            <a:ext cx="4988052" cy="221234"/>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É onde moram </a:t>
            </a:r>
            <a:r>
              <a:rPr lang="en-US" sz="1196" dirty="0">
                <a:solidFill>
                  <a:srgbClr val="0B3D6B"/>
                </a:solidFill>
                <a:latin typeface="Courier New" pitchFamily="34" charset="0"/>
                <a:ea typeface="Courier New" pitchFamily="34" charset="-122"/>
                <a:cs typeface="Courier New" pitchFamily="34" charset="-120"/>
              </a:rPr>
              <a:t>query</a:t>
            </a:r>
            <a:r>
              <a:rPr lang="en-US" sz="1300" dirty="0">
                <a:solidFill>
                  <a:srgbClr val="16202C"/>
                </a:solidFill>
                <a:latin typeface="Calibri" pitchFamily="34" charset="0"/>
                <a:ea typeface="Calibri" pitchFamily="34" charset="-122"/>
                <a:cs typeface="Calibri" pitchFamily="34" charset="-120"/>
              </a:rPr>
              <a:t>, </a:t>
            </a:r>
            <a:r>
              <a:rPr lang="en-US" sz="1196" dirty="0">
                <a:solidFill>
                  <a:srgbClr val="0B3D6B"/>
                </a:solidFill>
                <a:latin typeface="Courier New" pitchFamily="34" charset="0"/>
                <a:ea typeface="Courier New" pitchFamily="34" charset="-122"/>
                <a:cs typeface="Courier New" pitchFamily="34" charset="-120"/>
              </a:rPr>
              <a:t>groupby</a:t>
            </a:r>
            <a:r>
              <a:rPr lang="en-US" sz="1300" dirty="0">
                <a:solidFill>
                  <a:srgbClr val="16202C"/>
                </a:solidFill>
                <a:latin typeface="Calibri" pitchFamily="34" charset="0"/>
                <a:ea typeface="Calibri" pitchFamily="34" charset="-122"/>
                <a:cs typeface="Calibri" pitchFamily="34" charset="-120"/>
              </a:rPr>
              <a:t>, </a:t>
            </a:r>
            <a:r>
              <a:rPr lang="en-US" sz="1196" dirty="0">
                <a:solidFill>
                  <a:srgbClr val="0B3D6B"/>
                </a:solidFill>
                <a:latin typeface="Courier New" pitchFamily="34" charset="0"/>
                <a:ea typeface="Courier New" pitchFamily="34" charset="-122"/>
                <a:cs typeface="Courier New" pitchFamily="34" charset="-120"/>
              </a:rPr>
              <a:t>merge</a:t>
            </a:r>
            <a:r>
              <a:rPr lang="en-US" sz="1300" dirty="0">
                <a:solidFill>
                  <a:srgbClr val="16202C"/>
                </a:solidFill>
                <a:latin typeface="Calibri" pitchFamily="34" charset="0"/>
                <a:ea typeface="Calibri" pitchFamily="34" charset="-122"/>
                <a:cs typeface="Calibri" pitchFamily="34" charset="-120"/>
              </a:rPr>
              <a:t>.</a:t>
            </a:r>
            <a:endParaRPr lang="en-US" sz="1300" dirty="0"/>
          </a:p>
        </p:txBody>
      </p:sp>
      <p:sp>
        <p:nvSpPr>
          <p:cNvPr id="18" name="Text 15"/>
          <p:cNvSpPr txBox="1"/>
          <p:nvPr/>
        </p:nvSpPr>
        <p:spPr>
          <a:xfrm>
            <a:off x="1298448" y="3503168"/>
            <a:ext cx="9592056" cy="397764"/>
          </a:xfrm>
          <a:prstGeom prst="rect">
            <a:avLst/>
          </a:prstGeom>
          <a:noFill/>
          <a:ln/>
        </p:spPr>
        <p:txBody>
          <a:bodyPr wrap="square" lIns="0" tIns="0" rIns="0" bIns="0" rtlCol="0" anchor="ctr"/>
          <a:lstStyle/>
          <a:p>
            <a:pPr marL="0" indent="0" algn="ctr">
              <a:buNone/>
            </a:pPr>
            <a:r>
              <a:rPr lang="en-US" sz="1800" b="1" dirty="0">
                <a:solidFill>
                  <a:srgbClr val="023A78"/>
                </a:solidFill>
                <a:latin typeface="Calibri" pitchFamily="34" charset="0"/>
                <a:ea typeface="Calibri" pitchFamily="34" charset="-122"/>
                <a:cs typeface="Calibri" pitchFamily="34" charset="-120"/>
              </a:rPr>
              <a:t>Um colchete devolve coluna. Dois colchetes devolvem tabela.</a:t>
            </a:r>
            <a:endParaRPr lang="en-US" sz="1800" dirty="0"/>
          </a:p>
        </p:txBody>
      </p:sp>
      <p:sp>
        <p:nvSpPr>
          <p:cNvPr id="19"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2 · selecionar colunas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6">
    <p:bg>
      <p:bgPr>
        <a:solidFill>
          <a:srgbClr val="023A78"/>
        </a:solidFill>
        <a:effectLst/>
      </p:bgPr>
    </p:bg>
    <p:spTree>
      <p:nvGrpSpPr>
        <p:cNvPr id="1" name=""/>
        <p:cNvGrpSpPr/>
        <p:nvPr/>
      </p:nvGrpSpPr>
      <p:grpSpPr>
        <a:xfrm>
          <a:off x="0" y="0"/>
          <a:ext cx="0" cy="0"/>
          <a:chOff x="0" y="0"/>
          <a:chExt cx="0" cy="0"/>
        </a:xfrm>
      </p:grpSpPr>
      <p:sp>
        <p:nvSpPr>
          <p:cNvPr id="4" name="Fundo"/>
          <p:cNvSpPr/>
          <p:nvPr/>
        </p:nvSpPr>
        <p:spPr>
          <a:xfrm>
            <a:off x="0" y="0"/>
            <a:ext cx="12192000" cy="6858000"/>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Criar colunas</a:t>
            </a:r>
            <a:endParaRPr lang="en-US" sz="3400" dirty="0"/>
          </a:p>
        </p:txBody>
      </p:sp>
      <p:sp>
        <p:nvSpPr>
          <p:cNvPr id="3" name="Etiqueta"/>
          <p:cNvSpPr/>
          <p:nvPr/>
        </p:nvSpPr>
        <p:spPr>
          <a:xfrm>
            <a:off x="8549640" y="256032"/>
            <a:ext cx="3072384" cy="32918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3 · criar colunas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Criar coluna</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22</a:t>
            </a:r>
            <a:endParaRPr lang="en-US" sz="900" dirty="0"/>
          </a:p>
        </p:txBody>
      </p:sp>
      <p:sp>
        <p:nvSpPr>
          <p:cNvPr id="6" name="TextBox 5"/>
          <p:cNvSpPr txBox="1"/>
          <p:nvPr/>
        </p:nvSpPr>
        <p:spPr>
          <a:xfrm>
            <a:off x="566928" y="1298448"/>
            <a:ext cx="8686800" cy="265176"/>
          </a:xfrm>
          <a:prstGeom prst="rect">
            <a:avLst/>
          </a:prstGeom>
          <a:noFill/>
        </p:spPr>
        <p:txBody>
          <a:bodyPr wrap="square" lIns="0" tIns="0" rIns="0" bIns="0" anchor="t">
            <a:spAutoFit/>
          </a:bodyPr>
          <a:lstStyle/>
          <a:p>
            <a:pPr algn="l"/>
            <a:r>
              <a:rPr sz="1550" b="0">
                <a:solidFill>
                  <a:srgbClr val="16202C"/>
                </a:solidFill>
                <a:latin typeface="Calibri"/>
              </a:rPr>
              <a:t>A conta vale para a coluna inteira de uma vez. Não existe for aqui.</a:t>
            </a:r>
          </a:p>
        </p:txBody>
      </p:sp>
      <p:sp>
        <p:nvSpPr>
          <p:cNvPr id="7" name="Rounded Rectangle 6"/>
          <p:cNvSpPr/>
          <p:nvPr/>
        </p:nvSpPr>
        <p:spPr>
          <a:xfrm>
            <a:off x="566928"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4672"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A coluna nova</a:t>
            </a:r>
          </a:p>
        </p:txBody>
      </p:sp>
      <p:sp>
        <p:nvSpPr>
          <p:cNvPr id="9" name="Rounded Rectangle 8"/>
          <p:cNvSpPr/>
          <p:nvPr/>
        </p:nvSpPr>
        <p:spPr>
          <a:xfrm>
            <a:off x="804672"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14400"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processos.assign(idade = 2026 - processos["ano"])</a:t>
            </a:r>
          </a:p>
        </p:txBody>
      </p:sp>
      <p:sp>
        <p:nvSpPr>
          <p:cNvPr id="11" name="TextBox 10"/>
          <p:cNvSpPr txBox="1"/>
          <p:nvPr/>
        </p:nvSpPr>
        <p:spPr>
          <a:xfrm>
            <a:off x="804672"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O nome à esquerda do igual é o nome da coluna nova. À direita, a conta.</a:t>
            </a:r>
          </a:p>
        </p:txBody>
      </p:sp>
      <p:sp>
        <p:nvSpPr>
          <p:cNvPr id="12" name="Rounded Rectangle 11"/>
          <p:cNvSpPr/>
          <p:nvPr/>
        </p:nvSpPr>
        <p:spPr>
          <a:xfrm>
            <a:off x="6199632"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37376"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Cuidado</a:t>
            </a:r>
          </a:p>
        </p:txBody>
      </p:sp>
      <p:sp>
        <p:nvSpPr>
          <p:cNvPr id="14" name="Rounded Rectangle 13"/>
          <p:cNvSpPr/>
          <p:nvPr/>
        </p:nvSpPr>
        <p:spPr>
          <a:xfrm>
            <a:off x="6437376"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47104"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com_idade = processos.assign(...)</a:t>
            </a:r>
          </a:p>
        </p:txBody>
      </p:sp>
      <p:sp>
        <p:nvSpPr>
          <p:cNvPr id="16" name="TextBox 15"/>
          <p:cNvSpPr txBox="1"/>
          <p:nvPr/>
        </p:nvSpPr>
        <p:spPr>
          <a:xfrm>
            <a:off x="6437376"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assign não altera a tabela original: devolve uma cópia. Se quiser guardar, dê um nome ao resultado.</a:t>
            </a:r>
          </a:p>
        </p:txBody>
      </p:sp>
      <p:sp>
        <p:nvSpPr>
          <p:cNvPr id="17" name="TextBox 16"/>
          <p:cNvSpPr txBox="1"/>
          <p:nvPr/>
        </p:nvSpPr>
        <p:spPr>
          <a:xfrm>
            <a:off x="566928" y="4297680"/>
            <a:ext cx="11055096" cy="292608"/>
          </a:xfrm>
          <a:prstGeom prst="rect">
            <a:avLst/>
          </a:prstGeom>
          <a:noFill/>
        </p:spPr>
        <p:txBody>
          <a:bodyPr wrap="square" lIns="0" tIns="0" rIns="0" bIns="0" anchor="t">
            <a:spAutoFit/>
          </a:bodyPr>
          <a:lstStyle/>
          <a:p>
            <a:pPr algn="l"/>
            <a:r>
              <a:rPr sz="1500" b="1">
                <a:solidFill>
                  <a:srgbClr val="023A78"/>
                </a:solidFill>
                <a:latin typeface="Calibri"/>
              </a:rPr>
              <a:t>A tabela sai com as mesmas linhas e uma coluna a mais.</a:t>
            </a:r>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3 · criar colunas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026FD5-EE0F-F385-82BE-6A2084BFF8BC}"/>
              </a:ext>
            </a:extLst>
          </p:cNvPr>
          <p:cNvPicPr>
            <a:picLocks noChangeAspect="1"/>
          </p:cNvPicPr>
          <p:nvPr/>
        </p:nvPicPr>
        <p:blipFill>
          <a:blip r:embed="rId2"/>
          <a:stretch>
            <a:fillRect/>
          </a:stretch>
        </p:blipFill>
        <p:spPr>
          <a:xfrm>
            <a:off x="1220119" y="1337481"/>
            <a:ext cx="9051126" cy="4013235"/>
          </a:xfrm>
          <a:prstGeom prst="rect">
            <a:avLst/>
          </a:prstGeom>
        </p:spPr>
      </p:pic>
    </p:spTree>
    <p:extLst>
      <p:ext uri="{BB962C8B-B14F-4D97-AF65-F5344CB8AC3E}">
        <p14:creationId xmlns:p14="http://schemas.microsoft.com/office/powerpoint/2010/main" val="2843951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6">
    <p:bg>
      <p:bgPr>
        <a:solidFill>
          <a:srgbClr val="023A78"/>
        </a:solidFill>
        <a:effectLst/>
      </p:bgPr>
    </p:bg>
    <p:spTree>
      <p:nvGrpSpPr>
        <p:cNvPr id="1" name=""/>
        <p:cNvGrpSpPr/>
        <p:nvPr/>
      </p:nvGrpSpPr>
      <p:grpSpPr>
        <a:xfrm>
          <a:off x="0" y="0"/>
          <a:ext cx="0" cy="0"/>
          <a:chOff x="0" y="0"/>
          <a:chExt cx="0" cy="0"/>
        </a:xfrm>
      </p:grpSpPr>
      <p:sp>
        <p:nvSpPr>
          <p:cNvPr id="4" name="Fundo"/>
          <p:cNvSpPr/>
          <p:nvPr/>
        </p:nvSpPr>
        <p:spPr>
          <a:xfrm>
            <a:off x="0" y="0"/>
            <a:ext cx="12192000" cy="6858000"/>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Ordenar</a:t>
            </a:r>
            <a:endParaRPr lang="en-US" sz="3400" dirty="0"/>
          </a:p>
        </p:txBody>
      </p:sp>
      <p:sp>
        <p:nvSpPr>
          <p:cNvPr id="3" name="Etiqueta"/>
          <p:cNvSpPr/>
          <p:nvPr/>
        </p:nvSpPr>
        <p:spPr>
          <a:xfrm>
            <a:off x="8549640" y="256032"/>
            <a:ext cx="3072384" cy="32918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4 · ordenar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Ordenar</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23</a:t>
            </a:r>
            <a:endParaRPr lang="en-US" sz="900" dirty="0"/>
          </a:p>
        </p:txBody>
      </p:sp>
      <p:sp>
        <p:nvSpPr>
          <p:cNvPr id="6" name="TextBox 5"/>
          <p:cNvSpPr txBox="1"/>
          <p:nvPr/>
        </p:nvSpPr>
        <p:spPr>
          <a:xfrm>
            <a:off x="566928" y="1298448"/>
            <a:ext cx="8686800" cy="265176"/>
          </a:xfrm>
          <a:prstGeom prst="rect">
            <a:avLst/>
          </a:prstGeom>
          <a:noFill/>
        </p:spPr>
        <p:txBody>
          <a:bodyPr wrap="square" lIns="0" tIns="0" rIns="0" bIns="0" anchor="t">
            <a:spAutoFit/>
          </a:bodyPr>
          <a:lstStyle/>
          <a:p>
            <a:pPr algn="l"/>
            <a:r>
              <a:rPr sz="1550" b="0">
                <a:solidFill>
                  <a:srgbClr val="16202C"/>
                </a:solidFill>
                <a:latin typeface="Calibri"/>
              </a:rPr>
              <a:t>Ordenar é o que responde "qual é o maior?" sem procurar com o olho.</a:t>
            </a:r>
          </a:p>
        </p:txBody>
      </p:sp>
      <p:sp>
        <p:nvSpPr>
          <p:cNvPr id="7" name="Rounded Rectangle 6"/>
          <p:cNvSpPr/>
          <p:nvPr/>
        </p:nvSpPr>
        <p:spPr>
          <a:xfrm>
            <a:off x="566928"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4672"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Crescente, que é o padrão</a:t>
            </a:r>
          </a:p>
        </p:txBody>
      </p:sp>
      <p:sp>
        <p:nvSpPr>
          <p:cNvPr id="9" name="Rounded Rectangle 8"/>
          <p:cNvSpPr/>
          <p:nvPr/>
        </p:nvSpPr>
        <p:spPr>
          <a:xfrm>
            <a:off x="804672"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14400"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processos.sort_values("ano")</a:t>
            </a:r>
          </a:p>
        </p:txBody>
      </p:sp>
      <p:sp>
        <p:nvSpPr>
          <p:cNvPr id="11" name="TextBox 10"/>
          <p:cNvSpPr txBox="1"/>
          <p:nvPr/>
        </p:nvSpPr>
        <p:spPr>
          <a:xfrm>
            <a:off x="804672"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Do menor para o maior. Em texto, ordem alfabética.</a:t>
            </a:r>
          </a:p>
        </p:txBody>
      </p:sp>
      <p:sp>
        <p:nvSpPr>
          <p:cNvPr id="12" name="Rounded Rectangle 11"/>
          <p:cNvSpPr/>
          <p:nvPr/>
        </p:nvSpPr>
        <p:spPr>
          <a:xfrm>
            <a:off x="6199632"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37376"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Decrescente</a:t>
            </a:r>
          </a:p>
        </p:txBody>
      </p:sp>
      <p:sp>
        <p:nvSpPr>
          <p:cNvPr id="14" name="Rounded Rectangle 13"/>
          <p:cNvSpPr/>
          <p:nvPr/>
        </p:nvSpPr>
        <p:spPr>
          <a:xfrm>
            <a:off x="6437376"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47104"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processos.sort_values("valor_condenacao", ascending=False)</a:t>
            </a:r>
          </a:p>
        </p:txBody>
      </p:sp>
      <p:sp>
        <p:nvSpPr>
          <p:cNvPr id="16" name="TextBox 15"/>
          <p:cNvSpPr txBox="1"/>
          <p:nvPr/>
        </p:nvSpPr>
        <p:spPr>
          <a:xfrm>
            <a:off x="6437376"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Do maior para o menor. É assim que aparecem as maiores condenações.</a:t>
            </a:r>
          </a:p>
        </p:txBody>
      </p:sp>
      <p:sp>
        <p:nvSpPr>
          <p:cNvPr id="17" name="TextBox 16"/>
          <p:cNvSpPr txBox="1"/>
          <p:nvPr/>
        </p:nvSpPr>
        <p:spPr>
          <a:xfrm>
            <a:off x="566928" y="4297680"/>
            <a:ext cx="11055096" cy="292608"/>
          </a:xfrm>
          <a:prstGeom prst="rect">
            <a:avLst/>
          </a:prstGeom>
          <a:noFill/>
        </p:spPr>
        <p:txBody>
          <a:bodyPr wrap="square" lIns="0" tIns="0" rIns="0" bIns="0" anchor="t">
            <a:spAutoFit/>
          </a:bodyPr>
          <a:lstStyle/>
          <a:p>
            <a:pPr algn="l"/>
            <a:r>
              <a:rPr sz="1500" b="1">
                <a:solidFill>
                  <a:srgbClr val="023A78"/>
                </a:solidFill>
                <a:latin typeface="Calibri"/>
              </a:rPr>
              <a:t>Ordenar não tira nem acrescenta linha: só muda a ordem.</a:t>
            </a:r>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4 · ordenar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6">
    <p:bg>
      <p:bgPr>
        <a:solidFill>
          <a:srgbClr val="023A78"/>
        </a:solidFill>
        <a:effectLst/>
      </p:bgPr>
    </p:bg>
    <p:spTree>
      <p:nvGrpSpPr>
        <p:cNvPr id="1" name=""/>
        <p:cNvGrpSpPr/>
        <p:nvPr/>
      </p:nvGrpSpPr>
      <p:grpSpPr>
        <a:xfrm>
          <a:off x="0" y="0"/>
          <a:ext cx="0" cy="0"/>
          <a:chOff x="0" y="0"/>
          <a:chExt cx="0" cy="0"/>
        </a:xfrm>
      </p:grpSpPr>
      <p:sp>
        <p:nvSpPr>
          <p:cNvPr id="4" name="Fundo"/>
          <p:cNvSpPr/>
          <p:nvPr/>
        </p:nvSpPr>
        <p:spPr>
          <a:xfrm>
            <a:off x="0" y="0"/>
            <a:ext cx="12192000" cy="6858000"/>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Resumir</a:t>
            </a:r>
            <a:endParaRPr lang="en-US" sz="3400" dirty="0"/>
          </a:p>
        </p:txBody>
      </p:sp>
      <p:sp>
        <p:nvSpPr>
          <p:cNvPr id="3" name="Etiqueta"/>
          <p:cNvSpPr/>
          <p:nvPr/>
        </p:nvSpPr>
        <p:spPr>
          <a:xfrm>
            <a:off x="8549640" y="256032"/>
            <a:ext cx="3072384" cy="32918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5 · resumir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Resumir em um número</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24</a:t>
            </a:r>
            <a:endParaRPr lang="en-US" sz="900" dirty="0"/>
          </a:p>
        </p:txBody>
      </p:sp>
      <p:sp>
        <p:nvSpPr>
          <p:cNvPr id="6" name="TextBox 5"/>
          <p:cNvSpPr txBox="1"/>
          <p:nvPr/>
        </p:nvSpPr>
        <p:spPr>
          <a:xfrm>
            <a:off x="566928" y="1298448"/>
            <a:ext cx="8686800" cy="265176"/>
          </a:xfrm>
          <a:prstGeom prst="rect">
            <a:avLst/>
          </a:prstGeom>
          <a:noFill/>
        </p:spPr>
        <p:txBody>
          <a:bodyPr wrap="square" lIns="0" tIns="0" rIns="0" bIns="0" anchor="t">
            <a:spAutoFit/>
          </a:bodyPr>
          <a:lstStyle/>
          <a:p>
            <a:pPr algn="l"/>
            <a:r>
              <a:rPr sz="1550" b="0">
                <a:solidFill>
                  <a:srgbClr val="16202C"/>
                </a:solidFill>
                <a:latin typeface="Calibri"/>
              </a:rPr>
              <a:t>Quem sabe tirar média é a coluna, não a tabela — por isso o ponto vem depois do colchete.</a:t>
            </a:r>
          </a:p>
        </p:txBody>
      </p:sp>
      <p:sp>
        <p:nvSpPr>
          <p:cNvPr id="7" name="Rounded Rectangle 6"/>
          <p:cNvSpPr/>
          <p:nvPr/>
        </p:nvSpPr>
        <p:spPr>
          <a:xfrm>
            <a:off x="566928"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4672"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Um número para a base toda</a:t>
            </a:r>
          </a:p>
        </p:txBody>
      </p:sp>
      <p:sp>
        <p:nvSpPr>
          <p:cNvPr id="9" name="Rounded Rectangle 8"/>
          <p:cNvSpPr/>
          <p:nvPr/>
        </p:nvSpPr>
        <p:spPr>
          <a:xfrm>
            <a:off x="804672"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14400"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processos["valor_condenacao"].mean()</a:t>
            </a:r>
          </a:p>
        </p:txBody>
      </p:sp>
      <p:sp>
        <p:nvSpPr>
          <p:cNvPr id="11" name="TextBox 10"/>
          <p:cNvSpPr txBox="1"/>
          <p:nvPr/>
        </p:nvSpPr>
        <p:spPr>
          <a:xfrm>
            <a:off x="804672"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A média das 1.221 linhas preenchidas. As vazias ficam de fora sozinhas.</a:t>
            </a:r>
          </a:p>
        </p:txBody>
      </p:sp>
      <p:sp>
        <p:nvSpPr>
          <p:cNvPr id="12" name="Rounded Rectangle 11"/>
          <p:cNvSpPr/>
          <p:nvPr/>
        </p:nvSpPr>
        <p:spPr>
          <a:xfrm>
            <a:off x="6199632" y="1874519"/>
            <a:ext cx="5422392" cy="2148840"/>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37376" y="2084831"/>
            <a:ext cx="4946904" cy="274320"/>
          </a:xfrm>
          <a:prstGeom prst="rect">
            <a:avLst/>
          </a:prstGeom>
          <a:noFill/>
        </p:spPr>
        <p:txBody>
          <a:bodyPr wrap="square" lIns="0" tIns="0" rIns="0" bIns="0" anchor="t">
            <a:spAutoFit/>
          </a:bodyPr>
          <a:lstStyle/>
          <a:p>
            <a:pPr algn="l"/>
            <a:r>
              <a:rPr sz="1400" b="1">
                <a:solidFill>
                  <a:srgbClr val="023A78"/>
                </a:solidFill>
                <a:latin typeface="Calibri"/>
              </a:rPr>
              <a:t>Um número por grupo</a:t>
            </a:r>
          </a:p>
        </p:txBody>
      </p:sp>
      <p:sp>
        <p:nvSpPr>
          <p:cNvPr id="14" name="Rounded Rectangle 13"/>
          <p:cNvSpPr/>
          <p:nvPr/>
        </p:nvSpPr>
        <p:spPr>
          <a:xfrm>
            <a:off x="6437376" y="2487168"/>
            <a:ext cx="4946904" cy="420624"/>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47104" y="2560320"/>
            <a:ext cx="4727448" cy="310896"/>
          </a:xfrm>
          <a:prstGeom prst="rect">
            <a:avLst/>
          </a:prstGeom>
          <a:noFill/>
        </p:spPr>
        <p:txBody>
          <a:bodyPr wrap="square" lIns="0" tIns="0" rIns="0" bIns="0" anchor="ctr">
            <a:spAutoFit/>
          </a:bodyPr>
          <a:lstStyle/>
          <a:p>
            <a:pPr algn="l"/>
            <a:r>
              <a:rPr sz="1100" b="1">
                <a:solidFill>
                  <a:srgbClr val="023A78"/>
                </a:solidFill>
                <a:latin typeface="Courier New"/>
              </a:rPr>
              <a:t>processos.groupby("setor")["ganhou_autor"].mean()</a:t>
            </a:r>
          </a:p>
        </p:txBody>
      </p:sp>
      <p:sp>
        <p:nvSpPr>
          <p:cNvPr id="16" name="TextBox 15"/>
          <p:cNvSpPr txBox="1"/>
          <p:nvPr/>
        </p:nvSpPr>
        <p:spPr>
          <a:xfrm>
            <a:off x="6437376" y="3054096"/>
            <a:ext cx="4946904" cy="822960"/>
          </a:xfrm>
          <a:prstGeom prst="rect">
            <a:avLst/>
          </a:prstGeom>
          <a:noFill/>
        </p:spPr>
        <p:txBody>
          <a:bodyPr wrap="square" lIns="0" tIns="0" rIns="0" bIns="0" anchor="t">
            <a:spAutoFit/>
          </a:bodyPr>
          <a:lstStyle/>
          <a:p>
            <a:pPr algn="l"/>
            <a:r>
              <a:rPr sz="1200" b="0">
                <a:solidFill>
                  <a:srgbClr val="3C4A5A"/>
                </a:solidFill>
                <a:latin typeface="Calibri"/>
              </a:rPr>
              <a:t>groupby só separa em montinhos. Quem devolve o número é o que vem depois: mean, size, count.</a:t>
            </a:r>
          </a:p>
        </p:txBody>
      </p:sp>
      <p:sp>
        <p:nvSpPr>
          <p:cNvPr id="17" name="TextBox 16"/>
          <p:cNvSpPr txBox="1"/>
          <p:nvPr/>
        </p:nvSpPr>
        <p:spPr>
          <a:xfrm>
            <a:off x="566928" y="4297680"/>
            <a:ext cx="11055096" cy="292608"/>
          </a:xfrm>
          <a:prstGeom prst="rect">
            <a:avLst/>
          </a:prstGeom>
          <a:noFill/>
        </p:spPr>
        <p:txBody>
          <a:bodyPr wrap="square" lIns="0" tIns="0" rIns="0" bIns="0" anchor="t">
            <a:spAutoFit/>
          </a:bodyPr>
          <a:lstStyle/>
          <a:p>
            <a:pPr algn="l"/>
            <a:r>
              <a:rPr sz="1500" b="1">
                <a:solidFill>
                  <a:srgbClr val="023A78"/>
                </a:solidFill>
                <a:latin typeface="Calibri"/>
              </a:rPr>
              <a:t>A média de uma coluna de verdadeiro/falso é a proporção de verdadeiros: 0.579 é 57,9%.</a:t>
            </a:r>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5 · resumir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Vários resumos de uma vez: agg</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25</a:t>
            </a:r>
            <a:endParaRPr lang="en-US" sz="900" dirty="0"/>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5 · resumir</a:t>
            </a:r>
          </a:p>
        </p:txBody>
      </p:sp>
      <p:sp>
        <p:nvSpPr>
          <p:cNvPr id="19" name="TextBox 18"/>
          <p:cNvSpPr txBox="1"/>
          <p:nvPr/>
        </p:nvSpPr>
        <p:spPr>
          <a:xfrm>
            <a:off x="566928" y="1280160"/>
            <a:ext cx="11055096" cy="274320"/>
          </a:xfrm>
          <a:prstGeom prst="rect">
            <a:avLst/>
          </a:prstGeom>
          <a:noFill/>
        </p:spPr>
        <p:txBody>
          <a:bodyPr wrap="square" lIns="0" tIns="0" rIns="0" bIns="0" anchor="t">
            <a:spAutoFit/>
          </a:bodyPr>
          <a:lstStyle/>
          <a:p>
            <a:pPr algn="l"/>
            <a:r>
              <a:rPr sz="1550" b="1">
                <a:solidFill>
                  <a:srgbClr val="023A78"/>
                </a:solidFill>
                <a:latin typeface="Courier New"/>
              </a:rPr>
              <a:t>agg</a:t>
            </a:r>
            <a:r>
              <a:rPr sz="1550" b="0">
                <a:solidFill>
                  <a:srgbClr val="16202C"/>
                </a:solidFill>
                <a:latin typeface="Calibri"/>
              </a:rPr>
              <a:t> vem de </a:t>
            </a:r>
            <a:r>
              <a:rPr sz="1550" b="1">
                <a:solidFill>
                  <a:srgbClr val="16202C"/>
                </a:solidFill>
                <a:latin typeface="Calibri"/>
              </a:rPr>
              <a:t>aggregate</a:t>
            </a:r>
            <a:r>
              <a:rPr sz="1550" b="0">
                <a:solidFill>
                  <a:srgbClr val="16202C"/>
                </a:solidFill>
                <a:latin typeface="Calibri"/>
              </a:rPr>
              <a:t>, agregar. No lugar de pedir um resumo só, você passa a </a:t>
            </a:r>
            <a:r>
              <a:rPr sz="1550" b="1">
                <a:solidFill>
                  <a:srgbClr val="023A78"/>
                </a:solidFill>
                <a:latin typeface="Calibri"/>
              </a:rPr>
              <a:t>lista</a:t>
            </a:r>
            <a:r>
              <a:rPr sz="1550" b="0">
                <a:solidFill>
                  <a:srgbClr val="16202C"/>
                </a:solidFill>
                <a:latin typeface="Calibri"/>
              </a:rPr>
              <a:t> dos resumos que quer.</a:t>
            </a:r>
          </a:p>
        </p:txBody>
      </p:sp>
      <p:sp>
        <p:nvSpPr>
          <p:cNvPr id="20" name="Rounded Rectangle 19"/>
          <p:cNvSpPr/>
          <p:nvPr/>
        </p:nvSpPr>
        <p:spPr>
          <a:xfrm>
            <a:off x="566928" y="1737360"/>
            <a:ext cx="5422392" cy="1847088"/>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04672" y="1920240"/>
            <a:ext cx="4946904" cy="274320"/>
          </a:xfrm>
          <a:prstGeom prst="rect">
            <a:avLst/>
          </a:prstGeom>
          <a:noFill/>
        </p:spPr>
        <p:txBody>
          <a:bodyPr wrap="square" lIns="0" tIns="0" rIns="0" bIns="0" anchor="t">
            <a:spAutoFit/>
          </a:bodyPr>
          <a:lstStyle/>
          <a:p>
            <a:pPr algn="l"/>
            <a:r>
              <a:rPr sz="1400" b="1">
                <a:solidFill>
                  <a:srgbClr val="023A78"/>
                </a:solidFill>
                <a:latin typeface="Calibri"/>
              </a:rPr>
              <a:t>Um resumo</a:t>
            </a:r>
          </a:p>
        </p:txBody>
      </p:sp>
      <p:sp>
        <p:nvSpPr>
          <p:cNvPr id="22" name="Rounded Rectangle 21"/>
          <p:cNvSpPr/>
          <p:nvPr/>
        </p:nvSpPr>
        <p:spPr>
          <a:xfrm>
            <a:off x="804672" y="2286000"/>
            <a:ext cx="4946904" cy="530352"/>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96112" y="2340864"/>
            <a:ext cx="4764024" cy="420624"/>
          </a:xfrm>
          <a:prstGeom prst="rect">
            <a:avLst/>
          </a:prstGeom>
          <a:noFill/>
        </p:spPr>
        <p:txBody>
          <a:bodyPr wrap="square" lIns="0" tIns="0" rIns="0" bIns="0" anchor="ctr">
            <a:spAutoFit/>
          </a:bodyPr>
          <a:lstStyle/>
          <a:p>
            <a:pPr algn="l"/>
            <a:r>
              <a:rPr sz="1100" b="1">
                <a:solidFill>
                  <a:srgbClr val="023A78"/>
                </a:solidFill>
                <a:latin typeface="Courier New"/>
              </a:rPr>
              <a:t>processos.groupby("setor")["ganhou_autor"].mean()</a:t>
            </a:r>
          </a:p>
        </p:txBody>
      </p:sp>
      <p:sp>
        <p:nvSpPr>
          <p:cNvPr id="24" name="TextBox 23"/>
          <p:cNvSpPr txBox="1"/>
          <p:nvPr/>
        </p:nvSpPr>
        <p:spPr>
          <a:xfrm>
            <a:off x="804672" y="2926080"/>
            <a:ext cx="4946904" cy="566928"/>
          </a:xfrm>
          <a:prstGeom prst="rect">
            <a:avLst/>
          </a:prstGeom>
          <a:noFill/>
        </p:spPr>
        <p:txBody>
          <a:bodyPr wrap="square" lIns="0" tIns="0" rIns="0" bIns="0" anchor="t">
            <a:spAutoFit/>
          </a:bodyPr>
          <a:lstStyle/>
          <a:p>
            <a:pPr algn="l"/>
            <a:r>
              <a:rPr sz="1200" b="0">
                <a:solidFill>
                  <a:srgbClr val="3C4A5A"/>
                </a:solidFill>
                <a:latin typeface="Calibri"/>
              </a:rPr>
              <a:t>Volta um número por setor. Para saber também quantos casos entraram na conta, teria que rodar outra linha.</a:t>
            </a:r>
          </a:p>
        </p:txBody>
      </p:sp>
      <p:sp>
        <p:nvSpPr>
          <p:cNvPr id="25" name="Rounded Rectangle 24"/>
          <p:cNvSpPr/>
          <p:nvPr/>
        </p:nvSpPr>
        <p:spPr>
          <a:xfrm>
            <a:off x="6199632" y="1737360"/>
            <a:ext cx="5422392" cy="1847088"/>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437376" y="1920240"/>
            <a:ext cx="4946904" cy="274320"/>
          </a:xfrm>
          <a:prstGeom prst="rect">
            <a:avLst/>
          </a:prstGeom>
          <a:noFill/>
        </p:spPr>
        <p:txBody>
          <a:bodyPr wrap="square" lIns="0" tIns="0" rIns="0" bIns="0" anchor="t">
            <a:spAutoFit/>
          </a:bodyPr>
          <a:lstStyle/>
          <a:p>
            <a:pPr algn="l"/>
            <a:r>
              <a:rPr sz="1400" b="1">
                <a:solidFill>
                  <a:srgbClr val="023A78"/>
                </a:solidFill>
                <a:latin typeface="Calibri"/>
              </a:rPr>
              <a:t>Três de uma vez</a:t>
            </a:r>
          </a:p>
        </p:txBody>
      </p:sp>
      <p:sp>
        <p:nvSpPr>
          <p:cNvPr id="27" name="Rounded Rectangle 26"/>
          <p:cNvSpPr/>
          <p:nvPr/>
        </p:nvSpPr>
        <p:spPr>
          <a:xfrm>
            <a:off x="6437376" y="2286000"/>
            <a:ext cx="4946904" cy="530352"/>
          </a:xfrm>
          <a:prstGeom prst="roundRect">
            <a:avLst>
              <a:gd name="adj" fmla="val 10000"/>
            </a:avLst>
          </a:prstGeom>
          <a:solidFill>
            <a:srgbClr val="E8F0FA"/>
          </a:solidFill>
          <a:ln w="9525">
            <a:solidFill>
              <a:srgbClr val="E8F0F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528816" y="2340864"/>
            <a:ext cx="4764024" cy="420624"/>
          </a:xfrm>
          <a:prstGeom prst="rect">
            <a:avLst/>
          </a:prstGeom>
          <a:noFill/>
        </p:spPr>
        <p:txBody>
          <a:bodyPr wrap="square" lIns="0" tIns="0" rIns="0" bIns="0" anchor="ctr">
            <a:spAutoFit/>
          </a:bodyPr>
          <a:lstStyle/>
          <a:p>
            <a:pPr algn="l"/>
            <a:r>
              <a:rPr sz="950" b="1">
                <a:solidFill>
                  <a:srgbClr val="023A78"/>
                </a:solidFill>
                <a:latin typeface="Courier New"/>
              </a:rPr>
              <a:t>processos.groupby("setor")["ganhou_autor"].agg(["size", "count", "mean"])</a:t>
            </a:r>
          </a:p>
        </p:txBody>
      </p:sp>
      <p:sp>
        <p:nvSpPr>
          <p:cNvPr id="29" name="TextBox 28"/>
          <p:cNvSpPr txBox="1"/>
          <p:nvPr/>
        </p:nvSpPr>
        <p:spPr>
          <a:xfrm>
            <a:off x="6437376" y="2926080"/>
            <a:ext cx="4946904" cy="566928"/>
          </a:xfrm>
          <a:prstGeom prst="rect">
            <a:avLst/>
          </a:prstGeom>
          <a:noFill/>
        </p:spPr>
        <p:txBody>
          <a:bodyPr wrap="square" lIns="0" tIns="0" rIns="0" bIns="0" anchor="t">
            <a:spAutoFit/>
          </a:bodyPr>
          <a:lstStyle/>
          <a:p>
            <a:pPr algn="l"/>
            <a:r>
              <a:rPr sz="1200" b="0">
                <a:solidFill>
                  <a:srgbClr val="3C4A5A"/>
                </a:solidFill>
                <a:latin typeface="Calibri"/>
              </a:rPr>
              <a:t>Volta uma tabela: uma linha por setor e uma coluna para cada nome que estava dentro dos colchetes.</a:t>
            </a:r>
          </a:p>
        </p:txBody>
      </p:sp>
      <p:sp>
        <p:nvSpPr>
          <p:cNvPr id="30" name="TextBox 29"/>
          <p:cNvSpPr txBox="1"/>
          <p:nvPr/>
        </p:nvSpPr>
        <p:spPr>
          <a:xfrm>
            <a:off x="566928" y="3675887"/>
            <a:ext cx="7315200" cy="237744"/>
          </a:xfrm>
          <a:prstGeom prst="rect">
            <a:avLst/>
          </a:prstGeom>
          <a:noFill/>
        </p:spPr>
        <p:txBody>
          <a:bodyPr wrap="square" lIns="0" tIns="0" rIns="0" bIns="0" anchor="t">
            <a:spAutoFit/>
          </a:bodyPr>
          <a:lstStyle/>
          <a:p>
            <a:pPr algn="l"/>
            <a:r>
              <a:rPr sz="1250" b="1">
                <a:solidFill>
                  <a:srgbClr val="023A78"/>
                </a:solidFill>
                <a:latin typeface="Calibri"/>
              </a:rPr>
              <a:t>O que sai do agg</a:t>
            </a:r>
            <a:r>
              <a:rPr sz="1100" b="0">
                <a:solidFill>
                  <a:srgbClr val="9AA8B6"/>
                </a:solidFill>
                <a:latin typeface="Calibri"/>
              </a:rPr>
              <a:t>   os nomes viraram colunas</a:t>
            </a:r>
          </a:p>
        </p:txBody>
      </p:sp>
      <p:sp>
        <p:nvSpPr>
          <p:cNvPr id="31" name="Rectangle 30"/>
          <p:cNvSpPr/>
          <p:nvPr/>
        </p:nvSpPr>
        <p:spPr>
          <a:xfrm>
            <a:off x="566928" y="3986784"/>
            <a:ext cx="2377440" cy="310896"/>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1">
                <a:solidFill>
                  <a:srgbClr val="FFFFFF"/>
                </a:solidFill>
                <a:latin typeface="Courier New"/>
              </a:rPr>
              <a:t>setor</a:t>
            </a:r>
          </a:p>
        </p:txBody>
      </p:sp>
      <p:sp>
        <p:nvSpPr>
          <p:cNvPr id="32" name="Rectangle 31"/>
          <p:cNvSpPr/>
          <p:nvPr/>
        </p:nvSpPr>
        <p:spPr>
          <a:xfrm>
            <a:off x="2944368" y="3986784"/>
            <a:ext cx="1143000" cy="310896"/>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1">
                <a:solidFill>
                  <a:srgbClr val="FFFFFF"/>
                </a:solidFill>
                <a:latin typeface="Courier New"/>
              </a:rPr>
              <a:t>size</a:t>
            </a:r>
          </a:p>
        </p:txBody>
      </p:sp>
      <p:sp>
        <p:nvSpPr>
          <p:cNvPr id="33" name="Rectangle 32"/>
          <p:cNvSpPr/>
          <p:nvPr/>
        </p:nvSpPr>
        <p:spPr>
          <a:xfrm>
            <a:off x="4087368" y="3986784"/>
            <a:ext cx="1143000" cy="310896"/>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1">
                <a:solidFill>
                  <a:srgbClr val="FFFFFF"/>
                </a:solidFill>
                <a:latin typeface="Courier New"/>
              </a:rPr>
              <a:t>count</a:t>
            </a:r>
          </a:p>
        </p:txBody>
      </p:sp>
      <p:sp>
        <p:nvSpPr>
          <p:cNvPr id="34" name="Rectangle 33"/>
          <p:cNvSpPr/>
          <p:nvPr/>
        </p:nvSpPr>
        <p:spPr>
          <a:xfrm>
            <a:off x="5230368" y="3986784"/>
            <a:ext cx="1143000" cy="310896"/>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1">
                <a:solidFill>
                  <a:srgbClr val="FFFFFF"/>
                </a:solidFill>
                <a:latin typeface="Courier New"/>
              </a:rPr>
              <a:t>mean</a:t>
            </a:r>
          </a:p>
        </p:txBody>
      </p:sp>
      <p:sp>
        <p:nvSpPr>
          <p:cNvPr id="35" name="Rectangle 34"/>
          <p:cNvSpPr/>
          <p:nvPr/>
        </p:nvSpPr>
        <p:spPr>
          <a:xfrm>
            <a:off x="566928" y="4297680"/>
            <a:ext cx="2377440" cy="292608"/>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Transporte aéreo</a:t>
            </a:r>
          </a:p>
        </p:txBody>
      </p:sp>
      <p:sp>
        <p:nvSpPr>
          <p:cNvPr id="36" name="Rectangle 35"/>
          <p:cNvSpPr/>
          <p:nvPr/>
        </p:nvSpPr>
        <p:spPr>
          <a:xfrm>
            <a:off x="2944368" y="4297680"/>
            <a:ext cx="1143000" cy="292608"/>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271</a:t>
            </a:r>
          </a:p>
        </p:txBody>
      </p:sp>
      <p:sp>
        <p:nvSpPr>
          <p:cNvPr id="37" name="Rectangle 36"/>
          <p:cNvSpPr/>
          <p:nvPr/>
        </p:nvSpPr>
        <p:spPr>
          <a:xfrm>
            <a:off x="4087368" y="4297680"/>
            <a:ext cx="1143000" cy="292608"/>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195</a:t>
            </a:r>
          </a:p>
        </p:txBody>
      </p:sp>
      <p:sp>
        <p:nvSpPr>
          <p:cNvPr id="38" name="Rectangle 37"/>
          <p:cNvSpPr/>
          <p:nvPr/>
        </p:nvSpPr>
        <p:spPr>
          <a:xfrm>
            <a:off x="5230368" y="4297680"/>
            <a:ext cx="1143000" cy="292608"/>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0.579</a:t>
            </a:r>
          </a:p>
        </p:txBody>
      </p:sp>
      <p:sp>
        <p:nvSpPr>
          <p:cNvPr id="39" name="Rectangle 38"/>
          <p:cNvSpPr/>
          <p:nvPr/>
        </p:nvSpPr>
        <p:spPr>
          <a:xfrm>
            <a:off x="566928" y="4590288"/>
            <a:ext cx="2377440" cy="292608"/>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Bureau de crédito</a:t>
            </a:r>
          </a:p>
        </p:txBody>
      </p:sp>
      <p:sp>
        <p:nvSpPr>
          <p:cNvPr id="40" name="Rectangle 39"/>
          <p:cNvSpPr/>
          <p:nvPr/>
        </p:nvSpPr>
        <p:spPr>
          <a:xfrm>
            <a:off x="2944368" y="4590288"/>
            <a:ext cx="1143000" cy="292608"/>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51</a:t>
            </a:r>
          </a:p>
        </p:txBody>
      </p:sp>
      <p:sp>
        <p:nvSpPr>
          <p:cNvPr id="41" name="Rectangle 40"/>
          <p:cNvSpPr/>
          <p:nvPr/>
        </p:nvSpPr>
        <p:spPr>
          <a:xfrm>
            <a:off x="4087368" y="4590288"/>
            <a:ext cx="1143000" cy="292608"/>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42</a:t>
            </a:r>
          </a:p>
        </p:txBody>
      </p:sp>
      <p:sp>
        <p:nvSpPr>
          <p:cNvPr id="42" name="Rectangle 41"/>
          <p:cNvSpPr/>
          <p:nvPr/>
        </p:nvSpPr>
        <p:spPr>
          <a:xfrm>
            <a:off x="5230368" y="4590288"/>
            <a:ext cx="1143000" cy="292608"/>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73152" tIns="0" rIns="36576" bIns="0" rtlCol="0" anchor="ctr"/>
          <a:lstStyle/>
          <a:p>
            <a:pPr algn="ctr"/>
            <a:r>
              <a:rPr sz="1050" b="0">
                <a:solidFill>
                  <a:srgbClr val="16202C"/>
                </a:solidFill>
                <a:latin typeface="Courier New"/>
              </a:rPr>
              <a:t>0.095</a:t>
            </a:r>
          </a:p>
        </p:txBody>
      </p:sp>
      <p:sp>
        <p:nvSpPr>
          <p:cNvPr id="43" name="Rounded Rectangle 42"/>
          <p:cNvSpPr/>
          <p:nvPr/>
        </p:nvSpPr>
        <p:spPr>
          <a:xfrm>
            <a:off x="6492240" y="3675887"/>
            <a:ext cx="5129784" cy="1792224"/>
          </a:xfrm>
          <a:prstGeom prst="roundRect">
            <a:avLst>
              <a:gd name="adj" fmla="val 5000"/>
            </a:avLst>
          </a:prstGeom>
          <a:solidFill>
            <a:srgbClr val="F4F6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729984" y="3858768"/>
            <a:ext cx="4654296" cy="1463040"/>
          </a:xfrm>
          <a:prstGeom prst="rect">
            <a:avLst/>
          </a:prstGeom>
          <a:noFill/>
        </p:spPr>
        <p:txBody>
          <a:bodyPr wrap="square" lIns="0" tIns="0" rIns="0" bIns="0" anchor="t">
            <a:spAutoFit/>
          </a:bodyPr>
          <a:lstStyle/>
          <a:p>
            <a:r>
              <a:rPr sz="1150" b="1">
                <a:solidFill>
                  <a:srgbClr val="023A78"/>
                </a:solidFill>
                <a:latin typeface="Courier New"/>
              </a:rPr>
              <a:t>size</a:t>
            </a:r>
            <a:r>
              <a:rPr sz="1200">
                <a:solidFill>
                  <a:srgbClr val="3C4A5A"/>
                </a:solidFill>
                <a:latin typeface="Calibri"/>
              </a:rPr>
              <a:t>  quantas linhas o grupo tem</a:t>
            </a:r>
          </a:p>
          <a:p>
            <a:pPr>
              <a:spcBef>
                <a:spcPts val="600"/>
              </a:spcBef>
            </a:pPr>
            <a:r>
              <a:rPr sz="1150" b="1">
                <a:solidFill>
                  <a:srgbClr val="023A78"/>
                </a:solidFill>
                <a:latin typeface="Courier New"/>
              </a:rPr>
              <a:t>count</a:t>
            </a:r>
            <a:r>
              <a:rPr sz="1200">
                <a:solidFill>
                  <a:srgbClr val="3C4A5A"/>
                </a:solidFill>
                <a:latin typeface="Calibri"/>
              </a:rPr>
              <a:t>  quantas linhas estão preenchidas</a:t>
            </a:r>
          </a:p>
          <a:p>
            <a:pPr>
              <a:spcBef>
                <a:spcPts val="600"/>
              </a:spcBef>
            </a:pPr>
            <a:r>
              <a:rPr sz="1150" b="1">
                <a:solidFill>
                  <a:srgbClr val="023A78"/>
                </a:solidFill>
                <a:latin typeface="Courier New"/>
              </a:rPr>
              <a:t>mean</a:t>
            </a:r>
            <a:r>
              <a:rPr sz="1200">
                <a:solidFill>
                  <a:srgbClr val="3C4A5A"/>
                </a:solidFill>
                <a:latin typeface="Calibri"/>
              </a:rPr>
              <a:t>  a média — aqui, a proporção</a:t>
            </a:r>
          </a:p>
          <a:p>
            <a:pPr>
              <a:spcBef>
                <a:spcPts val="600"/>
              </a:spcBef>
            </a:pPr>
            <a:r>
              <a:rPr sz="1150" b="1">
                <a:solidFill>
                  <a:srgbClr val="023A78"/>
                </a:solidFill>
                <a:latin typeface="Courier New"/>
              </a:rPr>
              <a:t>median, min, max, sum, std</a:t>
            </a:r>
            <a:r>
              <a:rPr sz="1200">
                <a:solidFill>
                  <a:srgbClr val="3C4A5A"/>
                </a:solidFill>
                <a:latin typeface="Calibri"/>
              </a:rPr>
              <a:t>  os outros resumos de sempre</a:t>
            </a:r>
          </a:p>
        </p:txBody>
      </p:sp>
      <p:sp>
        <p:nvSpPr>
          <p:cNvPr id="45" name="TextBox 44"/>
          <p:cNvSpPr txBox="1"/>
          <p:nvPr/>
        </p:nvSpPr>
        <p:spPr>
          <a:xfrm>
            <a:off x="566928" y="5632704"/>
            <a:ext cx="11055096" cy="310896"/>
          </a:xfrm>
          <a:prstGeom prst="rect">
            <a:avLst/>
          </a:prstGeom>
          <a:noFill/>
        </p:spPr>
        <p:txBody>
          <a:bodyPr wrap="square" lIns="0" tIns="0" rIns="0" bIns="0" anchor="t">
            <a:spAutoFit/>
          </a:bodyPr>
          <a:lstStyle/>
          <a:p>
            <a:pPr algn="l"/>
            <a:r>
              <a:rPr sz="1450" b="0">
                <a:solidFill>
                  <a:srgbClr val="16202C"/>
                </a:solidFill>
                <a:latin typeface="Calibri"/>
              </a:rPr>
              <a:t>Em transporte aéreo, </a:t>
            </a:r>
            <a:r>
              <a:rPr sz="1350" b="1">
                <a:solidFill>
                  <a:srgbClr val="023A78"/>
                </a:solidFill>
                <a:latin typeface="Courier New"/>
              </a:rPr>
              <a:t>size</a:t>
            </a:r>
            <a:r>
              <a:rPr sz="1450" b="0">
                <a:solidFill>
                  <a:srgbClr val="16202C"/>
                </a:solidFill>
                <a:latin typeface="Calibri"/>
              </a:rPr>
              <a:t> é 271 e </a:t>
            </a:r>
            <a:r>
              <a:rPr sz="1350" b="1">
                <a:solidFill>
                  <a:srgbClr val="023A78"/>
                </a:solidFill>
                <a:latin typeface="Courier New"/>
              </a:rPr>
              <a:t>count</a:t>
            </a:r>
            <a:r>
              <a:rPr sz="1450" b="0">
                <a:solidFill>
                  <a:srgbClr val="16202C"/>
                </a:solidFill>
                <a:latin typeface="Calibri"/>
              </a:rPr>
              <a:t> é 195: os 76 que somem são os acordos, em que o campo está vazio.</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6">
    <p:bg>
      <p:bgPr>
        <a:solidFill>
          <a:srgbClr val="023A78"/>
        </a:solidFill>
        <a:effectLst/>
      </p:bgPr>
    </p:bg>
    <p:spTree>
      <p:nvGrpSpPr>
        <p:cNvPr id="1" name=""/>
        <p:cNvGrpSpPr/>
        <p:nvPr/>
      </p:nvGrpSpPr>
      <p:grpSpPr>
        <a:xfrm>
          <a:off x="0" y="0"/>
          <a:ext cx="0" cy="0"/>
          <a:chOff x="0" y="0"/>
          <a:chExt cx="0" cy="0"/>
        </a:xfrm>
      </p:grpSpPr>
      <p:sp>
        <p:nvSpPr>
          <p:cNvPr id="4" name="Fundo"/>
          <p:cNvSpPr/>
          <p:nvPr/>
        </p:nvSpPr>
        <p:spPr>
          <a:xfrm>
            <a:off x="0" y="0"/>
            <a:ext cx="12192000" cy="6858000"/>
          </a:xfrm>
          <a:prstGeom prst="rect">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Juntar tabelas</a:t>
            </a:r>
            <a:endParaRPr lang="en-US" sz="3400" dirty="0"/>
          </a:p>
        </p:txBody>
      </p:sp>
      <p:sp>
        <p:nvSpPr>
          <p:cNvPr id="3" name="Etiqueta"/>
          <p:cNvSpPr/>
          <p:nvPr/>
        </p:nvSpPr>
        <p:spPr>
          <a:xfrm>
            <a:off x="8549640" y="256032"/>
            <a:ext cx="3072384" cy="329184"/>
          </a:xfrm>
          <a:prstGeom prst="roundRect">
            <a:avLst>
              <a:gd name="adj" fmla="val 4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6 · juntar tabelas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 chave: a coluna que existe nas duas</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26</a:t>
            </a:r>
            <a:endParaRPr lang="en-US" sz="900" dirty="0"/>
          </a:p>
        </p:txBody>
      </p:sp>
      <p:sp>
        <p:nvSpPr>
          <p:cNvPr id="47"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6 · juntar tabelas</a:t>
            </a:r>
          </a:p>
        </p:txBody>
      </p:sp>
      <p:sp>
        <p:nvSpPr>
          <p:cNvPr id="48" name="TextBox 47"/>
          <p:cNvSpPr txBox="1"/>
          <p:nvPr/>
        </p:nvSpPr>
        <p:spPr>
          <a:xfrm>
            <a:off x="566928" y="1389888"/>
            <a:ext cx="3108960" cy="237744"/>
          </a:xfrm>
          <a:prstGeom prst="rect">
            <a:avLst/>
          </a:prstGeom>
          <a:noFill/>
        </p:spPr>
        <p:txBody>
          <a:bodyPr wrap="square" lIns="0" tIns="0" rIns="0" bIns="0" anchor="t">
            <a:spAutoFit/>
          </a:bodyPr>
          <a:lstStyle/>
          <a:p>
            <a:pPr algn="l"/>
            <a:r>
              <a:rPr sz="1200" b="1">
                <a:solidFill>
                  <a:srgbClr val="023A78"/>
                </a:solidFill>
                <a:latin typeface="Courier New"/>
              </a:rPr>
              <a:t>processos</a:t>
            </a:r>
            <a:r>
              <a:rPr sz="1050" b="0">
                <a:solidFill>
                  <a:srgbClr val="9AA8B6"/>
                </a:solidFill>
                <a:latin typeface="Calibri"/>
              </a:rPr>
              <a:t>   7.000 linhas, 11 colunas</a:t>
            </a:r>
          </a:p>
        </p:txBody>
      </p:sp>
      <p:sp>
        <p:nvSpPr>
          <p:cNvPr id="49" name="Rectangle 48"/>
          <p:cNvSpPr/>
          <p:nvPr/>
        </p:nvSpPr>
        <p:spPr>
          <a:xfrm>
            <a:off x="566928" y="1691640"/>
            <a:ext cx="150876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processo</a:t>
            </a:r>
          </a:p>
        </p:txBody>
      </p:sp>
      <p:sp>
        <p:nvSpPr>
          <p:cNvPr id="50" name="Rectangle 49"/>
          <p:cNvSpPr/>
          <p:nvPr/>
        </p:nvSpPr>
        <p:spPr>
          <a:xfrm>
            <a:off x="2075688" y="1691640"/>
            <a:ext cx="86868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tribunal</a:t>
            </a:r>
          </a:p>
        </p:txBody>
      </p:sp>
      <p:sp>
        <p:nvSpPr>
          <p:cNvPr id="51" name="Rectangle 50"/>
          <p:cNvSpPr/>
          <p:nvPr/>
        </p:nvSpPr>
        <p:spPr>
          <a:xfrm>
            <a:off x="2944368" y="1691640"/>
            <a:ext cx="141732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resultado</a:t>
            </a:r>
          </a:p>
        </p:txBody>
      </p:sp>
      <p:sp>
        <p:nvSpPr>
          <p:cNvPr id="52" name="Rectangle 51"/>
          <p:cNvSpPr/>
          <p:nvPr/>
        </p:nvSpPr>
        <p:spPr>
          <a:xfrm>
            <a:off x="566928" y="1993392"/>
            <a:ext cx="1508760" cy="283464"/>
          </a:xfrm>
          <a:prstGeom prst="rect">
            <a:avLst/>
          </a:prstGeom>
          <a:solidFill>
            <a:srgbClr val="D6E6FA"/>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023A78"/>
                </a:solidFill>
                <a:latin typeface="Courier New"/>
              </a:rPr>
              <a:t>0000002-56…</a:t>
            </a:r>
          </a:p>
        </p:txBody>
      </p:sp>
      <p:sp>
        <p:nvSpPr>
          <p:cNvPr id="53" name="Rectangle 52"/>
          <p:cNvSpPr/>
          <p:nvPr/>
        </p:nvSpPr>
        <p:spPr>
          <a:xfrm>
            <a:off x="2075688" y="1993392"/>
            <a:ext cx="86868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TJPE</a:t>
            </a:r>
          </a:p>
        </p:txBody>
      </p:sp>
      <p:sp>
        <p:nvSpPr>
          <p:cNvPr id="54" name="Rectangle 53"/>
          <p:cNvSpPr/>
          <p:nvPr/>
        </p:nvSpPr>
        <p:spPr>
          <a:xfrm>
            <a:off x="2944368" y="1993392"/>
            <a:ext cx="14173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IMPROCEDENTE</a:t>
            </a:r>
          </a:p>
        </p:txBody>
      </p:sp>
      <p:sp>
        <p:nvSpPr>
          <p:cNvPr id="55" name="Rectangle 54"/>
          <p:cNvSpPr/>
          <p:nvPr/>
        </p:nvSpPr>
        <p:spPr>
          <a:xfrm>
            <a:off x="566928" y="2276856"/>
            <a:ext cx="1508760" cy="283464"/>
          </a:xfrm>
          <a:prstGeom prst="rect">
            <a:avLst/>
          </a:prstGeom>
          <a:solidFill>
            <a:srgbClr val="D6E6FA"/>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023A78"/>
                </a:solidFill>
                <a:latin typeface="Courier New"/>
              </a:rPr>
              <a:t>0000010-25…</a:t>
            </a:r>
          </a:p>
        </p:txBody>
      </p:sp>
      <p:sp>
        <p:nvSpPr>
          <p:cNvPr id="56" name="Rectangle 55"/>
          <p:cNvSpPr/>
          <p:nvPr/>
        </p:nvSpPr>
        <p:spPr>
          <a:xfrm>
            <a:off x="2075688" y="2276856"/>
            <a:ext cx="86868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TJPI</a:t>
            </a:r>
          </a:p>
        </p:txBody>
      </p:sp>
      <p:sp>
        <p:nvSpPr>
          <p:cNvPr id="57" name="Rectangle 56"/>
          <p:cNvSpPr/>
          <p:nvPr/>
        </p:nvSpPr>
        <p:spPr>
          <a:xfrm>
            <a:off x="2944368" y="2276856"/>
            <a:ext cx="14173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IMPROCEDENTE</a:t>
            </a:r>
          </a:p>
        </p:txBody>
      </p:sp>
      <p:sp>
        <p:nvSpPr>
          <p:cNvPr id="58" name="TextBox 57"/>
          <p:cNvSpPr txBox="1"/>
          <p:nvPr/>
        </p:nvSpPr>
        <p:spPr>
          <a:xfrm>
            <a:off x="6355080" y="1389888"/>
            <a:ext cx="3657600" cy="237744"/>
          </a:xfrm>
          <a:prstGeom prst="rect">
            <a:avLst/>
          </a:prstGeom>
          <a:noFill/>
        </p:spPr>
        <p:txBody>
          <a:bodyPr wrap="square" lIns="0" tIns="0" rIns="0" bIns="0" anchor="t">
            <a:spAutoFit/>
          </a:bodyPr>
          <a:lstStyle/>
          <a:p>
            <a:pPr algn="l"/>
            <a:r>
              <a:rPr sz="1200" b="1">
                <a:solidFill>
                  <a:srgbClr val="023A78"/>
                </a:solidFill>
                <a:latin typeface="Courier New"/>
              </a:rPr>
              <a:t>dispositivos</a:t>
            </a:r>
            <a:r>
              <a:rPr sz="1050" b="0">
                <a:solidFill>
                  <a:srgbClr val="9AA8B6"/>
                </a:solidFill>
                <a:latin typeface="Calibri"/>
              </a:rPr>
              <a:t>   7.000 linhas, 4 colunas</a:t>
            </a:r>
          </a:p>
        </p:txBody>
      </p:sp>
      <p:sp>
        <p:nvSpPr>
          <p:cNvPr id="59" name="Rectangle 58"/>
          <p:cNvSpPr/>
          <p:nvPr/>
        </p:nvSpPr>
        <p:spPr>
          <a:xfrm>
            <a:off x="6355080" y="1691640"/>
            <a:ext cx="150876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processo</a:t>
            </a:r>
          </a:p>
        </p:txBody>
      </p:sp>
      <p:sp>
        <p:nvSpPr>
          <p:cNvPr id="60" name="Rectangle 59"/>
          <p:cNvSpPr/>
          <p:nvPr/>
        </p:nvSpPr>
        <p:spPr>
          <a:xfrm>
            <a:off x="7863840" y="1691640"/>
            <a:ext cx="141732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reu</a:t>
            </a:r>
          </a:p>
        </p:txBody>
      </p:sp>
      <p:sp>
        <p:nvSpPr>
          <p:cNvPr id="61" name="Rectangle 60"/>
          <p:cNvSpPr/>
          <p:nvPr/>
        </p:nvSpPr>
        <p:spPr>
          <a:xfrm>
            <a:off x="9281160" y="1691640"/>
            <a:ext cx="233172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dispositivo</a:t>
            </a:r>
          </a:p>
        </p:txBody>
      </p:sp>
      <p:sp>
        <p:nvSpPr>
          <p:cNvPr id="62" name="Rectangle 61"/>
          <p:cNvSpPr/>
          <p:nvPr/>
        </p:nvSpPr>
        <p:spPr>
          <a:xfrm>
            <a:off x="6355080" y="1993392"/>
            <a:ext cx="1508760" cy="283464"/>
          </a:xfrm>
          <a:prstGeom prst="rect">
            <a:avLst/>
          </a:prstGeom>
          <a:solidFill>
            <a:srgbClr val="D6E6FA"/>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023A78"/>
                </a:solidFill>
                <a:latin typeface="Courier New"/>
              </a:rPr>
              <a:t>0000002-56…</a:t>
            </a:r>
          </a:p>
        </p:txBody>
      </p:sp>
      <p:sp>
        <p:nvSpPr>
          <p:cNvPr id="63" name="Rectangle 62"/>
          <p:cNvSpPr/>
          <p:nvPr/>
        </p:nvSpPr>
        <p:spPr>
          <a:xfrm>
            <a:off x="7863840" y="1993392"/>
            <a:ext cx="14173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BRADESCO SAUDE</a:t>
            </a:r>
          </a:p>
        </p:txBody>
      </p:sp>
      <p:sp>
        <p:nvSpPr>
          <p:cNvPr id="64" name="Rectangle 63"/>
          <p:cNvSpPr/>
          <p:nvPr/>
        </p:nvSpPr>
        <p:spPr>
          <a:xfrm>
            <a:off x="9281160" y="1993392"/>
            <a:ext cx="23317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Ante o exposto…</a:t>
            </a:r>
          </a:p>
        </p:txBody>
      </p:sp>
      <p:sp>
        <p:nvSpPr>
          <p:cNvPr id="65" name="Rectangle 64"/>
          <p:cNvSpPr/>
          <p:nvPr/>
        </p:nvSpPr>
        <p:spPr>
          <a:xfrm>
            <a:off x="6355080" y="2276856"/>
            <a:ext cx="1508760" cy="283464"/>
          </a:xfrm>
          <a:prstGeom prst="rect">
            <a:avLst/>
          </a:prstGeom>
          <a:solidFill>
            <a:srgbClr val="D6E6FA"/>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023A78"/>
                </a:solidFill>
                <a:latin typeface="Courier New"/>
              </a:rPr>
              <a:t>0000010-25…</a:t>
            </a:r>
          </a:p>
        </p:txBody>
      </p:sp>
      <p:sp>
        <p:nvSpPr>
          <p:cNvPr id="66" name="Rectangle 65"/>
          <p:cNvSpPr/>
          <p:nvPr/>
        </p:nvSpPr>
        <p:spPr>
          <a:xfrm>
            <a:off x="7863840" y="2276856"/>
            <a:ext cx="14173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BANCO DO BRASIL</a:t>
            </a:r>
          </a:p>
        </p:txBody>
      </p:sp>
      <p:sp>
        <p:nvSpPr>
          <p:cNvPr id="67" name="Rectangle 66"/>
          <p:cNvSpPr/>
          <p:nvPr/>
        </p:nvSpPr>
        <p:spPr>
          <a:xfrm>
            <a:off x="9281160" y="2276856"/>
            <a:ext cx="23317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Pelo exposto…</a:t>
            </a:r>
          </a:p>
        </p:txBody>
      </p:sp>
      <p:sp>
        <p:nvSpPr>
          <p:cNvPr id="68" name="Rounded Rectangle 67"/>
          <p:cNvSpPr/>
          <p:nvPr/>
        </p:nvSpPr>
        <p:spPr>
          <a:xfrm>
            <a:off x="4462272" y="1956816"/>
            <a:ext cx="1755648" cy="384048"/>
          </a:xfrm>
          <a:prstGeom prst="roundRect">
            <a:avLst>
              <a:gd name="adj" fmla="val 40000"/>
            </a:avLst>
          </a:prstGeom>
          <a:solidFill>
            <a:srgbClr val="D6E6FA"/>
          </a:solidFill>
          <a:ln w="12700">
            <a:solidFill>
              <a:srgbClr val="023A7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023A78"/>
                </a:solidFill>
                <a:latin typeface="Courier New"/>
              </a:rPr>
              <a:t>processo</a:t>
            </a:r>
          </a:p>
        </p:txBody>
      </p:sp>
      <p:sp>
        <p:nvSpPr>
          <p:cNvPr id="69" name="TextBox 68"/>
          <p:cNvSpPr txBox="1"/>
          <p:nvPr/>
        </p:nvSpPr>
        <p:spPr>
          <a:xfrm>
            <a:off x="3968496" y="2450592"/>
            <a:ext cx="2743200" cy="219456"/>
          </a:xfrm>
          <a:prstGeom prst="rect">
            <a:avLst/>
          </a:prstGeom>
          <a:noFill/>
        </p:spPr>
        <p:txBody>
          <a:bodyPr wrap="square" lIns="0" tIns="0" rIns="0" bIns="0" anchor="t">
            <a:spAutoFit/>
          </a:bodyPr>
          <a:lstStyle/>
          <a:p>
            <a:pPr algn="ctr"/>
            <a:r>
              <a:rPr sz="1100" b="0">
                <a:solidFill>
                  <a:srgbClr val="3C4A5A"/>
                </a:solidFill>
                <a:latin typeface="Calibri"/>
              </a:rPr>
              <a:t>a coluna em comum</a:t>
            </a:r>
          </a:p>
        </p:txBody>
      </p:sp>
      <p:sp>
        <p:nvSpPr>
          <p:cNvPr id="70" name="Down Arrow 69"/>
          <p:cNvSpPr/>
          <p:nvPr/>
        </p:nvSpPr>
        <p:spPr>
          <a:xfrm>
            <a:off x="1234440" y="3017520"/>
            <a:ext cx="329184" cy="530352"/>
          </a:xfrm>
          <a:prstGeom prst="downArrow">
            <a:avLst/>
          </a:prstGeom>
          <a:solidFill>
            <a:srgbClr val="023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783080" y="3154680"/>
            <a:ext cx="9784080" cy="274320"/>
          </a:xfrm>
          <a:prstGeom prst="rect">
            <a:avLst/>
          </a:prstGeom>
          <a:noFill/>
        </p:spPr>
        <p:txBody>
          <a:bodyPr wrap="square" lIns="0" tIns="0" rIns="0" bIns="0" anchor="t">
            <a:spAutoFit/>
          </a:bodyPr>
          <a:lstStyle/>
          <a:p>
            <a:pPr algn="l"/>
            <a:r>
              <a:rPr sz="1250" b="1">
                <a:solidFill>
                  <a:srgbClr val="023A78"/>
                </a:solidFill>
                <a:latin typeface="Courier New"/>
              </a:rPr>
              <a:t>processos.merge(dispositivos[["processo", "dispositivo"]], on="processo", how="left")</a:t>
            </a:r>
          </a:p>
        </p:txBody>
      </p:sp>
      <p:sp>
        <p:nvSpPr>
          <p:cNvPr id="72" name="TextBox 71"/>
          <p:cNvSpPr txBox="1"/>
          <p:nvPr/>
        </p:nvSpPr>
        <p:spPr>
          <a:xfrm>
            <a:off x="1234440" y="3767328"/>
            <a:ext cx="4572000" cy="237744"/>
          </a:xfrm>
          <a:prstGeom prst="rect">
            <a:avLst/>
          </a:prstGeom>
          <a:noFill/>
        </p:spPr>
        <p:txBody>
          <a:bodyPr wrap="square" lIns="0" tIns="0" rIns="0" bIns="0" anchor="t">
            <a:spAutoFit/>
          </a:bodyPr>
          <a:lstStyle/>
          <a:p>
            <a:pPr algn="l"/>
            <a:r>
              <a:rPr sz="1200" b="1">
                <a:solidFill>
                  <a:srgbClr val="023A78"/>
                </a:solidFill>
                <a:latin typeface="Courier New"/>
              </a:rPr>
              <a:t>completa</a:t>
            </a:r>
            <a:r>
              <a:rPr sz="1050" b="0">
                <a:solidFill>
                  <a:srgbClr val="9AA8B6"/>
                </a:solidFill>
                <a:latin typeface="Calibri"/>
              </a:rPr>
              <a:t>   7.000 linhas, agora com o dispositivo</a:t>
            </a:r>
          </a:p>
        </p:txBody>
      </p:sp>
      <p:sp>
        <p:nvSpPr>
          <p:cNvPr id="73" name="Rectangle 72"/>
          <p:cNvSpPr/>
          <p:nvPr/>
        </p:nvSpPr>
        <p:spPr>
          <a:xfrm>
            <a:off x="1234440" y="4069080"/>
            <a:ext cx="150876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processo</a:t>
            </a:r>
          </a:p>
        </p:txBody>
      </p:sp>
      <p:sp>
        <p:nvSpPr>
          <p:cNvPr id="74" name="Rectangle 73"/>
          <p:cNvSpPr/>
          <p:nvPr/>
        </p:nvSpPr>
        <p:spPr>
          <a:xfrm>
            <a:off x="2743200" y="4069080"/>
            <a:ext cx="86868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tribunal</a:t>
            </a:r>
          </a:p>
        </p:txBody>
      </p:sp>
      <p:sp>
        <p:nvSpPr>
          <p:cNvPr id="75" name="Rectangle 74"/>
          <p:cNvSpPr/>
          <p:nvPr/>
        </p:nvSpPr>
        <p:spPr>
          <a:xfrm>
            <a:off x="3611880" y="4069080"/>
            <a:ext cx="141732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resultado</a:t>
            </a:r>
          </a:p>
        </p:txBody>
      </p:sp>
      <p:sp>
        <p:nvSpPr>
          <p:cNvPr id="76" name="Rectangle 75"/>
          <p:cNvSpPr/>
          <p:nvPr/>
        </p:nvSpPr>
        <p:spPr>
          <a:xfrm>
            <a:off x="5029200" y="4069080"/>
            <a:ext cx="5806440" cy="301752"/>
          </a:xfrm>
          <a:prstGeom prst="rect">
            <a:avLst/>
          </a:prstGeom>
          <a:solidFill>
            <a:srgbClr val="023A78"/>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FFFFFF"/>
                </a:solidFill>
                <a:latin typeface="Courier New"/>
              </a:rPr>
              <a:t>dispositivo</a:t>
            </a:r>
          </a:p>
        </p:txBody>
      </p:sp>
      <p:sp>
        <p:nvSpPr>
          <p:cNvPr id="77" name="Rectangle 76"/>
          <p:cNvSpPr/>
          <p:nvPr/>
        </p:nvSpPr>
        <p:spPr>
          <a:xfrm>
            <a:off x="1234440" y="4370832"/>
            <a:ext cx="1508760" cy="283464"/>
          </a:xfrm>
          <a:prstGeom prst="rect">
            <a:avLst/>
          </a:prstGeom>
          <a:solidFill>
            <a:srgbClr val="D6E6FA"/>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023A78"/>
                </a:solidFill>
                <a:latin typeface="Courier New"/>
              </a:rPr>
              <a:t>0000002-56…</a:t>
            </a:r>
          </a:p>
        </p:txBody>
      </p:sp>
      <p:sp>
        <p:nvSpPr>
          <p:cNvPr id="78" name="Rectangle 77"/>
          <p:cNvSpPr/>
          <p:nvPr/>
        </p:nvSpPr>
        <p:spPr>
          <a:xfrm>
            <a:off x="2743200" y="4370832"/>
            <a:ext cx="86868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TJPE</a:t>
            </a:r>
          </a:p>
        </p:txBody>
      </p:sp>
      <p:sp>
        <p:nvSpPr>
          <p:cNvPr id="79" name="Rectangle 78"/>
          <p:cNvSpPr/>
          <p:nvPr/>
        </p:nvSpPr>
        <p:spPr>
          <a:xfrm>
            <a:off x="3611880" y="4370832"/>
            <a:ext cx="14173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IMPROCEDENTE</a:t>
            </a:r>
          </a:p>
        </p:txBody>
      </p:sp>
      <p:sp>
        <p:nvSpPr>
          <p:cNvPr id="80" name="Rectangle 79"/>
          <p:cNvSpPr/>
          <p:nvPr/>
        </p:nvSpPr>
        <p:spPr>
          <a:xfrm>
            <a:off x="5029200" y="4370832"/>
            <a:ext cx="5806440" cy="283464"/>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Ante o exposto… JULGO IMPROCEDENTE o pedido…</a:t>
            </a:r>
          </a:p>
        </p:txBody>
      </p:sp>
      <p:sp>
        <p:nvSpPr>
          <p:cNvPr id="81" name="Rectangle 80"/>
          <p:cNvSpPr/>
          <p:nvPr/>
        </p:nvSpPr>
        <p:spPr>
          <a:xfrm>
            <a:off x="1234440" y="4654296"/>
            <a:ext cx="1508760" cy="283464"/>
          </a:xfrm>
          <a:prstGeom prst="rect">
            <a:avLst/>
          </a:prstGeom>
          <a:solidFill>
            <a:srgbClr val="D6E6FA"/>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1">
                <a:solidFill>
                  <a:srgbClr val="023A78"/>
                </a:solidFill>
                <a:latin typeface="Courier New"/>
              </a:rPr>
              <a:t>0000010-25…</a:t>
            </a:r>
          </a:p>
        </p:txBody>
      </p:sp>
      <p:sp>
        <p:nvSpPr>
          <p:cNvPr id="82" name="Rectangle 81"/>
          <p:cNvSpPr/>
          <p:nvPr/>
        </p:nvSpPr>
        <p:spPr>
          <a:xfrm>
            <a:off x="2743200" y="4654296"/>
            <a:ext cx="86868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TJPI</a:t>
            </a:r>
          </a:p>
        </p:txBody>
      </p:sp>
      <p:sp>
        <p:nvSpPr>
          <p:cNvPr id="83" name="Rectangle 82"/>
          <p:cNvSpPr/>
          <p:nvPr/>
        </p:nvSpPr>
        <p:spPr>
          <a:xfrm>
            <a:off x="3611880" y="4654296"/>
            <a:ext cx="1417320" cy="283464"/>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IMPROCEDENTE</a:t>
            </a:r>
          </a:p>
        </p:txBody>
      </p:sp>
      <p:sp>
        <p:nvSpPr>
          <p:cNvPr id="84" name="Rectangle 83"/>
          <p:cNvSpPr/>
          <p:nvPr/>
        </p:nvSpPr>
        <p:spPr>
          <a:xfrm>
            <a:off x="5029200" y="4654296"/>
            <a:ext cx="5806440" cy="283464"/>
          </a:xfrm>
          <a:prstGeom prst="rect">
            <a:avLst/>
          </a:prstGeom>
          <a:solidFill>
            <a:srgbClr val="FCEFE3"/>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lIns="54864" tIns="0" rIns="36576" bIns="0" rtlCol="0" anchor="ctr"/>
          <a:lstStyle/>
          <a:p>
            <a:pPr algn="ctr"/>
            <a:r>
              <a:rPr sz="950" b="0">
                <a:solidFill>
                  <a:srgbClr val="16202C"/>
                </a:solidFill>
                <a:latin typeface="Courier New"/>
              </a:rPr>
              <a:t>Pelo exposto, com fundamento no art. 487, I…</a:t>
            </a:r>
          </a:p>
        </p:txBody>
      </p:sp>
      <p:sp>
        <p:nvSpPr>
          <p:cNvPr id="85" name="TextBox 84"/>
          <p:cNvSpPr txBox="1"/>
          <p:nvPr/>
        </p:nvSpPr>
        <p:spPr>
          <a:xfrm>
            <a:off x="566928" y="5230368"/>
            <a:ext cx="11055096" cy="548640"/>
          </a:xfrm>
          <a:prstGeom prst="rect">
            <a:avLst/>
          </a:prstGeom>
          <a:noFill/>
        </p:spPr>
        <p:txBody>
          <a:bodyPr wrap="square" lIns="0" tIns="0" rIns="0" bIns="0" anchor="t">
            <a:spAutoFit/>
          </a:bodyPr>
          <a:lstStyle/>
          <a:p>
            <a:pPr algn="l"/>
            <a:r>
              <a:rPr sz="1400" b="0">
                <a:solidFill>
                  <a:srgbClr val="16202C"/>
                </a:solidFill>
                <a:latin typeface="Calibri"/>
              </a:rPr>
              <a:t>Cada linha de </a:t>
            </a:r>
            <a:r>
              <a:rPr sz="1300" b="1">
                <a:solidFill>
                  <a:srgbClr val="023A78"/>
                </a:solidFill>
                <a:latin typeface="Courier New"/>
              </a:rPr>
              <a:t>processos</a:t>
            </a:r>
            <a:r>
              <a:rPr sz="1400" b="0">
                <a:solidFill>
                  <a:srgbClr val="16202C"/>
                </a:solidFill>
                <a:latin typeface="Calibri"/>
              </a:rPr>
              <a:t> encontrou o seu par pelo número do </a:t>
            </a:r>
            <a:r>
              <a:rPr sz="1300" b="1">
                <a:solidFill>
                  <a:srgbClr val="023A78"/>
                </a:solidFill>
                <a:latin typeface="Courier New"/>
              </a:rPr>
              <a:t>processo</a:t>
            </a:r>
            <a:r>
              <a:rPr sz="1400" b="0">
                <a:solidFill>
                  <a:srgbClr val="16202C"/>
                </a:solidFill>
                <a:latin typeface="Calibri"/>
              </a:rPr>
              <a:t>. A coluna bege veio da outra tabela.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3">
    <p:bg>
      <p:bgPr>
        <a:solidFill>
          <a:srgbClr val="023A78"/>
        </a:solidFill>
        <a:effectLst/>
      </p:bgPr>
    </p:bg>
    <p:spTree>
      <p:nvGrpSpPr>
        <p:cNvPr id="1" name=""/>
        <p:cNvGrpSpPr/>
        <p:nvPr/>
      </p:nvGrpSpPr>
      <p:grpSpPr>
        <a:xfrm>
          <a:off x="0" y="0"/>
          <a:ext cx="0" cy="0"/>
          <a:chOff x="0" y="0"/>
          <a:chExt cx="0" cy="0"/>
        </a:xfrm>
      </p:grpSpPr>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Fechamento</a:t>
            </a:r>
            <a:endParaRPr lang="en-US" sz="3400" dirty="0"/>
          </a:p>
        </p:txBody>
      </p:sp>
      <p:sp>
        <p:nvSpPr>
          <p:cNvPr id="3"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Conclusão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O que muda quando a base cresce</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29</a:t>
            </a:r>
            <a:endParaRPr lang="en-US" sz="900" dirty="0"/>
          </a:p>
        </p:txBody>
      </p:sp>
      <p:sp>
        <p:nvSpPr>
          <p:cNvPr id="6" name="Shape 3"/>
          <p:cNvSpPr/>
          <p:nvPr/>
        </p:nvSpPr>
        <p:spPr>
          <a:xfrm>
            <a:off x="566928" y="1298448"/>
            <a:ext cx="5408676" cy="1781556"/>
          </a:xfrm>
          <a:prstGeom prst="roundRect">
            <a:avLst>
              <a:gd name="adj" fmla="val 2566"/>
            </a:avLst>
          </a:prstGeom>
          <a:solidFill>
            <a:srgbClr val="FBEEEE"/>
          </a:solidFill>
          <a:ln w="9525">
            <a:solidFill>
              <a:srgbClr val="F0D2D0"/>
            </a:solidFill>
            <a:prstDash val="solid"/>
          </a:ln>
        </p:spPr>
        <p:txBody>
          <a:bodyPr/>
          <a:lstStyle/>
          <a:p>
            <a:endParaRPr lang="en-US"/>
          </a:p>
        </p:txBody>
      </p:sp>
      <p:sp>
        <p:nvSpPr>
          <p:cNvPr id="7" name="Text 4"/>
          <p:cNvSpPr txBox="1"/>
          <p:nvPr/>
        </p:nvSpPr>
        <p:spPr>
          <a:xfrm>
            <a:off x="777240" y="1453896"/>
            <a:ext cx="4988052"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Sem a tabela</a:t>
            </a:r>
            <a:endParaRPr lang="en-US" sz="1400" dirty="0"/>
          </a:p>
        </p:txBody>
      </p:sp>
      <p:sp>
        <p:nvSpPr>
          <p:cNvPr id="8" name="Text 5"/>
          <p:cNvSpPr txBox="1"/>
          <p:nvPr/>
        </p:nvSpPr>
        <p:spPr>
          <a:xfrm>
            <a:off x="777240" y="1783588"/>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Cada pergunta é um loop novo, escrito à mão, com um acumulador que pode nascer no lugar errado.</a:t>
            </a:r>
            <a:endParaRPr lang="en-US" sz="1300" dirty="0"/>
          </a:p>
        </p:txBody>
      </p:sp>
      <p:sp>
        <p:nvSpPr>
          <p:cNvPr id="9" name="Text 6"/>
          <p:cNvSpPr txBox="1"/>
          <p:nvPr/>
        </p:nvSpPr>
        <p:spPr>
          <a:xfrm>
            <a:off x="777240" y="2317496"/>
            <a:ext cx="4988052" cy="221234"/>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Conferir é reler o código.</a:t>
            </a:r>
            <a:endParaRPr lang="en-US" sz="1300" dirty="0"/>
          </a:p>
        </p:txBody>
      </p:sp>
      <p:sp>
        <p:nvSpPr>
          <p:cNvPr id="10" name="Shape 7"/>
          <p:cNvSpPr/>
          <p:nvPr/>
        </p:nvSpPr>
        <p:spPr>
          <a:xfrm>
            <a:off x="6213348" y="1298448"/>
            <a:ext cx="5408676" cy="1781556"/>
          </a:xfrm>
          <a:prstGeom prst="roundRect">
            <a:avLst>
              <a:gd name="adj" fmla="val 2566"/>
            </a:avLst>
          </a:prstGeom>
          <a:solidFill>
            <a:srgbClr val="EEF5ED"/>
          </a:solidFill>
          <a:ln w="9525">
            <a:solidFill>
              <a:srgbClr val="CADFC8"/>
            </a:solidFill>
            <a:prstDash val="solid"/>
          </a:ln>
        </p:spPr>
        <p:txBody>
          <a:bodyPr/>
          <a:lstStyle/>
          <a:p>
            <a:endParaRPr lang="en-US"/>
          </a:p>
        </p:txBody>
      </p:sp>
      <p:sp>
        <p:nvSpPr>
          <p:cNvPr id="11" name="Text 8"/>
          <p:cNvSpPr txBox="1"/>
          <p:nvPr/>
        </p:nvSpPr>
        <p:spPr>
          <a:xfrm>
            <a:off x="6423660" y="1453896"/>
            <a:ext cx="4988052"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Com a tabela</a:t>
            </a:r>
            <a:endParaRPr lang="en-US" sz="1400" dirty="0"/>
          </a:p>
        </p:txBody>
      </p:sp>
      <p:sp>
        <p:nvSpPr>
          <p:cNvPr id="12" name="Text 9"/>
          <p:cNvSpPr txBox="1"/>
          <p:nvPr/>
        </p:nvSpPr>
        <p:spPr>
          <a:xfrm>
            <a:off x="6423660" y="1783588"/>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Cada pergunta é uma linha que </a:t>
            </a:r>
            <a:r>
              <a:rPr lang="en-US" sz="1300" b="1" dirty="0">
                <a:solidFill>
                  <a:srgbClr val="16202C"/>
                </a:solidFill>
                <a:latin typeface="Calibri" pitchFamily="34" charset="0"/>
                <a:ea typeface="Calibri" pitchFamily="34" charset="-122"/>
                <a:cs typeface="Calibri" pitchFamily="34" charset="-120"/>
              </a:rPr>
              <a:t>diz o que você quer</a:t>
            </a:r>
            <a:r>
              <a:rPr lang="en-US" sz="1300" dirty="0">
                <a:solidFill>
                  <a:srgbClr val="16202C"/>
                </a:solidFill>
                <a:latin typeface="Calibri" pitchFamily="34" charset="0"/>
                <a:ea typeface="Calibri" pitchFamily="34" charset="-122"/>
                <a:cs typeface="Calibri" pitchFamily="34" charset="-120"/>
              </a:rPr>
              <a:t>: agrupe por tribunal, conte, ordene.</a:t>
            </a:r>
            <a:endParaRPr lang="en-US" sz="1300" dirty="0"/>
          </a:p>
        </p:txBody>
      </p:sp>
      <p:sp>
        <p:nvSpPr>
          <p:cNvPr id="13" name="Text 10"/>
          <p:cNvSpPr txBox="1"/>
          <p:nvPr/>
        </p:nvSpPr>
        <p:spPr>
          <a:xfrm>
            <a:off x="6423660" y="2317496"/>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Conferir é olhar quantas linhas entraram e quantas sobraram.</a:t>
            </a:r>
            <a:endParaRPr lang="en-US" sz="1300" dirty="0"/>
          </a:p>
        </p:txBody>
      </p:sp>
      <p:sp>
        <p:nvSpPr>
          <p:cNvPr id="14" name="Text 11"/>
          <p:cNvSpPr txBox="1"/>
          <p:nvPr/>
        </p:nvSpPr>
        <p:spPr>
          <a:xfrm>
            <a:off x="1298448" y="3372612"/>
            <a:ext cx="9592056" cy="704088"/>
          </a:xfrm>
          <a:prstGeom prst="rect">
            <a:avLst/>
          </a:prstGeom>
          <a:noFill/>
          <a:ln/>
        </p:spPr>
        <p:txBody>
          <a:bodyPr wrap="square" lIns="0" tIns="0" rIns="0" bIns="0" rtlCol="0" anchor="ctr"/>
          <a:lstStyle/>
          <a:p>
            <a:pPr marL="0" indent="0" algn="ctr">
              <a:buNone/>
            </a:pPr>
            <a:r>
              <a:rPr lang="en-US" sz="1800" b="1" dirty="0">
                <a:solidFill>
                  <a:srgbClr val="023A78"/>
                </a:solidFill>
                <a:latin typeface="Calibri" pitchFamily="34" charset="0"/>
                <a:ea typeface="Calibri" pitchFamily="34" charset="-122"/>
                <a:cs typeface="Calibri" pitchFamily="34" charset="-120"/>
              </a:rPr>
              <a:t>O </a:t>
            </a:r>
            <a:r>
              <a:rPr lang="en-US" sz="1656" b="1" dirty="0">
                <a:solidFill>
                  <a:srgbClr val="023A78"/>
                </a:solidFill>
                <a:latin typeface="Courier New" pitchFamily="34" charset="0"/>
                <a:ea typeface="Courier New" pitchFamily="34" charset="-122"/>
                <a:cs typeface="Courier New" pitchFamily="34" charset="-120"/>
              </a:rPr>
              <a:t>for</a:t>
            </a:r>
            <a:r>
              <a:rPr lang="en-US" sz="1800" b="1" dirty="0">
                <a:solidFill>
                  <a:srgbClr val="023A78"/>
                </a:solidFill>
                <a:latin typeface="Calibri" pitchFamily="34" charset="0"/>
                <a:ea typeface="Calibri" pitchFamily="34" charset="-122"/>
                <a:cs typeface="Calibri" pitchFamily="34" charset="-120"/>
              </a:rPr>
              <a:t> não sumiu. Ele foi para dentro do pandas, e você continua responsável pelo critério.</a:t>
            </a:r>
            <a:endParaRPr lang="en-US" sz="1800" dirty="0"/>
          </a:p>
        </p:txBody>
      </p:sp>
      <p:sp>
        <p:nvSpPr>
          <p:cNvPr id="15"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Conclusão</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Pandas e IA</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30</a:t>
            </a:r>
            <a:endParaRPr lang="en-US" sz="900" dirty="0"/>
          </a:p>
        </p:txBody>
      </p:sp>
      <p:sp>
        <p:nvSpPr>
          <p:cNvPr id="6" name="Shape 3"/>
          <p:cNvSpPr/>
          <p:nvPr/>
        </p:nvSpPr>
        <p:spPr>
          <a:xfrm>
            <a:off x="566928" y="1298448"/>
            <a:ext cx="5408676" cy="1781556"/>
          </a:xfrm>
          <a:prstGeom prst="roundRect">
            <a:avLst>
              <a:gd name="adj" fmla="val 2566"/>
            </a:avLst>
          </a:prstGeom>
          <a:solidFill>
            <a:srgbClr val="EEF5ED"/>
          </a:solidFill>
          <a:ln w="9525">
            <a:solidFill>
              <a:srgbClr val="CADFC8"/>
            </a:solidFill>
            <a:prstDash val="solid"/>
          </a:ln>
        </p:spPr>
        <p:txBody>
          <a:bodyPr/>
          <a:lstStyle/>
          <a:p>
            <a:endParaRPr lang="en-US"/>
          </a:p>
        </p:txBody>
      </p:sp>
      <p:sp>
        <p:nvSpPr>
          <p:cNvPr id="7" name="Text 4"/>
          <p:cNvSpPr txBox="1"/>
          <p:nvPr/>
        </p:nvSpPr>
        <p:spPr>
          <a:xfrm>
            <a:off x="777240" y="1453896"/>
            <a:ext cx="4988052"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Bom uso</a:t>
            </a:r>
            <a:endParaRPr lang="en-US" sz="1400" dirty="0"/>
          </a:p>
        </p:txBody>
      </p:sp>
      <p:sp>
        <p:nvSpPr>
          <p:cNvPr id="8" name="Text 5"/>
          <p:cNvSpPr txBox="1"/>
          <p:nvPr/>
        </p:nvSpPr>
        <p:spPr>
          <a:xfrm>
            <a:off x="777240" y="1783588"/>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Pedir com as colunas nomeadas: "agrupe </a:t>
            </a:r>
            <a:r>
              <a:rPr lang="en-US" sz="1196" dirty="0">
                <a:solidFill>
                  <a:srgbClr val="0B3D6B"/>
                </a:solidFill>
                <a:latin typeface="Courier New" pitchFamily="34" charset="0"/>
                <a:ea typeface="Courier New" pitchFamily="34" charset="-122"/>
                <a:cs typeface="Courier New" pitchFamily="34" charset="-120"/>
              </a:rPr>
              <a:t>processos</a:t>
            </a:r>
            <a:r>
              <a:rPr lang="en-US" sz="1300" dirty="0">
                <a:solidFill>
                  <a:srgbClr val="16202C"/>
                </a:solidFill>
                <a:latin typeface="Calibri" pitchFamily="34" charset="0"/>
                <a:ea typeface="Calibri" pitchFamily="34" charset="-122"/>
                <a:cs typeface="Calibri" pitchFamily="34" charset="-120"/>
              </a:rPr>
              <a:t> por </a:t>
            </a:r>
            <a:r>
              <a:rPr lang="en-US" sz="1196" dirty="0">
                <a:solidFill>
                  <a:srgbClr val="0B3D6B"/>
                </a:solidFill>
                <a:latin typeface="Courier New" pitchFamily="34" charset="0"/>
                <a:ea typeface="Courier New" pitchFamily="34" charset="-122"/>
                <a:cs typeface="Courier New" pitchFamily="34" charset="-120"/>
              </a:rPr>
              <a:t>setor</a:t>
            </a:r>
            <a:r>
              <a:rPr lang="en-US" sz="1300" dirty="0">
                <a:solidFill>
                  <a:srgbClr val="16202C"/>
                </a:solidFill>
                <a:latin typeface="Calibri" pitchFamily="34" charset="0"/>
                <a:ea typeface="Calibri" pitchFamily="34" charset="-122"/>
                <a:cs typeface="Calibri" pitchFamily="34" charset="-120"/>
              </a:rPr>
              <a:t> e calcule a média de </a:t>
            </a:r>
            <a:r>
              <a:rPr lang="en-US" sz="1196" dirty="0">
                <a:solidFill>
                  <a:srgbClr val="0B3D6B"/>
                </a:solidFill>
                <a:latin typeface="Courier New" pitchFamily="34" charset="0"/>
                <a:ea typeface="Courier New" pitchFamily="34" charset="-122"/>
                <a:cs typeface="Courier New" pitchFamily="34" charset="-120"/>
              </a:rPr>
              <a:t>ganhou_autor</a:t>
            </a:r>
            <a:r>
              <a:rPr lang="en-US" sz="1300" dirty="0">
                <a:solidFill>
                  <a:srgbClr val="16202C"/>
                </a:solidFill>
                <a:latin typeface="Calibri" pitchFamily="34" charset="0"/>
                <a:ea typeface="Calibri" pitchFamily="34" charset="-122"/>
                <a:cs typeface="Calibri" pitchFamily="34" charset="-120"/>
              </a:rPr>
              <a:t>, ignorando os nulos".</a:t>
            </a:r>
            <a:endParaRPr lang="en-US" sz="1300" dirty="0"/>
          </a:p>
        </p:txBody>
      </p:sp>
      <p:sp>
        <p:nvSpPr>
          <p:cNvPr id="9" name="Text 6"/>
          <p:cNvSpPr txBox="1"/>
          <p:nvPr/>
        </p:nvSpPr>
        <p:spPr>
          <a:xfrm>
            <a:off x="777240" y="2317496"/>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Depois conferir: </a:t>
            </a:r>
            <a:r>
              <a:rPr lang="en-US" sz="1196" dirty="0">
                <a:solidFill>
                  <a:srgbClr val="0B3D6B"/>
                </a:solidFill>
                <a:latin typeface="Courier New" pitchFamily="34" charset="0"/>
                <a:ea typeface="Courier New" pitchFamily="34" charset="-122"/>
                <a:cs typeface="Courier New" pitchFamily="34" charset="-120"/>
              </a:rPr>
              <a:t>shape</a:t>
            </a:r>
            <a:r>
              <a:rPr lang="en-US" sz="1300" dirty="0">
                <a:solidFill>
                  <a:srgbClr val="16202C"/>
                </a:solidFill>
                <a:latin typeface="Calibri" pitchFamily="34" charset="0"/>
                <a:ea typeface="Calibri" pitchFamily="34" charset="-122"/>
                <a:cs typeface="Calibri" pitchFamily="34" charset="-120"/>
              </a:rPr>
              <a:t> antes e depois, e uma linha na mão.</a:t>
            </a:r>
            <a:endParaRPr lang="en-US" sz="1300" dirty="0"/>
          </a:p>
        </p:txBody>
      </p:sp>
      <p:sp>
        <p:nvSpPr>
          <p:cNvPr id="10" name="Shape 7"/>
          <p:cNvSpPr/>
          <p:nvPr/>
        </p:nvSpPr>
        <p:spPr>
          <a:xfrm>
            <a:off x="6213348" y="1298448"/>
            <a:ext cx="5408676" cy="1781556"/>
          </a:xfrm>
          <a:prstGeom prst="roundRect">
            <a:avLst>
              <a:gd name="adj" fmla="val 2566"/>
            </a:avLst>
          </a:prstGeom>
          <a:solidFill>
            <a:srgbClr val="FBEEEE"/>
          </a:solidFill>
          <a:ln w="9525">
            <a:solidFill>
              <a:srgbClr val="F0D2D0"/>
            </a:solidFill>
            <a:prstDash val="solid"/>
          </a:ln>
        </p:spPr>
        <p:txBody>
          <a:bodyPr/>
          <a:lstStyle/>
          <a:p>
            <a:endParaRPr lang="en-US"/>
          </a:p>
        </p:txBody>
      </p:sp>
      <p:sp>
        <p:nvSpPr>
          <p:cNvPr id="11" name="Text 8"/>
          <p:cNvSpPr txBox="1"/>
          <p:nvPr/>
        </p:nvSpPr>
        <p:spPr>
          <a:xfrm>
            <a:off x="6423660" y="1453896"/>
            <a:ext cx="4988052" cy="238252"/>
          </a:xfrm>
          <a:prstGeom prst="rect">
            <a:avLst/>
          </a:prstGeom>
          <a:noFill/>
          <a:ln/>
        </p:spPr>
        <p:txBody>
          <a:bodyPr wrap="square" lIns="0" tIns="0" rIns="0" bIns="0" rtlCol="0" anchor="t"/>
          <a:lstStyle/>
          <a:p>
            <a:pPr marL="0" indent="0">
              <a:buNone/>
            </a:pPr>
            <a:r>
              <a:rPr lang="en-US" sz="1400" b="1" dirty="0">
                <a:solidFill>
                  <a:srgbClr val="023A78"/>
                </a:solidFill>
                <a:latin typeface="Calibri" pitchFamily="34" charset="0"/>
                <a:ea typeface="Calibri" pitchFamily="34" charset="-122"/>
                <a:cs typeface="Calibri" pitchFamily="34" charset="-120"/>
              </a:rPr>
              <a:t>Uso arriscado</a:t>
            </a:r>
            <a:endParaRPr lang="en-US" sz="1400" dirty="0"/>
          </a:p>
        </p:txBody>
      </p:sp>
      <p:sp>
        <p:nvSpPr>
          <p:cNvPr id="12" name="Text 9"/>
          <p:cNvSpPr txBox="1"/>
          <p:nvPr/>
        </p:nvSpPr>
        <p:spPr>
          <a:xfrm>
            <a:off x="6423660" y="1783588"/>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Pedir "analisa essa base e me diz o que tem de interessante" e aceitar o gráfico que voltar.</a:t>
            </a:r>
            <a:endParaRPr lang="en-US" sz="1300" dirty="0"/>
          </a:p>
        </p:txBody>
      </p:sp>
      <p:sp>
        <p:nvSpPr>
          <p:cNvPr id="13" name="Text 10"/>
          <p:cNvSpPr txBox="1"/>
          <p:nvPr/>
        </p:nvSpPr>
        <p:spPr>
          <a:xfrm>
            <a:off x="6423660" y="2317496"/>
            <a:ext cx="4988052"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Ninguém sabe quantas linhas entraram, nem o que virou zero no caminho.</a:t>
            </a:r>
            <a:endParaRPr lang="en-US" sz="1300" dirty="0"/>
          </a:p>
        </p:txBody>
      </p:sp>
      <p:sp>
        <p:nvSpPr>
          <p:cNvPr id="14" name="Text 11"/>
          <p:cNvSpPr txBox="1"/>
          <p:nvPr/>
        </p:nvSpPr>
        <p:spPr>
          <a:xfrm>
            <a:off x="1298448" y="3372612"/>
            <a:ext cx="9592056" cy="397764"/>
          </a:xfrm>
          <a:prstGeom prst="rect">
            <a:avLst/>
          </a:prstGeom>
          <a:noFill/>
          <a:ln/>
        </p:spPr>
        <p:txBody>
          <a:bodyPr wrap="square" lIns="0" tIns="0" rIns="0" bIns="0" rtlCol="0" anchor="ctr"/>
          <a:lstStyle/>
          <a:p>
            <a:pPr marL="0" indent="0" algn="ctr">
              <a:buNone/>
            </a:pPr>
            <a:r>
              <a:rPr lang="en-US" sz="1800" b="1" dirty="0">
                <a:solidFill>
                  <a:srgbClr val="023A78"/>
                </a:solidFill>
                <a:latin typeface="Calibri" pitchFamily="34" charset="0"/>
                <a:ea typeface="Calibri" pitchFamily="34" charset="-122"/>
                <a:cs typeface="Calibri" pitchFamily="34" charset="-120"/>
              </a:rPr>
              <a:t>O erro de pandas que a IA comete não dá mensagem de erro. Dá um número plausível.</a:t>
            </a:r>
            <a:endParaRPr lang="en-US" sz="1800" dirty="0"/>
          </a:p>
        </p:txBody>
      </p:sp>
      <p:sp>
        <p:nvSpPr>
          <p:cNvPr id="15"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Conclusão</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566928" y="402336"/>
            <a:ext cx="11055096" cy="658368"/>
          </a:xfrm>
          <a:prstGeom prst="rect">
            <a:avLst/>
          </a:prstGeom>
          <a:noFill/>
          <a:ln/>
        </p:spPr>
        <p:txBody>
          <a:bodyPr wrap="square" lIns="0" tIns="0" rIns="0" bIns="0" rtlCol="0" anchor="ctr"/>
          <a:lstStyle/>
          <a:p>
            <a:pPr marL="0" indent="0">
              <a:buNone/>
            </a:pPr>
            <a:r>
              <a:rPr lang="en-US" sz="2900" b="1" dirty="0">
                <a:solidFill>
                  <a:srgbClr val="023A78"/>
                </a:solidFill>
                <a:latin typeface="Calibri" pitchFamily="34" charset="0"/>
                <a:ea typeface="Calibri" pitchFamily="34" charset="-122"/>
                <a:cs typeface="Calibri" pitchFamily="34" charset="-120"/>
              </a:rPr>
              <a:t>Até o próximo encontro</a:t>
            </a:r>
            <a:endParaRPr lang="en-US" sz="2900" dirty="0"/>
          </a:p>
        </p:txBody>
      </p:sp>
      <p:sp>
        <p:nvSpPr>
          <p:cNvPr id="4" name="Text 1"/>
          <p:cNvSpPr txBox="1"/>
          <p:nvPr/>
        </p:nvSpPr>
        <p:spPr>
          <a:xfrm>
            <a:off x="566928" y="6400800"/>
            <a:ext cx="7315200" cy="256032"/>
          </a:xfrm>
          <a:prstGeom prst="rect">
            <a:avLst/>
          </a:prstGeom>
          <a:noFill/>
          <a:ln/>
        </p:spPr>
        <p:txBody>
          <a:bodyPr wrap="square" lIns="0" tIns="0" rIns="0" bIns="0" rtlCol="0" anchor="ctr"/>
          <a:lstStyle/>
          <a:p>
            <a:pPr marL="0" indent="0">
              <a:buNone/>
            </a:pPr>
            <a:r>
              <a:rPr lang="en-US" sz="900" dirty="0">
                <a:solidFill>
                  <a:srgbClr val="9AA8B6"/>
                </a:solidFill>
                <a:latin typeface="Calibri" pitchFamily="34" charset="0"/>
                <a:ea typeface="Calibri" pitchFamily="34" charset="-122"/>
                <a:cs typeface="Calibri" pitchFamily="34" charset="-120"/>
              </a:rPr>
              <a:t>Programação Aplicada ao Direito · Encontro 5</a:t>
            </a:r>
            <a:endParaRPr lang="en-US" sz="900" dirty="0"/>
          </a:p>
        </p:txBody>
      </p:sp>
      <p:sp>
        <p:nvSpPr>
          <p:cNvPr id="5" name="Text 2"/>
          <p:cNvSpPr txBox="1"/>
          <p:nvPr/>
        </p:nvSpPr>
        <p:spPr>
          <a:xfrm>
            <a:off x="10524744" y="6400800"/>
            <a:ext cx="1097280" cy="256032"/>
          </a:xfrm>
          <a:prstGeom prst="rect">
            <a:avLst/>
          </a:prstGeom>
          <a:noFill/>
          <a:ln/>
        </p:spPr>
        <p:txBody>
          <a:bodyPr wrap="square" lIns="0" tIns="0" rIns="0" bIns="0" rtlCol="0" anchor="ctr"/>
          <a:lstStyle/>
          <a:p>
            <a:pPr marL="0" indent="0" algn="r">
              <a:buNone/>
            </a:pPr>
            <a:r>
              <a:rPr lang="en-US" sz="900" dirty="0">
                <a:solidFill>
                  <a:srgbClr val="9AA8B6"/>
                </a:solidFill>
                <a:latin typeface="Calibri" pitchFamily="34" charset="0"/>
                <a:ea typeface="Calibri" pitchFamily="34" charset="-122"/>
                <a:cs typeface="Calibri" pitchFamily="34" charset="-120"/>
              </a:rPr>
              <a:t>31</a:t>
            </a:r>
            <a:endParaRPr lang="en-US" sz="900" dirty="0"/>
          </a:p>
        </p:txBody>
      </p:sp>
      <p:sp>
        <p:nvSpPr>
          <p:cNvPr id="6" name="Shape 3"/>
          <p:cNvSpPr/>
          <p:nvPr/>
        </p:nvSpPr>
        <p:spPr>
          <a:xfrm>
            <a:off x="566928" y="1298448"/>
            <a:ext cx="11055096" cy="917956"/>
          </a:xfrm>
          <a:prstGeom prst="roundRect">
            <a:avLst>
              <a:gd name="adj" fmla="val 3985"/>
            </a:avLst>
          </a:prstGeom>
          <a:solidFill>
            <a:srgbClr val="F4F6F9"/>
          </a:solidFill>
          <a:ln w="9525">
            <a:solidFill>
              <a:srgbClr val="E2E8F0"/>
            </a:solidFill>
            <a:prstDash val="solid"/>
          </a:ln>
        </p:spPr>
        <p:txBody>
          <a:bodyPr/>
          <a:lstStyle/>
          <a:p>
            <a:endParaRPr lang="en-US"/>
          </a:p>
        </p:txBody>
      </p:sp>
      <p:sp>
        <p:nvSpPr>
          <p:cNvPr id="7" name="Shape 4"/>
          <p:cNvSpPr/>
          <p:nvPr/>
        </p:nvSpPr>
        <p:spPr>
          <a:xfrm>
            <a:off x="768096" y="1481328"/>
            <a:ext cx="128016" cy="128016"/>
          </a:xfrm>
          <a:prstGeom prst="ellipse">
            <a:avLst/>
          </a:prstGeom>
          <a:solidFill>
            <a:srgbClr val="023A78"/>
          </a:solidFill>
          <a:ln w="12700">
            <a:solidFill>
              <a:srgbClr val="333333"/>
            </a:solidFill>
            <a:prstDash val="solid"/>
          </a:ln>
        </p:spPr>
        <p:txBody>
          <a:bodyPr/>
          <a:lstStyle/>
          <a:p>
            <a:endParaRPr lang="en-US"/>
          </a:p>
        </p:txBody>
      </p:sp>
      <p:sp>
        <p:nvSpPr>
          <p:cNvPr id="8" name="Text 5"/>
          <p:cNvSpPr txBox="1"/>
          <p:nvPr/>
        </p:nvSpPr>
        <p:spPr>
          <a:xfrm>
            <a:off x="1069848" y="1435608"/>
            <a:ext cx="10232136"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Faça a seção </a:t>
            </a:r>
            <a:r>
              <a:rPr lang="en-US" sz="1300" b="1" dirty="0">
                <a:solidFill>
                  <a:srgbClr val="16202C"/>
                </a:solidFill>
                <a:latin typeface="Calibri" pitchFamily="34" charset="0"/>
                <a:ea typeface="Calibri" pitchFamily="34" charset="-122"/>
                <a:cs typeface="Calibri" pitchFamily="34" charset="-120"/>
              </a:rPr>
              <a:t>Para casa</a:t>
            </a:r>
            <a:r>
              <a:rPr lang="en-US" sz="1300" dirty="0">
                <a:solidFill>
                  <a:srgbClr val="16202C"/>
                </a:solidFill>
                <a:latin typeface="Calibri" pitchFamily="34" charset="0"/>
                <a:ea typeface="Calibri" pitchFamily="34" charset="-122"/>
                <a:cs typeface="Calibri" pitchFamily="34" charset="-120"/>
              </a:rPr>
              <a:t> do notebook: é a mesma habilidade de hoje, com outras colunas, e o resultado esperado está em cada enunciado. O gabarito está no repositório, mas tente antes de abrir.</a:t>
            </a:r>
            <a:endParaRPr lang="en-US" sz="1300" dirty="0"/>
          </a:p>
        </p:txBody>
      </p:sp>
      <p:sp>
        <p:nvSpPr>
          <p:cNvPr id="9" name="Shape 6"/>
          <p:cNvSpPr/>
          <p:nvPr/>
        </p:nvSpPr>
        <p:spPr>
          <a:xfrm>
            <a:off x="566928" y="2344420"/>
            <a:ext cx="11055096" cy="917956"/>
          </a:xfrm>
          <a:prstGeom prst="roundRect">
            <a:avLst>
              <a:gd name="adj" fmla="val 3985"/>
            </a:avLst>
          </a:prstGeom>
          <a:solidFill>
            <a:srgbClr val="F4F6F9"/>
          </a:solidFill>
          <a:ln w="9525">
            <a:solidFill>
              <a:srgbClr val="E2E8F0"/>
            </a:solidFill>
            <a:prstDash val="solid"/>
          </a:ln>
        </p:spPr>
        <p:txBody>
          <a:bodyPr/>
          <a:lstStyle/>
          <a:p>
            <a:endParaRPr lang="en-US"/>
          </a:p>
        </p:txBody>
      </p:sp>
      <p:sp>
        <p:nvSpPr>
          <p:cNvPr id="10" name="Shape 7"/>
          <p:cNvSpPr/>
          <p:nvPr/>
        </p:nvSpPr>
        <p:spPr>
          <a:xfrm>
            <a:off x="768096" y="2527300"/>
            <a:ext cx="128016" cy="128016"/>
          </a:xfrm>
          <a:prstGeom prst="ellipse">
            <a:avLst/>
          </a:prstGeom>
          <a:solidFill>
            <a:srgbClr val="023A78"/>
          </a:solidFill>
          <a:ln w="12700">
            <a:solidFill>
              <a:srgbClr val="333333"/>
            </a:solidFill>
            <a:prstDash val="solid"/>
          </a:ln>
        </p:spPr>
        <p:txBody>
          <a:bodyPr/>
          <a:lstStyle/>
          <a:p>
            <a:endParaRPr lang="en-US"/>
          </a:p>
        </p:txBody>
      </p:sp>
      <p:sp>
        <p:nvSpPr>
          <p:cNvPr id="11" name="Text 8"/>
          <p:cNvSpPr txBox="1"/>
          <p:nvPr/>
        </p:nvSpPr>
        <p:spPr>
          <a:xfrm>
            <a:off x="1069848" y="2481580"/>
            <a:ext cx="10232136" cy="442468"/>
          </a:xfrm>
          <a:prstGeom prst="rect">
            <a:avLst/>
          </a:prstGeom>
          <a:noFill/>
          <a:ln/>
        </p:spPr>
        <p:txBody>
          <a:bodyPr wrap="square" lIns="0" tIns="0" rIns="0" bIns="0" rtlCol="0" anchor="t"/>
          <a:lstStyle/>
          <a:p>
            <a:pPr marL="0" indent="0">
              <a:buNone/>
            </a:pPr>
            <a:r>
              <a:rPr lang="en-US" sz="1300" dirty="0">
                <a:solidFill>
                  <a:srgbClr val="16202C"/>
                </a:solidFill>
                <a:latin typeface="Calibri" pitchFamily="34" charset="0"/>
                <a:ea typeface="Calibri" pitchFamily="34" charset="-122"/>
                <a:cs typeface="Calibri" pitchFamily="34" charset="-120"/>
              </a:rPr>
              <a:t>Escolha uma pergunta de pesquisa sua e escreva, em português, quais colunas ela precisa e qual é a unidade de observação. Sem código.</a:t>
            </a:r>
            <a:endParaRPr lang="en-US" sz="1300" dirty="0"/>
          </a:p>
        </p:txBody>
      </p:sp>
      <p:sp>
        <p:nvSpPr>
          <p:cNvPr id="18"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Conclusão</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7">
    <p:bg>
      <p:bgPr>
        <a:solidFill>
          <a:srgbClr val="023A78"/>
        </a:solidFill>
        <a:effectLst/>
      </p:bgPr>
    </p:bg>
    <p:spTree>
      <p:nvGrpSpPr>
        <p:cNvPr id="1" name=""/>
        <p:cNvGrpSpPr/>
        <p:nvPr/>
      </p:nvGrpSpPr>
      <p:grpSpPr>
        <a:xfrm>
          <a:off x="0" y="0"/>
          <a:ext cx="0" cy="0"/>
          <a:chOff x="0" y="0"/>
          <a:chExt cx="0" cy="0"/>
        </a:xfrm>
      </p:grpSpPr>
      <p:sp>
        <p:nvSpPr>
          <p:cNvPr id="2" name="Text 0"/>
          <p:cNvSpPr txBox="1"/>
          <p:nvPr/>
        </p:nvSpPr>
        <p:spPr>
          <a:xfrm>
            <a:off x="822960" y="2743200"/>
            <a:ext cx="10543032" cy="12801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Obrigada</a:t>
            </a:r>
            <a:endParaRPr lang="en-US" sz="4600" dirty="0"/>
          </a:p>
        </p:txBody>
      </p:sp>
      <p:sp>
        <p:nvSpPr>
          <p:cNvPr id="3" name="Etiqueta"/>
          <p:cNvSpPr/>
          <p:nvPr/>
        </p:nvSpPr>
        <p:spPr>
          <a:xfrm>
            <a:off x="8549640" y="256032"/>
            <a:ext cx="3072384" cy="329184"/>
          </a:xfrm>
          <a:prstGeom prst="roundRect">
            <a:avLst>
              <a:gd name="adj" fmla="val 45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023A78"/>
                </a:solidFill>
                <a:latin typeface="Calibri"/>
              </a:rPr>
              <a:t>Conclusão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10381</Words>
  <Application>Microsoft Office PowerPoint</Application>
  <PresentationFormat>Widescreen</PresentationFormat>
  <Paragraphs>626</Paragraphs>
  <Slides>46</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dados: da lista de dicionários à tabela</dc:title>
  <dc:subject>PptxGenJS Presentation</dc:subject>
  <dc:creator>LabDados · FGV Direito SP</dc:creator>
  <cp:lastModifiedBy>Hime Funari, Helena</cp:lastModifiedBy>
  <cp:revision>1</cp:revision>
  <dcterms:created xsi:type="dcterms:W3CDTF">2026-09-21T22:44:28Z</dcterms:created>
  <dcterms:modified xsi:type="dcterms:W3CDTF">2026-09-25T22:20:59Z</dcterms:modified>
</cp:coreProperties>
</file>